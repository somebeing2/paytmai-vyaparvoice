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 am Kevin Joseph from Team SemiTechnical, presenting PaytmAI VyaparVoice for Track 1, Merchant Growth AI. In its Q2 FY27 earnings release on 26 October 2026, Paytm reported 1.64 crore subscription-paying merchants, Rs 7.1 lakh crore in merchant GMV, and Rs 2,648 crore in operating revenue. Yet once a QR payment clears, Soundbox goes quiet: counter shopkeepers lack customer-level retention alerts and rarely open analytics dashboards. In our synthetic Bengaluru darshini ledger, afternoon scans between 3 and 5 PM also drop 70 percent below peak.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8:30 PM closing time, VyaparVoice delivers a plain-language brief with zero statistical jargon; English copy is author-checked with native review pending, while Kannada and Hindi are marked unreviewed drafts. On our seeded synthetic ledger of 240 payers and 1,613 scans, SQL filters 48 lapsed regulars down to 40 eligible buyers, holding 8 in silent control and issuing Rs 25 passes to all 32 nudged buyers with terms valid while the shop's offer budget lasts, backed by an atomic Rs 300 hard spend stop and an upfront warning when cap-overrun risk exceeds 10 percent.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separates verified code running in our repository today from pending live sponsor keys and production integrations. Built modules include exact Fisher and Wilson statistics, pooled and unequal-allocation power calculators, atomic thread-safe spend stopping, banned-jargon copy linting, bounded per-visitor SQLite sandboxes, and a mock-tested keyless Sarvam adapter capped at 30 percent of credits.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defines Intention-to-Treat: we compare every buyer assigned to receive an offer against every buyer assigned to silent control regardless of whether they redeem or hit the spend stop. In our simulated wave, 12 of 32 nudged buyers return versus 1 of 8 in control, with Fisher exact p equals 0.24, where the simulated 12 returning buyers equals the 12-redemption Rs 300 cap. At a 30 percent store margin, Rs 522 gross profit minus Rs 300 cashback leaves Rs 222 pre-fee, and Rs 91.50 after Paytm's Rs 130.50 5 percent fee levied on all Rs 2,610 redeemed bills including organic returners; post-fee break-even lift is plus 15.3 percentage points.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updates our scale model to Paytm's Q2 FY27 base of 1.64 crore subscription-paying merchants: 5 percent adoption equals 8.20 lakh shops, yielding Rs 77.7 crore ARR on SaaS alone, Rs 178.1 crore adding steady-state promo fees of Rs 102 per month at 0.78 waves per month, and Rs 253.9 crore in our full base case. Rather than claiming a single store runs four full waves in four weeks, which would conflict with our 14-day cooldown and 0.78 waves per month replenishment rate, our pilot pools one wave across 50 shops for roughly 400 control and 1,600 nudged customers stratified by shop, achieving 83.3 percent power at a 6-point lift and 97.2 percent at an 8-point lift.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 summarizes our Q2 FY27 attribution, copy review status, Intention-to-Treat cap accounting, and pooled 50-shop pilot design.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A2 cites Paytm's 26 October 2026 Q2 FY27 earnings release for merchant subscriptions, GMV, and operating revenue, while tagging ~7 percent merchant loan penetration and Rs 90 to 100 monthly Soundbox rental as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A3 maps built modules, simulated MVP flows, and planned Paytm production hooks across Track 1's three pillars.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A4 details customer pass terms, proactive top-up prompts, decline logging, counter brand risk, and our verified concurrency and ITT invariance tests.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A5 maps built modules, pending live sponsor keys, and planned production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A6 compares VyaparVoice against manual dashboards and unconstrained LLM chatbots.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A7 presents the exact power curve for pooling 50 shops times one wave, yielding 400 control and 1,600 nudged buyers stratified by shop: 50.3, 68.8, 83.3, 92.5, 97.2, and 99.8 percent power for 4, 5, 6, 7, 8, and 10 point lifts above a 12.5 percent baseline.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A8 reconciles the Rs 130.50 single-campaign fee on Slide 4 with the Rs 102 per month steady-state promo fee assumption and updates ARR to Paytm's 1.64 crore Q2 FY27 merchant base.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A9 states our exact pooled 50-shop stratified pilot design and go/no-go advancement rule: advance only if the lower 95 percent bound of net profit per nudged customer after the 5 percent fee is above zero and the observed lift exceeds the break-even lift.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A10 contrasts our jargon-free merchant scorecard with Technical View and reports honest copy review status across all three languages.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A11 shows how our simulated dose-response curve interacts with the Rs 300 spend stop and contrasts the merchant rupee cap against our separate 30 percent Sarvam API credit ledger.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410712" cy="292608"/>
          </a:xfrm>
          <a:prstGeom prst="roundRect">
            <a:avLst>
              <a:gd name="adj" fmla="val 3000"/>
            </a:avLst>
          </a:prstGeom>
          <a:solidFill>
            <a:srgbClr val="E0F7FE"/>
          </a:solidFill>
          <a:ln w="1270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319272" cy="237744"/>
          </a:xfrm>
          <a:prstGeom prst="rect">
            <a:avLst/>
          </a:prstGeom>
          <a:noFill/>
        </p:spPr>
        <p:txBody>
          <a:bodyPr wrap="square" lIns="36576" rIns="36576" tIns="18288" bIns="18288">
            <a:spAutoFit/>
          </a:bodyPr>
          <a:lstStyle/>
          <a:p>
            <a:pPr algn="ctr">
              <a:spcAft>
                <a:spcPts val="300"/>
              </a:spcAft>
            </a:pPr>
            <a:r>
              <a:rPr sz="950" b="1" i="0">
                <a:solidFill>
                  <a:srgbClr val="002970"/>
                </a:solidFill>
                <a:latin typeface="Liberation Sans"/>
              </a:rPr>
              <a:t>MAIN 1 / 5 : PROBLEM &amp; OPPORTUNITY</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1.64 Cr Merchants Pay for Subscriptions; Retention Stays Manual</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(Deck v2.1)</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Main 1 / 5 (Slide 1 / 16)</a:t>
            </a:r>
          </a:p>
        </p:txBody>
      </p:sp>
      <p:sp>
        <p:nvSpPr>
          <p:cNvPr id="10" name="Rounded Rectangle 9"/>
          <p:cNvSpPr/>
          <p:nvPr/>
        </p:nvSpPr>
        <p:spPr>
          <a:xfrm>
            <a:off x="502920" y="1188720"/>
            <a:ext cx="6629400" cy="507492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353312"/>
            <a:ext cx="6309360" cy="4754880"/>
          </a:xfrm>
          <a:prstGeom prst="rect">
            <a:avLst/>
          </a:prstGeom>
          <a:noFill/>
        </p:spPr>
        <p:txBody>
          <a:bodyPr wrap="square" lIns="54864" rIns="54864" tIns="36576" bIns="36576">
            <a:spAutoFit/>
          </a:bodyPr>
          <a:lstStyle/>
          <a:p>
            <a:pPr marL="210000" indent="-210000">
              <a:spcAft>
                <a:spcPts val="1400"/>
              </a:spcAft>
              <a:buChar char="•"/>
            </a:pPr>
            <a:r>
              <a:rPr sz="1800" b="1">
                <a:solidFill>
                  <a:srgbClr val="002970"/>
                </a:solidFill>
                <a:latin typeface="Liberation Sans"/>
              </a:rPr>
              <a:t>Reported Paytm Scale: </a:t>
            </a:r>
            <a:r>
              <a:rPr sz="1800" b="0">
                <a:solidFill>
                  <a:srgbClr val="0F172A"/>
                </a:solidFill>
                <a:latin typeface="Liberation Sans"/>
              </a:rPr>
              <a:t>1.64 Cr subscription merchants (+27L YoY), Rs 7.1L Cr GMV, Rs 2,648 Cr revenue (Reported: Paytm Q2 FY27 release, 26 Oct 2026).</a:t>
            </a:r>
          </a:p>
          <a:p>
            <a:pPr marL="210000" indent="-210000">
              <a:spcAft>
                <a:spcPts val="1400"/>
              </a:spcAft>
              <a:buChar char="•"/>
            </a:pPr>
            <a:r>
              <a:rPr sz="1800" b="1">
                <a:solidFill>
                  <a:srgbClr val="002970"/>
                </a:solidFill>
                <a:latin typeface="Liberation Sans"/>
              </a:rPr>
              <a:t>Silent Repeat Churn: </a:t>
            </a:r>
            <a:r>
              <a:rPr sz="1800" b="0">
                <a:solidFill>
                  <a:srgbClr val="0F172A"/>
                </a:solidFill>
                <a:latin typeface="Liberation Sans"/>
              </a:rPr>
              <a:t>Small shops lose an estimated 25% to 35% of repeat buyers yearly without customer-level alerts (Assumption).</a:t>
            </a:r>
          </a:p>
          <a:p>
            <a:pPr marL="210000" indent="-210000">
              <a:spcAft>
                <a:spcPts val="1400"/>
              </a:spcAft>
              <a:buChar char="•"/>
            </a:pPr>
            <a:r>
              <a:rPr sz="1800" b="1">
                <a:solidFill>
                  <a:srgbClr val="002970"/>
                </a:solidFill>
                <a:latin typeface="Liberation Sans"/>
              </a:rPr>
              <a:t>Dashboard Friction: </a:t>
            </a:r>
            <a:r>
              <a:rPr sz="1800" b="0">
                <a:solidFill>
                  <a:srgbClr val="0F172A"/>
                </a:solidFill>
                <a:latin typeface="Liberation Sans"/>
              </a:rPr>
              <a:t>Single-counter operators work 12+ hr shifts; SMB BI dashboards see &lt;8% weekly usage (Assumption).</a:t>
            </a:r>
          </a:p>
          <a:p>
            <a:pPr marL="210000" indent="-210000">
              <a:spcAft>
                <a:spcPts val="1400"/>
              </a:spcAft>
              <a:buChar char="•"/>
            </a:pPr>
            <a:r>
              <a:rPr sz="1800" b="1">
                <a:solidFill>
                  <a:srgbClr val="002970"/>
                </a:solidFill>
                <a:latin typeface="Liberation Sans"/>
              </a:rPr>
              <a:t>Slow Hours &amp; Rush Prep: </a:t>
            </a:r>
            <a:r>
              <a:rPr sz="1800" b="0">
                <a:solidFill>
                  <a:srgbClr val="0F172A"/>
                </a:solidFill>
                <a:latin typeface="Liberation Sans"/>
              </a:rPr>
              <a:t>In our synthetic Bengaluru ledger, 3 to 5 PM scans fall 70% below peak while weekend rushes risk stockouts.</a:t>
            </a:r>
          </a:p>
        </p:txBody>
      </p:sp>
      <p:sp>
        <p:nvSpPr>
          <p:cNvPr id="12" name="Rounded Rectangle 11"/>
          <p:cNvSpPr/>
          <p:nvPr/>
        </p:nvSpPr>
        <p:spPr>
          <a:xfrm>
            <a:off x="7315200" y="1188720"/>
            <a:ext cx="4370832" cy="3218688"/>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1_hourly_synthetic.png"/>
          <p:cNvPicPr>
            <a:picLocks noChangeAspect="1"/>
          </p:cNvPicPr>
          <p:nvPr/>
        </p:nvPicPr>
        <p:blipFill>
          <a:blip r:embed="rId2"/>
          <a:stretch>
            <a:fillRect/>
          </a:stretch>
        </p:blipFill>
        <p:spPr>
          <a:xfrm>
            <a:off x="7388352" y="1261872"/>
            <a:ext cx="4224528" cy="2830434"/>
          </a:xfrm>
          <a:prstGeom prst="rect">
            <a:avLst/>
          </a:prstGeom>
        </p:spPr>
      </p:pic>
      <p:sp>
        <p:nvSpPr>
          <p:cNvPr id="14" name="Rounded Rectangle 13"/>
          <p:cNvSpPr/>
          <p:nvPr/>
        </p:nvSpPr>
        <p:spPr>
          <a:xfrm>
            <a:off x="7315200" y="4553712"/>
            <a:ext cx="4370832" cy="1709928"/>
          </a:xfrm>
          <a:prstGeom prst="roundRect">
            <a:avLst>
              <a:gd name="adj" fmla="val 3000"/>
            </a:avLst>
          </a:prstGeom>
          <a:solidFill>
            <a:srgbClr val="001B4D"/>
          </a:solidFill>
          <a:ln w="1524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79792" y="4681728"/>
            <a:ext cx="4041648" cy="1463040"/>
          </a:xfrm>
          <a:prstGeom prst="rect">
            <a:avLst/>
          </a:prstGeom>
          <a:noFill/>
        </p:spPr>
        <p:txBody>
          <a:bodyPr wrap="square" lIns="36576" rIns="36576" tIns="18288" bIns="18288">
            <a:spAutoFit/>
          </a:bodyPr>
          <a:lstStyle/>
          <a:p>
            <a:pPr algn="l">
              <a:spcAft>
                <a:spcPts val="300"/>
              </a:spcAft>
            </a:pPr>
            <a:r>
              <a:rPr sz="1350" b="1" i="0">
                <a:solidFill>
                  <a:srgbClr val="FFFFFF"/>
                </a:solidFill>
                <a:latin typeface="Liberation Sans"/>
              </a:rPr>
              <a:t>PaytmAI VyaparVoice (Track 1)</a:t>
            </a:r>
          </a:p>
          <a:p>
            <a:pPr algn="l">
              <a:spcAft>
                <a:spcPts val="300"/>
              </a:spcAft>
            </a:pPr>
            <a:r>
              <a:rPr sz="1350" b="1" i="0">
                <a:solidFill>
                  <a:srgbClr val="FFFFFF"/>
                </a:solidFill>
                <a:latin typeface="Liberation Sans"/>
              </a:rPr>
              <a:t>8:30 PM closing-time voice retention &amp; ops copilot for Soundbox + Paytm for Business.</a:t>
            </a:r>
          </a:p>
          <a:p>
            <a:pPr algn="l">
              <a:spcAft>
                <a:spcPts val="300"/>
              </a:spcAft>
            </a:pPr>
            <a:r>
              <a:rPr sz="1350" b="1" i="0">
                <a:solidFill>
                  <a:srgbClr val="FFFFFF"/>
                </a:solidFill>
                <a:latin typeface="Liberation Sans"/>
              </a:rPr>
              <a:t>Team SemiTechnical | Kevin Joseph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323844" cy="292608"/>
          </a:xfrm>
          <a:prstGeom prst="roundRect">
            <a:avLst>
              <a:gd name="adj" fmla="val 3000"/>
            </a:avLst>
          </a:prstGeom>
          <a:solidFill>
            <a:srgbClr val="E0F7FE"/>
          </a:solidFill>
          <a:ln w="1270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232404" cy="237744"/>
          </a:xfrm>
          <a:prstGeom prst="rect">
            <a:avLst/>
          </a:prstGeom>
          <a:noFill/>
        </p:spPr>
        <p:txBody>
          <a:bodyPr wrap="square" lIns="36576" rIns="36576" tIns="18288" bIns="18288">
            <a:spAutoFit/>
          </a:bodyPr>
          <a:lstStyle/>
          <a:p>
            <a:pPr algn="ctr">
              <a:spcAft>
                <a:spcPts val="300"/>
              </a:spcAft>
            </a:pPr>
            <a:r>
              <a:rPr sz="950" b="1" i="0">
                <a:solidFill>
                  <a:srgbClr val="002970"/>
                </a:solidFill>
                <a:latin typeface="Liberation Sans"/>
              </a:rPr>
              <a:t>MAIN 2 / 5 : SOLUTION &amp; LIVE DEMO</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One 8:30 PM Voice Action, Governed by Deterministic SQL Rules</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(Deck v2.1)</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Main 2 / 5 (Slide 2 / 16)</a:t>
            </a:r>
          </a:p>
        </p:txBody>
      </p:sp>
      <p:sp>
        <p:nvSpPr>
          <p:cNvPr id="10" name="Rounded Rectangle 9"/>
          <p:cNvSpPr/>
          <p:nvPr/>
        </p:nvSpPr>
        <p:spPr>
          <a:xfrm>
            <a:off x="502920" y="1188720"/>
            <a:ext cx="7178040" cy="507492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316736"/>
            <a:ext cx="6858000" cy="4800600"/>
          </a:xfrm>
          <a:prstGeom prst="rect">
            <a:avLst/>
          </a:prstGeom>
          <a:noFill/>
        </p:spPr>
        <p:txBody>
          <a:bodyPr wrap="square" lIns="54864" rIns="54864" tIns="36576" bIns="36576">
            <a:spAutoFit/>
          </a:bodyPr>
          <a:lstStyle/>
          <a:p>
            <a:pPr marL="210000" indent="-210000">
              <a:spcAft>
                <a:spcPts val="1100"/>
              </a:spcAft>
              <a:buChar char="•"/>
            </a:pPr>
            <a:r>
              <a:rPr sz="1800" b="1">
                <a:solidFill>
                  <a:srgbClr val="002970"/>
                </a:solidFill>
                <a:latin typeface="Liberation Sans"/>
              </a:rPr>
              <a:t>Plain Voice Brief: </a:t>
            </a:r>
            <a:r>
              <a:rPr sz="1800" b="0">
                <a:solidFill>
                  <a:srgbClr val="0F172A"/>
                </a:solidFill>
                <a:latin typeface="Liberation Sans"/>
              </a:rPr>
              <a:t>EN author-checked, native review pending; KN/HI draft; zero jargon.</a:t>
            </a:r>
          </a:p>
          <a:p>
            <a:pPr marL="210000" indent="-210000">
              <a:spcAft>
                <a:spcPts val="1100"/>
              </a:spcAft>
              <a:buChar char="•"/>
            </a:pPr>
            <a:r>
              <a:rPr sz="1800" b="1">
                <a:solidFill>
                  <a:srgbClr val="002970"/>
                </a:solidFill>
                <a:latin typeface="Liberation Sans"/>
              </a:rPr>
              <a:t>Synthetic Store Slice: </a:t>
            </a:r>
            <a:r>
              <a:rPr sz="1800" b="0">
                <a:solidFill>
                  <a:srgbClr val="0F172A"/>
                </a:solidFill>
                <a:latin typeface="Liberation Sans"/>
              </a:rPr>
              <a:t>Sri Krishna Darshini (240 payers, 1,613 scans); flags 48 regulars silent 16 to 38d.</a:t>
            </a:r>
          </a:p>
          <a:p>
            <a:pPr marL="210000" indent="-210000">
              <a:spcAft>
                <a:spcPts val="1100"/>
              </a:spcAft>
              <a:buChar char="•"/>
            </a:pPr>
            <a:r>
              <a:rPr sz="1800" b="1">
                <a:solidFill>
                  <a:srgbClr val="002970"/>
                </a:solidFill>
                <a:latin typeface="Liberation Sans"/>
              </a:rPr>
              <a:t>Policy &amp; 80/20 Split: </a:t>
            </a:r>
            <a:r>
              <a:rPr sz="1800" b="0">
                <a:solidFill>
                  <a:srgbClr val="0F172A"/>
                </a:solidFill>
                <a:latin typeface="Liberation Sans"/>
              </a:rPr>
              <a:t>Filters to 40 DPDP &amp; 14d-cooldown clear buyers: 32 nudged vs 8 silent control.</a:t>
            </a:r>
          </a:p>
          <a:p>
            <a:pPr marL="210000" indent="-210000">
              <a:spcAft>
                <a:spcPts val="1100"/>
              </a:spcAft>
              <a:buChar char="•"/>
            </a:pPr>
            <a:r>
              <a:rPr sz="1800" b="1">
                <a:solidFill>
                  <a:srgbClr val="002970"/>
                </a:solidFill>
                <a:latin typeface="Liberation Sans"/>
              </a:rPr>
              <a:t>Passes vs Spend Stop: </a:t>
            </a:r>
            <a:r>
              <a:rPr sz="1800" b="0">
                <a:solidFill>
                  <a:srgbClr val="0F172A"/>
                </a:solidFill>
                <a:latin typeface="Liberation Sans"/>
              </a:rPr>
              <a:t>All 32 nudged get Rs 25 pass (valid while budget lasts); hard stop at Rs 300 (&gt;10% alert).</a:t>
            </a:r>
          </a:p>
          <a:p>
            <a:pPr marL="210000" indent="-210000">
              <a:spcAft>
                <a:spcPts val="1100"/>
              </a:spcAft>
              <a:buChar char="•"/>
            </a:pPr>
            <a:r>
              <a:rPr sz="1800" b="1">
                <a:solidFill>
                  <a:srgbClr val="002970"/>
                </a:solidFill>
                <a:latin typeface="Liberation Sans"/>
              </a:rPr>
              <a:t>Zero LLM Math: </a:t>
            </a:r>
            <a:r>
              <a:rPr sz="1800" b="0">
                <a:solidFill>
                  <a:srgbClr val="0F172A"/>
                </a:solidFill>
                <a:latin typeface="Liberation Sans"/>
              </a:rPr>
              <a:t>SQLite computes every rupee and cap; per-visitor cloud sandboxes block paid calls.</a:t>
            </a:r>
          </a:p>
        </p:txBody>
      </p:sp>
      <p:sp>
        <p:nvSpPr>
          <p:cNvPr id="12" name="Rounded Rectangle 11"/>
          <p:cNvSpPr/>
          <p:nvPr/>
        </p:nvSpPr>
        <p:spPr>
          <a:xfrm>
            <a:off x="7845552" y="1188720"/>
            <a:ext cx="3840480" cy="5074920"/>
          </a:xfrm>
          <a:prstGeom prst="roundRect">
            <a:avLst>
              <a:gd name="adj" fmla="val 3000"/>
            </a:avLst>
          </a:prstGeom>
          <a:solidFill>
            <a:srgbClr val="001B4D"/>
          </a:solidFill>
          <a:ln w="1651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28431" y="1335024"/>
            <a:ext cx="3474720" cy="329184"/>
          </a:xfrm>
          <a:prstGeom prst="rect">
            <a:avLst/>
          </a:prstGeom>
          <a:noFill/>
        </p:spPr>
        <p:txBody>
          <a:bodyPr wrap="square" lIns="36576" rIns="36576" tIns="18288" bIns="18288">
            <a:spAutoFit/>
          </a:bodyPr>
          <a:lstStyle/>
          <a:p>
            <a:pPr algn="ctr">
              <a:spcAft>
                <a:spcPts val="300"/>
              </a:spcAft>
            </a:pPr>
            <a:r>
              <a:rPr sz="1450" b="1" i="0">
                <a:solidFill>
                  <a:srgbClr val="00BAF2"/>
                </a:solidFill>
                <a:latin typeface="Liberation Sans"/>
              </a:rPr>
              <a:t>TRY LIVE SANDBOX DEMO</a:t>
            </a:r>
          </a:p>
        </p:txBody>
      </p:sp>
      <p:sp>
        <p:nvSpPr>
          <p:cNvPr id="14" name="Rounded Rectangle 13"/>
          <p:cNvSpPr/>
          <p:nvPr/>
        </p:nvSpPr>
        <p:spPr>
          <a:xfrm>
            <a:off x="8714232" y="1755648"/>
            <a:ext cx="2103120" cy="2103120"/>
          </a:xfrm>
          <a:prstGeom prst="roundRect">
            <a:avLst>
              <a:gd name="adj" fmla="val 3000"/>
            </a:avLst>
          </a:prstGeom>
          <a:solidFill>
            <a:srgbClr val="FFFFFF"/>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qr_live_demo.png"/>
          <p:cNvPicPr>
            <a:picLocks noChangeAspect="1"/>
          </p:cNvPicPr>
          <p:nvPr/>
        </p:nvPicPr>
        <p:blipFill>
          <a:blip r:embed="rId2"/>
          <a:stretch>
            <a:fillRect/>
          </a:stretch>
        </p:blipFill>
        <p:spPr>
          <a:xfrm>
            <a:off x="8805672" y="1847088"/>
            <a:ext cx="1920240" cy="1920240"/>
          </a:xfrm>
          <a:prstGeom prst="rect">
            <a:avLst/>
          </a:prstGeom>
        </p:spPr>
      </p:pic>
      <p:sp>
        <p:nvSpPr>
          <p:cNvPr id="16" name="TextBox 15"/>
          <p:cNvSpPr txBox="1"/>
          <p:nvPr/>
        </p:nvSpPr>
        <p:spPr>
          <a:xfrm>
            <a:off x="7973568" y="3968496"/>
            <a:ext cx="3584448" cy="566928"/>
          </a:xfrm>
          <a:prstGeom prst="rect">
            <a:avLst/>
          </a:prstGeom>
          <a:noFill/>
        </p:spPr>
        <p:txBody>
          <a:bodyPr wrap="square" lIns="36576" rIns="36576" tIns="18288" bIns="18288">
            <a:spAutoFit/>
          </a:bodyPr>
          <a:lstStyle/>
          <a:p>
            <a:pPr algn="ctr">
              <a:spcAft>
                <a:spcPts val="300"/>
              </a:spcAft>
            </a:pPr>
            <a:r>
              <a:rPr sz="1300" b="1" i="0">
                <a:solidFill>
                  <a:srgbClr val="FFFFFF"/>
                </a:solidFill>
                <a:latin typeface="Liberation Sans"/>
              </a:rPr>
              <a:t>https://paytmai-vyaparvoice</a:t>
            </a:r>
          </a:p>
          <a:p>
            <a:pPr algn="ctr">
              <a:spcAft>
                <a:spcPts val="300"/>
              </a:spcAft>
            </a:pPr>
            <a:r>
              <a:rPr sz="1300" b="1" i="0">
                <a:solidFill>
                  <a:srgbClr val="FFFFFF"/>
                </a:solidFill>
                <a:latin typeface="Liberation Sans"/>
              </a:rPr>
              <a:t>.onrender.com</a:t>
            </a:r>
          </a:p>
        </p:txBody>
      </p:sp>
      <p:sp>
        <p:nvSpPr>
          <p:cNvPr id="17" name="Rounded Rectangle 16"/>
          <p:cNvSpPr/>
          <p:nvPr/>
        </p:nvSpPr>
        <p:spPr>
          <a:xfrm>
            <a:off x="8028431" y="4626864"/>
            <a:ext cx="3474720" cy="1463040"/>
          </a:xfrm>
          <a:prstGeom prst="roundRect">
            <a:avLst>
              <a:gd name="adj" fmla="val 3000"/>
            </a:avLst>
          </a:prstGeom>
          <a:solidFill>
            <a:srgbClr val="002970"/>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0" y="4709160"/>
            <a:ext cx="3255264" cy="1316736"/>
          </a:xfrm>
          <a:prstGeom prst="rect">
            <a:avLst/>
          </a:prstGeom>
          <a:noFill/>
        </p:spPr>
        <p:txBody>
          <a:bodyPr wrap="square" lIns="36576" rIns="36576" tIns="18288" bIns="18288">
            <a:spAutoFit/>
          </a:bodyPr>
          <a:lstStyle/>
          <a:p>
            <a:pPr algn="ctr">
              <a:spcAft>
                <a:spcPts val="300"/>
              </a:spcAft>
            </a:pPr>
            <a:r>
              <a:rPr sz="1100" b="0" i="0">
                <a:solidFill>
                  <a:srgbClr val="E0F7FE"/>
                </a:solidFill>
                <a:latin typeface="Liberation Sans"/>
              </a:rPr>
              <a:t>Cloud Safeguards Active:</a:t>
            </a:r>
          </a:p>
          <a:p>
            <a:pPr algn="ctr">
              <a:spcAft>
                <a:spcPts val="300"/>
              </a:spcAft>
            </a:pPr>
            <a:r>
              <a:rPr sz="1100" b="0" i="0">
                <a:solidFill>
                  <a:srgbClr val="E0F7FE"/>
                </a:solidFill>
                <a:latin typeface="Liberation Sans"/>
              </a:rPr>
              <a:t>Isolated SQLite per visitor (30m TTL,</a:t>
            </a:r>
          </a:p>
          <a:p>
            <a:pPr algn="ctr">
              <a:spcAft>
                <a:spcPts val="300"/>
              </a:spcAft>
            </a:pPr>
            <a:r>
              <a:rPr sz="1100" b="0" i="0">
                <a:solidFill>
                  <a:srgbClr val="E0F7FE"/>
                </a:solidFill>
                <a:latin typeface="Liberation Sans"/>
              </a:rPr>
              <a:t>64-session LRU, 2MB/32MB disk caps).</a:t>
            </a:r>
          </a:p>
          <a:p>
            <a:pPr algn="ctr">
              <a:spcAft>
                <a:spcPts val="300"/>
              </a:spcAft>
            </a:pPr>
            <a:r>
              <a:rPr sz="1100" b="0" i="0">
                <a:solidFill>
                  <a:srgbClr val="E0F7FE"/>
                </a:solidFill>
                <a:latin typeface="Liberation Sans"/>
              </a:rPr>
              <a:t>Zero paid API calls on public URL.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4279392" cy="292608"/>
          </a:xfrm>
          <a:prstGeom prst="roundRect">
            <a:avLst>
              <a:gd name="adj" fmla="val 3000"/>
            </a:avLst>
          </a:prstGeom>
          <a:solidFill>
            <a:srgbClr val="E0F7FE"/>
          </a:solidFill>
          <a:ln w="1270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4187952" cy="237744"/>
          </a:xfrm>
          <a:prstGeom prst="rect">
            <a:avLst/>
          </a:prstGeom>
          <a:noFill/>
        </p:spPr>
        <p:txBody>
          <a:bodyPr wrap="square" lIns="36576" rIns="36576" tIns="18288" bIns="18288">
            <a:spAutoFit/>
          </a:bodyPr>
          <a:lstStyle/>
          <a:p>
            <a:pPr algn="ctr">
              <a:spcAft>
                <a:spcPts val="300"/>
              </a:spcAft>
            </a:pPr>
            <a:r>
              <a:rPr sz="950" b="1" i="0">
                <a:solidFill>
                  <a:srgbClr val="002970"/>
                </a:solidFill>
                <a:latin typeface="Liberation Sans"/>
              </a:rPr>
              <a:t>MAIN 3 / 5 : ARCHITECTURE (BUILT VS PLANNED)</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Deterministic Core &amp; Keyless Caps Built; Rail Hooks Scoped</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(Deck v2.1)</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Main 3 / 5 (Slide 3 / 16)</a:t>
            </a:r>
          </a:p>
        </p:txBody>
      </p:sp>
      <p:sp>
        <p:nvSpPr>
          <p:cNvPr id="10" name="Rounded Rectangle 9"/>
          <p:cNvSpPr/>
          <p:nvPr/>
        </p:nvSpPr>
        <p:spPr>
          <a:xfrm>
            <a:off x="502920" y="1188720"/>
            <a:ext cx="11183112" cy="420624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335024"/>
            <a:ext cx="10744200" cy="3931920"/>
          </a:xfrm>
          <a:prstGeom prst="rect">
            <a:avLst/>
          </a:prstGeom>
          <a:noFill/>
        </p:spPr>
        <p:txBody>
          <a:bodyPr wrap="square" lIns="54864" rIns="54864" tIns="36576" bIns="36576">
            <a:spAutoFit/>
          </a:bodyPr>
          <a:lstStyle/>
          <a:p>
            <a:pPr marL="210000" indent="-210000">
              <a:spcAft>
                <a:spcPts val="1300"/>
              </a:spcAft>
              <a:buChar char="•"/>
            </a:pPr>
            <a:r>
              <a:rPr sz="1820" b="1">
                <a:solidFill>
                  <a:srgbClr val="002970"/>
                </a:solidFill>
                <a:latin typeface="Liberation Sans"/>
              </a:rPr>
              <a:t>[BUILT] ITT Stats &amp; Atomic Cap Engine: </a:t>
            </a:r>
            <a:r>
              <a:rPr sz="1820" b="0">
                <a:solidFill>
                  <a:srgbClr val="0F172A"/>
                </a:solidFill>
                <a:latin typeface="Liberation Sans"/>
              </a:rPr>
              <a:t>Fisher exact p, Wilson 95% CIs, pooled/unequal power math, atomic BEGIN IMMEDIATE spend stop, 25-thread concurrency test.</a:t>
            </a:r>
          </a:p>
          <a:p>
            <a:pPr marL="210000" indent="-210000">
              <a:spcAft>
                <a:spcPts val="1300"/>
              </a:spcAft>
              <a:buChar char="•"/>
            </a:pPr>
            <a:r>
              <a:rPr sz="1820" b="1">
                <a:solidFill>
                  <a:srgbClr val="002970"/>
                </a:solidFill>
                <a:latin typeface="Liberation Sans"/>
              </a:rPr>
              <a:t>[BUILT] Merchant Copy &amp; Cloud Sandboxes: </a:t>
            </a:r>
            <a:r>
              <a:rPr sz="1820" b="0">
                <a:solidFill>
                  <a:srgbClr val="0F172A"/>
                </a:solidFill>
                <a:latin typeface="Liberation Sans"/>
              </a:rPr>
              <a:t>Merchant vs Technical View, banned-jargon lint, Evidence Grades A/B/C, TTL/LRU/byte-bounded visitor SQLite sessions.</a:t>
            </a:r>
          </a:p>
          <a:p>
            <a:pPr marL="210000" indent="-210000">
              <a:spcAft>
                <a:spcPts val="1300"/>
              </a:spcAft>
              <a:buChar char="•"/>
            </a:pPr>
            <a:r>
              <a:rPr sz="1820" b="1">
                <a:solidFill>
                  <a:srgbClr val="002970"/>
                </a:solidFill>
                <a:latin typeface="Liberation Sans"/>
              </a:rPr>
              <a:t>[BUILT KEYLESS / PENDING LIVE] Sarvam &amp; Caps: </a:t>
            </a:r>
            <a:r>
              <a:rPr sz="1820" b="0">
                <a:solidFill>
                  <a:srgbClr val="0F172A"/>
                </a:solidFill>
                <a:latin typeface="Liberation Sans"/>
              </a:rPr>
              <a:t>Keyless Bulbul TTS + Saaras STT adapter, mock-server selftest, SHA-256 audio cache, 15%/15% (30% max) fail-closed credit ledger.</a:t>
            </a:r>
          </a:p>
          <a:p>
            <a:pPr marL="210000" indent="-210000">
              <a:spcAft>
                <a:spcPts val="1300"/>
              </a:spcAft>
              <a:buChar char="•"/>
            </a:pPr>
            <a:r>
              <a:rPr sz="1820" b="1">
                <a:solidFill>
                  <a:srgbClr val="002970"/>
                </a:solidFill>
                <a:latin typeface="Liberation Sans"/>
              </a:rPr>
              <a:t>[PRODUCTION PLAN] Paytm Ecosystem Hooks: </a:t>
            </a:r>
            <a:r>
              <a:rPr sz="1820" b="0">
                <a:solidFill>
                  <a:srgbClr val="0F172A"/>
                </a:solidFill>
                <a:latin typeface="Liberation Sans"/>
              </a:rPr>
              <a:t>Paytm QR dynamic coupon settlement, 4G Soundbox push audio, WhatsApp Cloud supplier POs, Postgres/Redis.</a:t>
            </a:r>
          </a:p>
        </p:txBody>
      </p:sp>
      <p:sp>
        <p:nvSpPr>
          <p:cNvPr id="12" name="Rounded Rectangle 11"/>
          <p:cNvSpPr/>
          <p:nvPr/>
        </p:nvSpPr>
        <p:spPr>
          <a:xfrm>
            <a:off x="502920" y="5522976"/>
            <a:ext cx="3602736" cy="74980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 y="5577840"/>
            <a:ext cx="3346704" cy="219456"/>
          </a:xfrm>
          <a:prstGeom prst="rect">
            <a:avLst/>
          </a:prstGeom>
          <a:noFill/>
        </p:spPr>
        <p:txBody>
          <a:bodyPr wrap="square" lIns="36576" rIns="36576" tIns="18288" bIns="18288">
            <a:spAutoFit/>
          </a:bodyPr>
          <a:lstStyle/>
          <a:p>
            <a:pPr algn="l">
              <a:spcAft>
                <a:spcPts val="300"/>
              </a:spcAft>
            </a:pPr>
            <a:r>
              <a:rPr sz="1100" b="1" i="0">
                <a:solidFill>
                  <a:srgbClr val="059669"/>
                </a:solidFill>
                <a:latin typeface="Liberation Sans"/>
              </a:rPr>
              <a:t>Automated Release Guards</a:t>
            </a:r>
          </a:p>
        </p:txBody>
      </p:sp>
      <p:sp>
        <p:nvSpPr>
          <p:cNvPr id="14" name="TextBox 13"/>
          <p:cNvSpPr txBox="1"/>
          <p:nvPr/>
        </p:nvSpPr>
        <p:spPr>
          <a:xfrm>
            <a:off x="630936" y="5806440"/>
            <a:ext cx="3346704" cy="402336"/>
          </a:xfrm>
          <a:prstGeom prst="rect">
            <a:avLst/>
          </a:prstGeom>
          <a:noFill/>
        </p:spPr>
        <p:txBody>
          <a:bodyPr wrap="square" lIns="36576" rIns="36576" tIns="18288" bIns="18288">
            <a:spAutoFit/>
          </a:bodyPr>
          <a:lstStyle/>
          <a:p>
            <a:pPr algn="l">
              <a:spcAft>
                <a:spcPts val="300"/>
              </a:spcAft>
            </a:pPr>
            <a:r>
              <a:rPr sz="980" b="0" i="0">
                <a:solidFill>
                  <a:srgbClr val="0F172A"/>
                </a:solidFill>
                <a:latin typeface="Liberation Sans"/>
              </a:rPr>
              <a:t>Pre-release checks scan for secret keys, banned merchant jargon, and 21 QA assertions.</a:t>
            </a:r>
          </a:p>
        </p:txBody>
      </p:sp>
      <p:sp>
        <p:nvSpPr>
          <p:cNvPr id="15" name="Rounded Rectangle 14"/>
          <p:cNvSpPr/>
          <p:nvPr/>
        </p:nvSpPr>
        <p:spPr>
          <a:xfrm>
            <a:off x="4288536" y="5522976"/>
            <a:ext cx="3602736" cy="749808"/>
          </a:xfrm>
          <a:prstGeom prst="roundRect">
            <a:avLst>
              <a:gd name="adj" fmla="val 3000"/>
            </a:avLst>
          </a:prstGeom>
          <a:solidFill>
            <a:srgbClr val="E0F7FE"/>
          </a:solidFill>
          <a:ln w="1397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6551" y="5577840"/>
            <a:ext cx="3346704" cy="219456"/>
          </a:xfrm>
          <a:prstGeom prst="rect">
            <a:avLst/>
          </a:prstGeom>
          <a:noFill/>
        </p:spPr>
        <p:txBody>
          <a:bodyPr wrap="square" lIns="36576" rIns="36576" tIns="18288" bIns="18288">
            <a:spAutoFit/>
          </a:bodyPr>
          <a:lstStyle/>
          <a:p>
            <a:pPr algn="l">
              <a:spcAft>
                <a:spcPts val="300"/>
              </a:spcAft>
            </a:pPr>
            <a:r>
              <a:rPr sz="1100" b="1" i="0">
                <a:solidFill>
                  <a:srgbClr val="002970"/>
                </a:solidFill>
                <a:latin typeface="Liberation Sans"/>
              </a:rPr>
              <a:t>Atomic Spend-Stop Lock</a:t>
            </a:r>
          </a:p>
        </p:txBody>
      </p:sp>
      <p:sp>
        <p:nvSpPr>
          <p:cNvPr id="17" name="TextBox 16"/>
          <p:cNvSpPr txBox="1"/>
          <p:nvPr/>
        </p:nvSpPr>
        <p:spPr>
          <a:xfrm>
            <a:off x="4416551" y="5806440"/>
            <a:ext cx="3346704" cy="402336"/>
          </a:xfrm>
          <a:prstGeom prst="rect">
            <a:avLst/>
          </a:prstGeom>
          <a:noFill/>
        </p:spPr>
        <p:txBody>
          <a:bodyPr wrap="square" lIns="36576" rIns="36576" tIns="18288" bIns="18288">
            <a:spAutoFit/>
          </a:bodyPr>
          <a:lstStyle/>
          <a:p>
            <a:pPr algn="l">
              <a:spcAft>
                <a:spcPts val="300"/>
              </a:spcAft>
            </a:pPr>
            <a:r>
              <a:rPr sz="980" b="0" i="0">
                <a:solidFill>
                  <a:srgbClr val="0F172A"/>
                </a:solidFill>
                <a:latin typeface="Liberation Sans"/>
              </a:rPr>
              <a:t>SQLite write locking stops simultaneous QR scans at the exact merchant rupee cap.</a:t>
            </a:r>
          </a:p>
        </p:txBody>
      </p:sp>
      <p:sp>
        <p:nvSpPr>
          <p:cNvPr id="18" name="Rounded Rectangle 17"/>
          <p:cNvSpPr/>
          <p:nvPr/>
        </p:nvSpPr>
        <p:spPr>
          <a:xfrm>
            <a:off x="8074152" y="5522976"/>
            <a:ext cx="3602736" cy="749808"/>
          </a:xfrm>
          <a:prstGeom prst="roundRect">
            <a:avLst>
              <a:gd name="adj" fmla="val 3000"/>
            </a:avLst>
          </a:prstGeom>
          <a:solidFill>
            <a:srgbClr val="FFFBEB"/>
          </a:solidFill>
          <a:ln w="1397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02168" y="5577840"/>
            <a:ext cx="3346704" cy="219456"/>
          </a:xfrm>
          <a:prstGeom prst="rect">
            <a:avLst/>
          </a:prstGeom>
          <a:noFill/>
        </p:spPr>
        <p:txBody>
          <a:bodyPr wrap="square" lIns="36576" rIns="36576" tIns="18288" bIns="18288">
            <a:spAutoFit/>
          </a:bodyPr>
          <a:lstStyle/>
          <a:p>
            <a:pPr algn="l">
              <a:spcAft>
                <a:spcPts val="300"/>
              </a:spcAft>
            </a:pPr>
            <a:r>
              <a:rPr sz="1100" b="1" i="0">
                <a:solidFill>
                  <a:srgbClr val="B45309"/>
                </a:solidFill>
                <a:latin typeface="Liberation Sans"/>
              </a:rPr>
              <a:t>Bounded Visitor Sandboxes</a:t>
            </a:r>
          </a:p>
        </p:txBody>
      </p:sp>
      <p:sp>
        <p:nvSpPr>
          <p:cNvPr id="20" name="TextBox 19"/>
          <p:cNvSpPr txBox="1"/>
          <p:nvPr/>
        </p:nvSpPr>
        <p:spPr>
          <a:xfrm>
            <a:off x="8202168" y="5806440"/>
            <a:ext cx="3346704" cy="402336"/>
          </a:xfrm>
          <a:prstGeom prst="rect">
            <a:avLst/>
          </a:prstGeom>
          <a:noFill/>
        </p:spPr>
        <p:txBody>
          <a:bodyPr wrap="square" lIns="36576" rIns="36576" tIns="18288" bIns="18288">
            <a:spAutoFit/>
          </a:bodyPr>
          <a:lstStyle/>
          <a:p>
            <a:pPr algn="l">
              <a:spcAft>
                <a:spcPts val="300"/>
              </a:spcAft>
            </a:pPr>
            <a:r>
              <a:rPr sz="980" b="0" i="0">
                <a:solidFill>
                  <a:srgbClr val="0F172A"/>
                </a:solidFill>
                <a:latin typeface="Liberation Sans"/>
              </a:rPr>
              <a:t>Per-visitor SQLite files enforce 30-min TTL, 64-session LRU eviction, and 32 MB disk cap.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4453128" cy="292608"/>
          </a:xfrm>
          <a:prstGeom prst="roundRect">
            <a:avLst>
              <a:gd name="adj" fmla="val 3000"/>
            </a:avLst>
          </a:prstGeom>
          <a:solidFill>
            <a:srgbClr val="E0F7FE"/>
          </a:solidFill>
          <a:ln w="1270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4361688" cy="237744"/>
          </a:xfrm>
          <a:prstGeom prst="rect">
            <a:avLst/>
          </a:prstGeom>
          <a:noFill/>
        </p:spPr>
        <p:txBody>
          <a:bodyPr wrap="square" lIns="36576" rIns="36576" tIns="18288" bIns="18288">
            <a:spAutoFit/>
          </a:bodyPr>
          <a:lstStyle/>
          <a:p>
            <a:pPr algn="ctr">
              <a:spcAft>
                <a:spcPts val="300"/>
              </a:spcAft>
            </a:pPr>
            <a:r>
              <a:rPr sz="950" b="1" i="0">
                <a:solidFill>
                  <a:srgbClr val="002970"/>
                </a:solidFill>
                <a:latin typeface="Liberation Sans"/>
              </a:rPr>
              <a:t>MAIN 4 / 5 : SIMULATED ITT PROOF &amp; PROFIT MATH</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Intention-to-Treat Holdout, Power &amp; Merchant Net Profit</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(Deck v2.1)</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Main 4 / 5 (Slide 4 / 16)</a:t>
            </a:r>
          </a:p>
        </p:txBody>
      </p:sp>
      <p:sp>
        <p:nvSpPr>
          <p:cNvPr id="10" name="Rounded Rectangle 9"/>
          <p:cNvSpPr/>
          <p:nvPr/>
        </p:nvSpPr>
        <p:spPr>
          <a:xfrm>
            <a:off x="502920" y="1188720"/>
            <a:ext cx="6629400" cy="4334256"/>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98448"/>
            <a:ext cx="6327648" cy="4151376"/>
          </a:xfrm>
          <a:prstGeom prst="rect">
            <a:avLst/>
          </a:prstGeom>
          <a:noFill/>
        </p:spPr>
        <p:txBody>
          <a:bodyPr wrap="square" lIns="54864" rIns="54864" tIns="36576" bIns="36576">
            <a:spAutoFit/>
          </a:bodyPr>
          <a:lstStyle/>
          <a:p>
            <a:pPr marL="210000" indent="-210000">
              <a:spcAft>
                <a:spcPts val="900"/>
              </a:spcAft>
              <a:buChar char="•"/>
            </a:pPr>
            <a:r>
              <a:rPr sz="1800" b="1">
                <a:solidFill>
                  <a:srgbClr val="002970"/>
                </a:solidFill>
                <a:latin typeface="Liberation Sans"/>
              </a:rPr>
              <a:t>Simulated ITT Return: </a:t>
            </a:r>
            <a:r>
              <a:rPr sz="1800" b="0">
                <a:solidFill>
                  <a:srgbClr val="0F172A"/>
                </a:solidFill>
                <a:latin typeface="Liberation Sans"/>
              </a:rPr>
              <a:t>12/32 nudged (37.5%) vs 1/8 control (12.5%); Fisher p = 0.24; simulated 12 equals the Rs 300 cap (0 refused).</a:t>
            </a:r>
          </a:p>
          <a:p>
            <a:pPr marL="210000" indent="-210000">
              <a:spcAft>
                <a:spcPts val="900"/>
              </a:spcAft>
              <a:buChar char="•"/>
            </a:pPr>
            <a:r>
              <a:rPr sz="1800" b="1">
                <a:solidFill>
                  <a:srgbClr val="002970"/>
                </a:solidFill>
                <a:latin typeface="Liberation Sans"/>
              </a:rPr>
              <a:t>Sample Requirement: </a:t>
            </a:r>
            <a:r>
              <a:rPr sz="1800" b="0">
                <a:solidFill>
                  <a:srgbClr val="0F172A"/>
                </a:solidFill>
                <a:latin typeface="Liberation Sans"/>
              </a:rPr>
              <a:t>Single wave (N=40) is directional; 25 pp lift needs 31C + 124T = 155 (~4 store-waves) or 46/arm at 50/50.</a:t>
            </a:r>
          </a:p>
          <a:p>
            <a:pPr marL="210000" indent="-210000">
              <a:spcAft>
                <a:spcPts val="900"/>
              </a:spcAft>
              <a:buChar char="•"/>
            </a:pPr>
            <a:r>
              <a:rPr sz="1800" b="1">
                <a:solidFill>
                  <a:srgbClr val="002970"/>
                </a:solidFill>
                <a:latin typeface="Liberation Sans"/>
              </a:rPr>
              <a:t>Sales vs Subsidy: </a:t>
            </a:r>
            <a:r>
              <a:rPr sz="1800" b="0">
                <a:solidFill>
                  <a:srgbClr val="0F172A"/>
                </a:solidFill>
                <a:latin typeface="Liberation Sans"/>
              </a:rPr>
              <a:t>8 net visits = Rs 1,740 sales (5.8x sales/promo); 4 organic returners absorb Rs 100 cashback.</a:t>
            </a:r>
          </a:p>
          <a:p>
            <a:pPr marL="210000" indent="-210000">
              <a:spcAft>
                <a:spcPts val="900"/>
              </a:spcAft>
              <a:buChar char="•"/>
            </a:pPr>
            <a:r>
              <a:rPr sz="1800" b="1">
                <a:solidFill>
                  <a:srgbClr val="002970"/>
                </a:solidFill>
                <a:latin typeface="Liberation Sans"/>
              </a:rPr>
              <a:t>Merchant Net Profit: </a:t>
            </a:r>
            <a:r>
              <a:rPr sz="1800" b="0">
                <a:solidFill>
                  <a:srgbClr val="0F172A"/>
                </a:solidFill>
                <a:latin typeface="Liberation Sans"/>
              </a:rPr>
              <a:t>At 30% margin: Rs 522 GP (1.74x); +Rs 222 pre-fee (+74%), +Rs 91.50 after Rs 130.50 fee.</a:t>
            </a:r>
          </a:p>
          <a:p>
            <a:pPr marL="210000" indent="-210000">
              <a:spcAft>
                <a:spcPts val="900"/>
              </a:spcAft>
              <a:buChar char="•"/>
            </a:pPr>
            <a:r>
              <a:rPr sz="1800" b="1">
                <a:solidFill>
                  <a:srgbClr val="002970"/>
                </a:solidFill>
                <a:latin typeface="Liberation Sans"/>
              </a:rPr>
              <a:t>5% Fee Base: </a:t>
            </a:r>
            <a:r>
              <a:rPr sz="1800" b="0">
                <a:solidFill>
                  <a:srgbClr val="0F172A"/>
                </a:solidFill>
                <a:latin typeface="Liberation Sans"/>
              </a:rPr>
              <a:t>Rs 130.50 = 5% of all Rs 2,610 redeemed bills (12 bills, including organic returners).</a:t>
            </a:r>
          </a:p>
        </p:txBody>
      </p:sp>
      <p:sp>
        <p:nvSpPr>
          <p:cNvPr id="12" name="Rounded Rectangle 11"/>
          <p:cNvSpPr/>
          <p:nvPr/>
        </p:nvSpPr>
        <p:spPr>
          <a:xfrm>
            <a:off x="502920" y="5614416"/>
            <a:ext cx="6629400" cy="658368"/>
          </a:xfrm>
          <a:prstGeom prst="roundRect">
            <a:avLst>
              <a:gd name="adj" fmla="val 3000"/>
            </a:avLst>
          </a:prstGeom>
          <a:solidFill>
            <a:srgbClr val="E0F7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78424"/>
            <a:ext cx="6364224" cy="530352"/>
          </a:xfrm>
          <a:prstGeom prst="rect">
            <a:avLst/>
          </a:prstGeom>
          <a:noFill/>
        </p:spPr>
        <p:txBody>
          <a:bodyPr wrap="square" lIns="36576" rIns="36576" tIns="18288" bIns="18288">
            <a:spAutoFit/>
          </a:bodyPr>
          <a:lstStyle/>
          <a:p>
            <a:pPr algn="l">
              <a:spcAft>
                <a:spcPts val="300"/>
              </a:spcAft>
            </a:pPr>
            <a:r>
              <a:rPr sz="1100" b="1" i="0">
                <a:solidFill>
                  <a:srgbClr val="002970"/>
                </a:solidFill>
                <a:latin typeface="Liberation Sans"/>
              </a:rPr>
              <a:t>Intention-to-Treat (ITT) Definition: Compares all 32 assigned nudged buyers vs all 8 assigned silent controls regardless of redemption or cap stops, preventing selection bias and keeping lift invariant if the cap binds.</a:t>
            </a:r>
          </a:p>
        </p:txBody>
      </p:sp>
      <p:sp>
        <p:nvSpPr>
          <p:cNvPr id="14" name="Rounded Rectangle 13"/>
          <p:cNvSpPr/>
          <p:nvPr/>
        </p:nvSpPr>
        <p:spPr>
          <a:xfrm>
            <a:off x="7315200" y="1188720"/>
            <a:ext cx="4370832" cy="3218688"/>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2_honest_holdout.png"/>
          <p:cNvPicPr>
            <a:picLocks noChangeAspect="1"/>
          </p:cNvPicPr>
          <p:nvPr/>
        </p:nvPicPr>
        <p:blipFill>
          <a:blip r:embed="rId2"/>
          <a:stretch>
            <a:fillRect/>
          </a:stretch>
        </p:blipFill>
        <p:spPr>
          <a:xfrm>
            <a:off x="7388352" y="1261872"/>
            <a:ext cx="4224528" cy="2830434"/>
          </a:xfrm>
          <a:prstGeom prst="rect">
            <a:avLst/>
          </a:prstGeom>
        </p:spPr>
      </p:pic>
      <p:sp>
        <p:nvSpPr>
          <p:cNvPr id="16" name="Rounded Rectangle 15"/>
          <p:cNvSpPr/>
          <p:nvPr/>
        </p:nvSpPr>
        <p:spPr>
          <a:xfrm>
            <a:off x="7315200" y="4535424"/>
            <a:ext cx="4370832" cy="1737360"/>
          </a:xfrm>
          <a:prstGeom prst="roundRect">
            <a:avLst>
              <a:gd name="adj" fmla="val 3000"/>
            </a:avLst>
          </a:prstGeom>
          <a:solidFill>
            <a:srgbClr val="FFFBEB"/>
          </a:solidFill>
          <a:ln w="1524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61504" y="4626864"/>
            <a:ext cx="4078224" cy="1572768"/>
          </a:xfrm>
          <a:prstGeom prst="rect">
            <a:avLst/>
          </a:prstGeom>
          <a:noFill/>
        </p:spPr>
        <p:txBody>
          <a:bodyPr wrap="square" lIns="36576" rIns="36576" tIns="18288" bIns="18288">
            <a:spAutoFit/>
          </a:bodyPr>
          <a:lstStyle/>
          <a:p>
            <a:pPr algn="l">
              <a:spcAft>
                <a:spcPts val="300"/>
              </a:spcAft>
            </a:pPr>
            <a:r>
              <a:rPr sz="1100" b="1" i="0">
                <a:solidFill>
                  <a:srgbClr val="0F172A"/>
                </a:solidFill>
                <a:latin typeface="Liberation Sans"/>
              </a:rPr>
              <a:t>CAP &amp; BREAK-EVEN DISCLOSURE (SIMULATED)</a:t>
            </a:r>
          </a:p>
          <a:p>
            <a:pPr algn="l">
              <a:spcAft>
                <a:spcPts val="300"/>
              </a:spcAft>
            </a:pPr>
            <a:r>
              <a:rPr sz="1100" b="1" i="0">
                <a:solidFill>
                  <a:srgbClr val="0F172A"/>
                </a:solidFill>
                <a:latin typeface="Liberation Sans"/>
              </a:rPr>
              <a:t>Simulated 12 returners = 12 x Rs 25 = Rs 300 hard spend stop (42.2% overrun risk at p=37.5% triggers &gt;10% alert; suggests Rs 400 cap).</a:t>
            </a:r>
          </a:p>
          <a:p>
            <a:pPr algn="l">
              <a:spcAft>
                <a:spcPts val="300"/>
              </a:spcAft>
            </a:pPr>
            <a:r>
              <a:rPr sz="1100" b="1" i="0">
                <a:solidFill>
                  <a:srgbClr val="0F172A"/>
                </a:solidFill>
                <a:latin typeface="Liberation Sans"/>
              </a:rPr>
              <a:t>Break-even margin: 17.2% pre-fee | 24.7% post-fee.</a:t>
            </a:r>
          </a:p>
          <a:p>
            <a:pPr algn="l">
              <a:spcAft>
                <a:spcPts val="300"/>
              </a:spcAft>
            </a:pPr>
            <a:r>
              <a:rPr sz="1100" b="1" i="0">
                <a:solidFill>
                  <a:srgbClr val="0F172A"/>
                </a:solidFill>
                <a:latin typeface="Liberation Sans"/>
              </a:rPr>
              <a:t>Break-even lift (30% margin): +7.8 pp pre | +15.3 pp post.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4105656" cy="292608"/>
          </a:xfrm>
          <a:prstGeom prst="roundRect">
            <a:avLst>
              <a:gd name="adj" fmla="val 3000"/>
            </a:avLst>
          </a:prstGeom>
          <a:solidFill>
            <a:srgbClr val="E0F7FE"/>
          </a:solidFill>
          <a:ln w="1270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4014216" cy="237744"/>
          </a:xfrm>
          <a:prstGeom prst="rect">
            <a:avLst/>
          </a:prstGeom>
          <a:noFill/>
        </p:spPr>
        <p:txBody>
          <a:bodyPr wrap="square" lIns="36576" rIns="36576" tIns="18288" bIns="18288">
            <a:spAutoFit/>
          </a:bodyPr>
          <a:lstStyle/>
          <a:p>
            <a:pPr algn="ctr">
              <a:spcAft>
                <a:spcPts val="300"/>
              </a:spcAft>
            </a:pPr>
            <a:r>
              <a:rPr sz="950" b="1" i="0">
                <a:solidFill>
                  <a:srgbClr val="002970"/>
                </a:solidFill>
                <a:latin typeface="Liberation Sans"/>
              </a:rPr>
              <a:t>MAIN 5 / 5 : BUSINESS MODEL &amp; POOLED PILOT</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Three Revenue Cases (8.20L Shops) &amp; 50-Shop Pooled Pilot</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(Deck v2.1)</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Main 5 / 5 (Slide 5 / 16)</a:t>
            </a:r>
          </a:p>
        </p:txBody>
      </p:sp>
      <p:sp>
        <p:nvSpPr>
          <p:cNvPr id="10" name="Rounded Rectangle 9"/>
          <p:cNvSpPr/>
          <p:nvPr/>
        </p:nvSpPr>
        <p:spPr>
          <a:xfrm>
            <a:off x="502920" y="1188720"/>
            <a:ext cx="6629400" cy="4334256"/>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98448"/>
            <a:ext cx="6327648" cy="4151376"/>
          </a:xfrm>
          <a:prstGeom prst="rect">
            <a:avLst/>
          </a:prstGeom>
          <a:noFill/>
        </p:spPr>
        <p:txBody>
          <a:bodyPr wrap="square" lIns="54864" rIns="54864" tIns="36576" bIns="36576">
            <a:spAutoFit/>
          </a:bodyPr>
          <a:lstStyle/>
          <a:p>
            <a:pPr marL="210000" indent="-210000">
              <a:spcAft>
                <a:spcPts val="900"/>
              </a:spcAft>
              <a:buChar char="•"/>
            </a:pPr>
            <a:r>
              <a:rPr sz="1800" b="1">
                <a:solidFill>
                  <a:srgbClr val="002970"/>
                </a:solidFill>
                <a:latin typeface="Liberation Sans"/>
              </a:rPr>
              <a:t>Case C (SaaS Only): </a:t>
            </a:r>
            <a:r>
              <a:rPr sz="1800" b="0">
                <a:solidFill>
                  <a:srgbClr val="0F172A"/>
                </a:solidFill>
                <a:latin typeface="Liberation Sans"/>
              </a:rPr>
              <a:t>Rs 79/mo Soundbox add-on x 8.20L shops = Rs 77.7 Cr ARR (zero promo/credit fees).</a:t>
            </a:r>
          </a:p>
          <a:p>
            <a:pPr marL="210000" indent="-210000">
              <a:spcAft>
                <a:spcPts val="900"/>
              </a:spcAft>
              <a:buChar char="•"/>
            </a:pPr>
            <a:r>
              <a:rPr sz="1800" b="1">
                <a:solidFill>
                  <a:srgbClr val="002970"/>
                </a:solidFill>
                <a:latin typeface="Liberation Sans"/>
              </a:rPr>
              <a:t>Case B (Core Excl. Credit): </a:t>
            </a:r>
            <a:r>
              <a:rPr sz="1800" b="0">
                <a:solidFill>
                  <a:srgbClr val="0F172A"/>
                </a:solidFill>
                <a:latin typeface="Liberation Sans"/>
              </a:rPr>
              <a:t>+Rs 102/mo steady promo fee (~0.78 waves/mo, Rs 2,040 redeemed bills) = Rs 178.1 Cr ARR.</a:t>
            </a:r>
          </a:p>
          <a:p>
            <a:pPr marL="210000" indent="-210000">
              <a:spcAft>
                <a:spcPts val="900"/>
              </a:spcAft>
              <a:buChar char="•"/>
            </a:pPr>
            <a:r>
              <a:rPr sz="1800" b="1">
                <a:solidFill>
                  <a:srgbClr val="002970"/>
                </a:solidFill>
                <a:latin typeface="Liberation Sans"/>
              </a:rPr>
              <a:t>Case A (Full Base): </a:t>
            </a:r>
            <a:r>
              <a:rPr sz="1800" b="0">
                <a:solidFill>
                  <a:srgbClr val="0F172A"/>
                </a:solidFill>
                <a:latin typeface="Liberation Sans"/>
              </a:rPr>
              <a:t>+Rs 77/mo credit referral (~7% loan pen. Assumption) = Rs 253.9 Cr ARR.</a:t>
            </a:r>
          </a:p>
          <a:p>
            <a:pPr marL="210000" indent="-210000">
              <a:spcAft>
                <a:spcPts val="900"/>
              </a:spcAft>
              <a:buChar char="•"/>
            </a:pPr>
            <a:r>
              <a:rPr sz="1800" b="1">
                <a:solidFill>
                  <a:srgbClr val="002970"/>
                </a:solidFill>
                <a:latin typeface="Liberation Sans"/>
              </a:rPr>
              <a:t>Unit COGS &amp; Margin: </a:t>
            </a:r>
            <a:r>
              <a:rPr sz="1800" b="0">
                <a:solidFill>
                  <a:srgbClr val="0F172A"/>
                </a:solidFill>
                <a:latin typeface="Liberation Sans"/>
              </a:rPr>
              <a:t>Rs 48/mo cached (Rs 5 AI + Rs 43 msg; 81.4% margin) vs Rs 71.80 uncached TTS (72.2%).</a:t>
            </a:r>
          </a:p>
          <a:p>
            <a:pPr marL="210000" indent="-210000">
              <a:spcAft>
                <a:spcPts val="900"/>
              </a:spcAft>
              <a:buChar char="•"/>
            </a:pPr>
            <a:r>
              <a:rPr sz="1800" b="1">
                <a:solidFill>
                  <a:srgbClr val="002970"/>
                </a:solidFill>
                <a:latin typeface="Liberation Sans"/>
              </a:rPr>
              <a:t>Pooled 50-Shop Pilot: </a:t>
            </a:r>
            <a:r>
              <a:rPr sz="1800" b="0">
                <a:solidFill>
                  <a:srgbClr val="0F172A"/>
                </a:solidFill>
                <a:latin typeface="Liberation Sans"/>
              </a:rPr>
              <a:t>50 shops x 1 wave (~400C + ~1,600T, stratified by shop): 83.3% power at +6 pp, 97.2% at +8 pp.</a:t>
            </a:r>
          </a:p>
        </p:txBody>
      </p:sp>
      <p:sp>
        <p:nvSpPr>
          <p:cNvPr id="12" name="Rounded Rectangle 11"/>
          <p:cNvSpPr/>
          <p:nvPr/>
        </p:nvSpPr>
        <p:spPr>
          <a:xfrm>
            <a:off x="502920" y="5614416"/>
            <a:ext cx="6629400" cy="658368"/>
          </a:xfrm>
          <a:prstGeom prst="roundRect">
            <a:avLst>
              <a:gd name="adj" fmla="val 3000"/>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87568"/>
            <a:ext cx="6364224" cy="512064"/>
          </a:xfrm>
          <a:prstGeom prst="rect">
            <a:avLst/>
          </a:prstGeom>
          <a:noFill/>
        </p:spPr>
        <p:txBody>
          <a:bodyPr wrap="square" lIns="36576" rIns="36576" tIns="18288" bIns="18288">
            <a:spAutoFit/>
          </a:bodyPr>
          <a:lstStyle/>
          <a:p>
            <a:pPr algn="l">
              <a:spcAft>
                <a:spcPts val="300"/>
              </a:spcAft>
            </a:pPr>
            <a:r>
              <a:rPr sz="1080" b="1" i="0">
                <a:solidFill>
                  <a:srgbClr val="0F172A"/>
                </a:solidFill>
                <a:latin typeface="Liberation Sans"/>
              </a:rPr>
              <a:t>Why Pool 50 Shops (Not 4 Waves/Shop): 14d cooldown &amp; ~0.78 waves/mo replenishment preclude 4 weekly waves in 1 shop; pooling 50x1 gives 50.3%/68.8%/83.3%/92.5%/97.2%/99.8% power at +4/+5/+6/+7/+8/+10 pp.</a:t>
            </a:r>
          </a:p>
        </p:txBody>
      </p:sp>
      <p:sp>
        <p:nvSpPr>
          <p:cNvPr id="14" name="Rounded Rectangle 13"/>
          <p:cNvSpPr/>
          <p:nvPr/>
        </p:nvSpPr>
        <p:spPr>
          <a:xfrm>
            <a:off x="7315200" y="1188720"/>
            <a:ext cx="4370832" cy="3218688"/>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3_three_revenue_cases_q2.png"/>
          <p:cNvPicPr>
            <a:picLocks noChangeAspect="1"/>
          </p:cNvPicPr>
          <p:nvPr/>
        </p:nvPicPr>
        <p:blipFill>
          <a:blip r:embed="rId2"/>
          <a:stretch>
            <a:fillRect/>
          </a:stretch>
        </p:blipFill>
        <p:spPr>
          <a:xfrm>
            <a:off x="7388352" y="1261872"/>
            <a:ext cx="4224528" cy="2830434"/>
          </a:xfrm>
          <a:prstGeom prst="rect">
            <a:avLst/>
          </a:prstGeom>
        </p:spPr>
      </p:pic>
      <p:sp>
        <p:nvSpPr>
          <p:cNvPr id="16" name="Rounded Rectangle 15"/>
          <p:cNvSpPr/>
          <p:nvPr/>
        </p:nvSpPr>
        <p:spPr>
          <a:xfrm>
            <a:off x="7315200" y="4535424"/>
            <a:ext cx="4370832" cy="1737360"/>
          </a:xfrm>
          <a:prstGeom prst="roundRect">
            <a:avLst>
              <a:gd name="adj" fmla="val 3000"/>
            </a:avLst>
          </a:prstGeom>
          <a:solidFill>
            <a:srgbClr val="001B4D"/>
          </a:solidFill>
          <a:ln w="1524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61504" y="4645152"/>
            <a:ext cx="4078224" cy="1517904"/>
          </a:xfrm>
          <a:prstGeom prst="rect">
            <a:avLst/>
          </a:prstGeom>
          <a:noFill/>
        </p:spPr>
        <p:txBody>
          <a:bodyPr wrap="square" lIns="36576" rIns="36576" tIns="18288" bIns="18288">
            <a:spAutoFit/>
          </a:bodyPr>
          <a:lstStyle/>
          <a:p>
            <a:pPr algn="l">
              <a:spcAft>
                <a:spcPts val="300"/>
              </a:spcAft>
            </a:pPr>
            <a:r>
              <a:rPr sz="1150" b="1" i="0">
                <a:solidFill>
                  <a:srgbClr val="FFFFFF"/>
                </a:solidFill>
                <a:latin typeface="Liberation Sans"/>
              </a:rPr>
              <a:t>Q2 FY27 BASE &amp; FEE RECONCILIATION</a:t>
            </a:r>
          </a:p>
          <a:p>
            <a:pPr algn="l">
              <a:spcAft>
                <a:spcPts val="300"/>
              </a:spcAft>
            </a:pPr>
            <a:r>
              <a:rPr sz="1150" b="1" i="0">
                <a:solidFill>
                  <a:srgbClr val="FFFFFF"/>
                </a:solidFill>
                <a:latin typeface="Liberation Sans"/>
              </a:rPr>
              <a:t>5% of 1.64 Cr subscription merchants (Reported: Paytm Q2 FY27, 26 Oct 2026) = 8.20L shops.</a:t>
            </a:r>
          </a:p>
          <a:p>
            <a:pPr algn="l">
              <a:spcAft>
                <a:spcPts val="300"/>
              </a:spcAft>
            </a:pPr>
            <a:r>
              <a:rPr sz="1150" b="1" i="0">
                <a:solidFill>
                  <a:srgbClr val="FFFFFF"/>
                </a:solidFill>
                <a:latin typeface="Liberation Sans"/>
              </a:rPr>
              <a:t>1 backlog wave = Rs 130.50 fee; steady state (~0.78 waves/mo) = Rs 102/mo.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1B4D"/>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411480"/>
            <a:ext cx="7406640" cy="384048"/>
          </a:xfrm>
          <a:prstGeom prst="roundRect">
            <a:avLst>
              <a:gd name="adj" fmla="val 3000"/>
            </a:avLst>
          </a:prstGeom>
          <a:solidFill>
            <a:srgbClr val="002970"/>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75488"/>
            <a:ext cx="7132320" cy="256032"/>
          </a:xfrm>
          <a:prstGeom prst="rect">
            <a:avLst/>
          </a:prstGeom>
          <a:noFill/>
        </p:spPr>
        <p:txBody>
          <a:bodyPr wrap="square" lIns="36576" rIns="36576" tIns="18288" bIns="18288">
            <a:spAutoFit/>
          </a:bodyPr>
          <a:lstStyle/>
          <a:p>
            <a:pPr algn="l">
              <a:spcAft>
                <a:spcPts val="300"/>
              </a:spcAft>
            </a:pPr>
            <a:r>
              <a:rPr sz="1000" b="1" i="0">
                <a:solidFill>
                  <a:srgbClr val="00BAF2"/>
                </a:solidFill>
                <a:latin typeface="Liberation Sans"/>
              </a:rPr>
              <a:t>APPENDIX A1 | TRACK 1: MERCHANT GROWTH AI (UPDATED TO PAYTM Q2 FY27)</a:t>
            </a:r>
          </a:p>
        </p:txBody>
      </p:sp>
      <p:sp>
        <p:nvSpPr>
          <p:cNvPr id="5" name="TextBox 4"/>
          <p:cNvSpPr txBox="1"/>
          <p:nvPr/>
        </p:nvSpPr>
        <p:spPr>
          <a:xfrm>
            <a:off x="594360" y="1143000"/>
            <a:ext cx="7498079" cy="731520"/>
          </a:xfrm>
          <a:prstGeom prst="rect">
            <a:avLst/>
          </a:prstGeom>
          <a:noFill/>
        </p:spPr>
        <p:txBody>
          <a:bodyPr wrap="square" lIns="36576" rIns="36576" tIns="18288" bIns="18288">
            <a:spAutoFit/>
          </a:bodyPr>
          <a:lstStyle/>
          <a:p>
            <a:pPr algn="l">
              <a:spcAft>
                <a:spcPts val="300"/>
              </a:spcAft>
            </a:pPr>
            <a:r>
              <a:rPr sz="4000" b="1" i="0">
                <a:solidFill>
                  <a:srgbClr val="FFFFFF"/>
                </a:solidFill>
                <a:latin typeface="Liberation Sans"/>
              </a:rPr>
              <a:t>PaytmAI VyaparVoice</a:t>
            </a:r>
          </a:p>
        </p:txBody>
      </p:sp>
      <p:sp>
        <p:nvSpPr>
          <p:cNvPr id="6" name="TextBox 5"/>
          <p:cNvSpPr txBox="1"/>
          <p:nvPr/>
        </p:nvSpPr>
        <p:spPr>
          <a:xfrm>
            <a:off x="594360" y="1920240"/>
            <a:ext cx="7498079" cy="640080"/>
          </a:xfrm>
          <a:prstGeom prst="rect">
            <a:avLst/>
          </a:prstGeom>
          <a:noFill/>
        </p:spPr>
        <p:txBody>
          <a:bodyPr wrap="square" lIns="36576" rIns="36576" tIns="18288" bIns="18288">
            <a:spAutoFit/>
          </a:bodyPr>
          <a:lstStyle/>
          <a:p>
            <a:pPr algn="l">
              <a:spcAft>
                <a:spcPts val="300"/>
              </a:spcAft>
            </a:pPr>
            <a:r>
              <a:rPr sz="1750" b="1" i="0">
                <a:solidFill>
                  <a:srgbClr val="00BAF2"/>
                </a:solidFill>
                <a:latin typeface="Liberation Sans"/>
              </a:rPr>
              <a:t>Closing-Time Voice Growth, Operations &amp; Retention Copilot</a:t>
            </a:r>
          </a:p>
        </p:txBody>
      </p:sp>
      <p:sp>
        <p:nvSpPr>
          <p:cNvPr id="7" name="TextBox 6"/>
          <p:cNvSpPr txBox="1"/>
          <p:nvPr/>
        </p:nvSpPr>
        <p:spPr>
          <a:xfrm>
            <a:off x="594360" y="2670048"/>
            <a:ext cx="7498079" cy="868680"/>
          </a:xfrm>
          <a:prstGeom prst="rect">
            <a:avLst/>
          </a:prstGeom>
          <a:noFill/>
        </p:spPr>
        <p:txBody>
          <a:bodyPr wrap="square" lIns="36576" rIns="36576" tIns="18288" bIns="18288">
            <a:spAutoFit/>
          </a:bodyPr>
          <a:lstStyle/>
          <a:p>
            <a:pPr algn="l">
              <a:spcAft>
                <a:spcPts val="300"/>
              </a:spcAft>
            </a:pPr>
            <a:r>
              <a:rPr sz="1300" b="0" i="0">
                <a:solidFill>
                  <a:srgbClr val="CBD5E1"/>
                </a:solidFill>
                <a:latin typeface="Liberation Sans"/>
              </a:rPr>
              <a:t>Built for Paytm's 1.64 Cr subscription-paying merchant deployments (Reported: Paytm Q2 FY27 release, 26 Oct 2026). Combines deterministic SQL segmentation, ITT spend-cap accounting, and plain-language voice briefings.</a:t>
            </a:r>
          </a:p>
        </p:txBody>
      </p:sp>
      <p:sp>
        <p:nvSpPr>
          <p:cNvPr id="8" name="Rounded Rectangle 7"/>
          <p:cNvSpPr/>
          <p:nvPr/>
        </p:nvSpPr>
        <p:spPr>
          <a:xfrm>
            <a:off x="594360" y="3794760"/>
            <a:ext cx="2377440" cy="1078992"/>
          </a:xfrm>
          <a:prstGeom prst="roundRect">
            <a:avLst>
              <a:gd name="adj" fmla="val 3000"/>
            </a:avLst>
          </a:prstGeom>
          <a:solidFill>
            <a:srgbClr val="002970"/>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3886200"/>
            <a:ext cx="2157984" cy="274320"/>
          </a:xfrm>
          <a:prstGeom prst="rect">
            <a:avLst/>
          </a:prstGeom>
          <a:noFill/>
        </p:spPr>
        <p:txBody>
          <a:bodyPr wrap="square" lIns="36576" rIns="36576" tIns="18288" bIns="18288">
            <a:spAutoFit/>
          </a:bodyPr>
          <a:lstStyle/>
          <a:p>
            <a:pPr algn="l">
              <a:spcAft>
                <a:spcPts val="300"/>
              </a:spcAft>
            </a:pPr>
            <a:r>
              <a:rPr sz="1080" b="1" i="0">
                <a:solidFill>
                  <a:srgbClr val="FFFFFF"/>
                </a:solidFill>
                <a:latin typeface="Liberation Sans"/>
              </a:rPr>
              <a:t>01 : Plain Voice + Button</a:t>
            </a:r>
          </a:p>
        </p:txBody>
      </p:sp>
      <p:sp>
        <p:nvSpPr>
          <p:cNvPr id="10" name="TextBox 9"/>
          <p:cNvSpPr txBox="1"/>
          <p:nvPr/>
        </p:nvSpPr>
        <p:spPr>
          <a:xfrm>
            <a:off x="704088" y="4187952"/>
            <a:ext cx="2157984" cy="566928"/>
          </a:xfrm>
          <a:prstGeom prst="rect">
            <a:avLst/>
          </a:prstGeom>
          <a:noFill/>
        </p:spPr>
        <p:txBody>
          <a:bodyPr wrap="square" lIns="36576" rIns="36576" tIns="18288" bIns="18288">
            <a:spAutoFit/>
          </a:bodyPr>
          <a:lstStyle/>
          <a:p>
            <a:pPr algn="l">
              <a:spcAft>
                <a:spcPts val="300"/>
              </a:spcAft>
            </a:pPr>
            <a:r>
              <a:rPr sz="960" b="0" i="0">
                <a:solidFill>
                  <a:srgbClr val="BAE6FD"/>
                </a:solidFill>
                <a:latin typeface="Liberation Sans"/>
              </a:rPr>
              <a:t>EN author-checked, native review pending; KN/HI draft</a:t>
            </a:r>
          </a:p>
        </p:txBody>
      </p:sp>
      <p:sp>
        <p:nvSpPr>
          <p:cNvPr id="11" name="Rounded Rectangle 10"/>
          <p:cNvSpPr/>
          <p:nvPr/>
        </p:nvSpPr>
        <p:spPr>
          <a:xfrm>
            <a:off x="3108960" y="3794760"/>
            <a:ext cx="2377440" cy="1078992"/>
          </a:xfrm>
          <a:prstGeom prst="roundRect">
            <a:avLst>
              <a:gd name="adj" fmla="val 3000"/>
            </a:avLst>
          </a:prstGeom>
          <a:solidFill>
            <a:srgbClr val="002970"/>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18688" y="3886200"/>
            <a:ext cx="2157984" cy="274320"/>
          </a:xfrm>
          <a:prstGeom prst="rect">
            <a:avLst/>
          </a:prstGeom>
          <a:noFill/>
        </p:spPr>
        <p:txBody>
          <a:bodyPr wrap="square" lIns="36576" rIns="36576" tIns="18288" bIns="18288">
            <a:spAutoFit/>
          </a:bodyPr>
          <a:lstStyle/>
          <a:p>
            <a:pPr algn="l">
              <a:spcAft>
                <a:spcPts val="300"/>
              </a:spcAft>
            </a:pPr>
            <a:r>
              <a:rPr sz="1080" b="1" i="0">
                <a:solidFill>
                  <a:srgbClr val="FFFFFF"/>
                </a:solidFill>
                <a:latin typeface="Liberation Sans"/>
              </a:rPr>
              <a:t>02 : ITT Cap-vs-Holdout</a:t>
            </a:r>
          </a:p>
        </p:txBody>
      </p:sp>
      <p:sp>
        <p:nvSpPr>
          <p:cNvPr id="13" name="TextBox 12"/>
          <p:cNvSpPr txBox="1"/>
          <p:nvPr/>
        </p:nvSpPr>
        <p:spPr>
          <a:xfrm>
            <a:off x="3218688" y="4187952"/>
            <a:ext cx="2157984" cy="566928"/>
          </a:xfrm>
          <a:prstGeom prst="rect">
            <a:avLst/>
          </a:prstGeom>
          <a:noFill/>
        </p:spPr>
        <p:txBody>
          <a:bodyPr wrap="square" lIns="36576" rIns="36576" tIns="18288" bIns="18288">
            <a:spAutoFit/>
          </a:bodyPr>
          <a:lstStyle/>
          <a:p>
            <a:pPr algn="l">
              <a:spcAft>
                <a:spcPts val="300"/>
              </a:spcAft>
            </a:pPr>
            <a:r>
              <a:rPr sz="960" b="0" i="0">
                <a:solidFill>
                  <a:srgbClr val="BAE6FD"/>
                </a:solidFill>
                <a:latin typeface="Liberation Sans"/>
              </a:rPr>
              <a:t>All 32 nudged get passes; Rs 300 hard spend stop &amp; &gt;10% risk alert</a:t>
            </a:r>
          </a:p>
        </p:txBody>
      </p:sp>
      <p:sp>
        <p:nvSpPr>
          <p:cNvPr id="14" name="Rounded Rectangle 13"/>
          <p:cNvSpPr/>
          <p:nvPr/>
        </p:nvSpPr>
        <p:spPr>
          <a:xfrm>
            <a:off x="5623560" y="3794760"/>
            <a:ext cx="2377440" cy="1078992"/>
          </a:xfrm>
          <a:prstGeom prst="roundRect">
            <a:avLst>
              <a:gd name="adj" fmla="val 3000"/>
            </a:avLst>
          </a:prstGeom>
          <a:solidFill>
            <a:srgbClr val="002970"/>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33288" y="3886200"/>
            <a:ext cx="2157984" cy="274320"/>
          </a:xfrm>
          <a:prstGeom prst="rect">
            <a:avLst/>
          </a:prstGeom>
          <a:noFill/>
        </p:spPr>
        <p:txBody>
          <a:bodyPr wrap="square" lIns="36576" rIns="36576" tIns="18288" bIns="18288">
            <a:spAutoFit/>
          </a:bodyPr>
          <a:lstStyle/>
          <a:p>
            <a:pPr algn="l">
              <a:spcAft>
                <a:spcPts val="300"/>
              </a:spcAft>
            </a:pPr>
            <a:r>
              <a:rPr sz="1080" b="1" i="0">
                <a:solidFill>
                  <a:srgbClr val="FFFFFF"/>
                </a:solidFill>
                <a:latin typeface="Liberation Sans"/>
              </a:rPr>
              <a:t>03 : 50-Shop Pooled Pilot</a:t>
            </a:r>
          </a:p>
        </p:txBody>
      </p:sp>
      <p:sp>
        <p:nvSpPr>
          <p:cNvPr id="16" name="TextBox 15"/>
          <p:cNvSpPr txBox="1"/>
          <p:nvPr/>
        </p:nvSpPr>
        <p:spPr>
          <a:xfrm>
            <a:off x="5733288" y="4187952"/>
            <a:ext cx="2157984" cy="566928"/>
          </a:xfrm>
          <a:prstGeom prst="rect">
            <a:avLst/>
          </a:prstGeom>
          <a:noFill/>
        </p:spPr>
        <p:txBody>
          <a:bodyPr wrap="square" lIns="36576" rIns="36576" tIns="18288" bIns="18288">
            <a:spAutoFit/>
          </a:bodyPr>
          <a:lstStyle/>
          <a:p>
            <a:pPr algn="l">
              <a:spcAft>
                <a:spcPts val="300"/>
              </a:spcAft>
            </a:pPr>
            <a:r>
              <a:rPr sz="960" b="0" i="0">
                <a:solidFill>
                  <a:srgbClr val="BAE6FD"/>
                </a:solidFill>
                <a:latin typeface="Liberation Sans"/>
              </a:rPr>
              <a:t>+Rs 91.50 post-fee; 400C+1,600T gives 83.3% power at +6 pp lift</a:t>
            </a:r>
          </a:p>
        </p:txBody>
      </p:sp>
      <p:sp>
        <p:nvSpPr>
          <p:cNvPr id="17" name="Rounded Rectangle 16"/>
          <p:cNvSpPr/>
          <p:nvPr/>
        </p:nvSpPr>
        <p:spPr>
          <a:xfrm>
            <a:off x="594360" y="5166360"/>
            <a:ext cx="10972800" cy="1005840"/>
          </a:xfrm>
          <a:prstGeom prst="roundRect">
            <a:avLst>
              <a:gd name="adj" fmla="val 3000"/>
            </a:avLst>
          </a:prstGeom>
          <a:solidFill>
            <a:srgbClr val="001235"/>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303520"/>
            <a:ext cx="10515600" cy="320040"/>
          </a:xfrm>
          <a:prstGeom prst="rect">
            <a:avLst/>
          </a:prstGeom>
          <a:noFill/>
        </p:spPr>
        <p:txBody>
          <a:bodyPr wrap="square" lIns="36576" rIns="36576" tIns="18288" bIns="18288">
            <a:spAutoFit/>
          </a:bodyPr>
          <a:lstStyle/>
          <a:p>
            <a:pPr algn="l">
              <a:spcAft>
                <a:spcPts val="300"/>
              </a:spcAft>
            </a:pPr>
            <a:r>
              <a:rPr sz="1350" b="1" i="0">
                <a:solidFill>
                  <a:srgbClr val="FFFFFF"/>
                </a:solidFill>
                <a:latin typeface="Liberation Sans"/>
              </a:rPr>
              <a:t>TEAM: SemiTechnical | Member: Kevin Joseph | Live: paytmai-vyaparvoice.onrender.com</a:t>
            </a:r>
          </a:p>
        </p:txBody>
      </p:sp>
      <p:sp>
        <p:nvSpPr>
          <p:cNvPr id="19" name="TextBox 18"/>
          <p:cNvSpPr txBox="1"/>
          <p:nvPr/>
        </p:nvSpPr>
        <p:spPr>
          <a:xfrm>
            <a:off x="777240" y="5687568"/>
            <a:ext cx="10515600" cy="320040"/>
          </a:xfrm>
          <a:prstGeom prst="rect">
            <a:avLst/>
          </a:prstGeom>
          <a:noFill/>
        </p:spPr>
        <p:txBody>
          <a:bodyPr wrap="square" lIns="36576" rIns="36576" tIns="18288" bIns="18288">
            <a:spAutoFit/>
          </a:bodyPr>
          <a:lstStyle/>
          <a:p>
            <a:pPr algn="l">
              <a:spcAft>
                <a:spcPts val="300"/>
              </a:spcAft>
            </a:pPr>
            <a:r>
              <a:rPr sz="1150" b="0" i="0">
                <a:solidFill>
                  <a:srgbClr val="00BAF2"/>
                </a:solidFill>
                <a:latin typeface="Liberation Sans"/>
              </a:rPr>
              <a:t>Deck v2.1 Status: Stage 1 verified (stage1-ok); pooled 50-shop power, ITT definition, and copy disclosures applied.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845052"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753612"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A2 : PROBLEM &amp; Q2 FY27 SOURCES</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Problem Details, Primary Paytm Q2 FY27 Sources &amp; Synthetic Persona</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(Deck v2.1)</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A2 (Slide 7 / 16)</a:t>
            </a:r>
          </a:p>
        </p:txBody>
      </p:sp>
      <p:sp>
        <p:nvSpPr>
          <p:cNvPr id="10" name="Rounded Rectangle 9"/>
          <p:cNvSpPr/>
          <p:nvPr/>
        </p:nvSpPr>
        <p:spPr>
          <a:xfrm>
            <a:off x="502920" y="1280160"/>
            <a:ext cx="5897880" cy="146304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408176"/>
            <a:ext cx="5532120" cy="310896"/>
          </a:xfrm>
          <a:prstGeom prst="rect">
            <a:avLst/>
          </a:prstGeom>
          <a:noFill/>
        </p:spPr>
        <p:txBody>
          <a:bodyPr wrap="square" lIns="36576" rIns="36576" tIns="18288" bIns="18288">
            <a:spAutoFit/>
          </a:bodyPr>
          <a:lstStyle/>
          <a:p>
            <a:pPr algn="l">
              <a:spcAft>
                <a:spcPts val="300"/>
              </a:spcAft>
            </a:pPr>
            <a:r>
              <a:rPr sz="1300" b="1" i="0">
                <a:solidFill>
                  <a:srgbClr val="002970"/>
                </a:solidFill>
                <a:latin typeface="Liberation Sans"/>
              </a:rPr>
              <a:t>1. Silent Repeat Churn (25% to 35% Yearly - ASSUMPTION)</a:t>
            </a:r>
          </a:p>
        </p:txBody>
      </p:sp>
      <p:sp>
        <p:nvSpPr>
          <p:cNvPr id="12" name="TextBox 11"/>
          <p:cNvSpPr txBox="1"/>
          <p:nvPr/>
        </p:nvSpPr>
        <p:spPr>
          <a:xfrm>
            <a:off x="685800" y="1755648"/>
            <a:ext cx="5532120" cy="868680"/>
          </a:xfrm>
          <a:prstGeom prst="rect">
            <a:avLst/>
          </a:prstGeom>
          <a:noFill/>
        </p:spPr>
        <p:txBody>
          <a:bodyPr wrap="square" lIns="36576" rIns="36576" tIns="18288" bIns="18288">
            <a:spAutoFit/>
          </a:bodyPr>
          <a:lstStyle/>
          <a:p>
            <a:pPr algn="l">
              <a:spcAft>
                <a:spcPts val="300"/>
              </a:spcAft>
            </a:pPr>
            <a:r>
              <a:rPr sz="1150" b="0" i="0">
                <a:solidFill>
                  <a:srgbClr val="334155"/>
                </a:solidFill>
                <a:latin typeface="Liberation Sans"/>
              </a:rPr>
              <a:t>Merchants hear isolated payment alerts without customer-level retention tracking, losing repeat buyers before cashflow drops are noticed.</a:t>
            </a:r>
          </a:p>
        </p:txBody>
      </p:sp>
      <p:sp>
        <p:nvSpPr>
          <p:cNvPr id="13" name="Rounded Rectangle 12"/>
          <p:cNvSpPr/>
          <p:nvPr/>
        </p:nvSpPr>
        <p:spPr>
          <a:xfrm>
            <a:off x="502920" y="2907791"/>
            <a:ext cx="5897880" cy="146304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035808"/>
            <a:ext cx="5532120" cy="310896"/>
          </a:xfrm>
          <a:prstGeom prst="rect">
            <a:avLst/>
          </a:prstGeom>
          <a:noFill/>
        </p:spPr>
        <p:txBody>
          <a:bodyPr wrap="square" lIns="36576" rIns="36576" tIns="18288" bIns="18288">
            <a:spAutoFit/>
          </a:bodyPr>
          <a:lstStyle/>
          <a:p>
            <a:pPr algn="l">
              <a:spcAft>
                <a:spcPts val="300"/>
              </a:spcAft>
            </a:pPr>
            <a:r>
              <a:rPr sz="1300" b="1" i="0">
                <a:solidFill>
                  <a:srgbClr val="002970"/>
                </a:solidFill>
                <a:latin typeface="Liberation Sans"/>
              </a:rPr>
              <a:t>2. Dashboard Friction (&lt;8% WAU - ASSUMPTION)</a:t>
            </a:r>
          </a:p>
        </p:txBody>
      </p:sp>
      <p:sp>
        <p:nvSpPr>
          <p:cNvPr id="15" name="TextBox 14"/>
          <p:cNvSpPr txBox="1"/>
          <p:nvPr/>
        </p:nvSpPr>
        <p:spPr>
          <a:xfrm>
            <a:off x="685800" y="3383279"/>
            <a:ext cx="5532120" cy="868680"/>
          </a:xfrm>
          <a:prstGeom prst="rect">
            <a:avLst/>
          </a:prstGeom>
          <a:noFill/>
        </p:spPr>
        <p:txBody>
          <a:bodyPr wrap="square" lIns="36576" rIns="36576" tIns="18288" bIns="18288">
            <a:spAutoFit/>
          </a:bodyPr>
          <a:lstStyle/>
          <a:p>
            <a:pPr algn="l">
              <a:spcAft>
                <a:spcPts val="300"/>
              </a:spcAft>
            </a:pPr>
            <a:r>
              <a:rPr sz="1150" b="0" i="0">
                <a:solidFill>
                  <a:srgbClr val="334155"/>
                </a:solidFill>
                <a:latin typeface="Liberation Sans"/>
              </a:rPr>
              <a:t>Counter-operated kirana, darshini, and pharmacy shops lack time to write prompts, export CSVs, or configure CRM rules.</a:t>
            </a:r>
          </a:p>
        </p:txBody>
      </p:sp>
      <p:sp>
        <p:nvSpPr>
          <p:cNvPr id="16" name="Rounded Rectangle 15"/>
          <p:cNvSpPr/>
          <p:nvPr/>
        </p:nvSpPr>
        <p:spPr>
          <a:xfrm>
            <a:off x="502920" y="4535424"/>
            <a:ext cx="5897880" cy="146304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663440"/>
            <a:ext cx="5532120" cy="310896"/>
          </a:xfrm>
          <a:prstGeom prst="rect">
            <a:avLst/>
          </a:prstGeom>
          <a:noFill/>
        </p:spPr>
        <p:txBody>
          <a:bodyPr wrap="square" lIns="36576" rIns="36576" tIns="18288" bIns="18288">
            <a:spAutoFit/>
          </a:bodyPr>
          <a:lstStyle/>
          <a:p>
            <a:pPr algn="l">
              <a:spcAft>
                <a:spcPts val="300"/>
              </a:spcAft>
            </a:pPr>
            <a:r>
              <a:rPr sz="1300" b="1" i="0">
                <a:solidFill>
                  <a:srgbClr val="002970"/>
                </a:solidFill>
                <a:latin typeface="Liberation Sans"/>
              </a:rPr>
              <a:t>3. Slow Hours &amp; Rush Prep (SYNTHETIC STORE)</a:t>
            </a:r>
          </a:p>
        </p:txBody>
      </p:sp>
      <p:sp>
        <p:nvSpPr>
          <p:cNvPr id="18" name="TextBox 17"/>
          <p:cNvSpPr txBox="1"/>
          <p:nvPr/>
        </p:nvSpPr>
        <p:spPr>
          <a:xfrm>
            <a:off x="685800" y="5010912"/>
            <a:ext cx="5532120" cy="868680"/>
          </a:xfrm>
          <a:prstGeom prst="rect">
            <a:avLst/>
          </a:prstGeom>
          <a:noFill/>
        </p:spPr>
        <p:txBody>
          <a:bodyPr wrap="square" lIns="36576" rIns="36576" tIns="18288" bIns="18288">
            <a:spAutoFit/>
          </a:bodyPr>
          <a:lstStyle/>
          <a:p>
            <a:pPr algn="l">
              <a:spcAft>
                <a:spcPts val="300"/>
              </a:spcAft>
            </a:pPr>
            <a:r>
              <a:rPr sz="1150" b="0" i="0">
                <a:solidFill>
                  <a:srgbClr val="334155"/>
                </a:solidFill>
                <a:latin typeface="Liberation Sans"/>
              </a:rPr>
              <a:t>In our 60-day synthetic Indiranagar ledger, 3 to 5 PM scans fall 70% below peak while weekend morning rushes risk staple stockouts.</a:t>
            </a:r>
          </a:p>
        </p:txBody>
      </p:sp>
      <p:sp>
        <p:nvSpPr>
          <p:cNvPr id="19" name="Rounded Rectangle 18"/>
          <p:cNvSpPr/>
          <p:nvPr/>
        </p:nvSpPr>
        <p:spPr>
          <a:xfrm>
            <a:off x="6583680" y="1280160"/>
            <a:ext cx="5102352" cy="31546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1_hourly_synthetic.png"/>
          <p:cNvPicPr>
            <a:picLocks noChangeAspect="1"/>
          </p:cNvPicPr>
          <p:nvPr/>
        </p:nvPicPr>
        <p:blipFill>
          <a:blip r:embed="rId2"/>
          <a:stretch>
            <a:fillRect/>
          </a:stretch>
        </p:blipFill>
        <p:spPr>
          <a:xfrm>
            <a:off x="6894576" y="1335024"/>
            <a:ext cx="4480560" cy="3001975"/>
          </a:xfrm>
          <a:prstGeom prst="rect">
            <a:avLst/>
          </a:prstGeom>
        </p:spPr>
      </p:pic>
      <p:sp>
        <p:nvSpPr>
          <p:cNvPr id="21" name="Rounded Rectangle 20"/>
          <p:cNvSpPr/>
          <p:nvPr/>
        </p:nvSpPr>
        <p:spPr>
          <a:xfrm>
            <a:off x="6583680" y="4553712"/>
            <a:ext cx="5102352" cy="1755648"/>
          </a:xfrm>
          <a:prstGeom prst="roundRect">
            <a:avLst>
              <a:gd name="adj" fmla="val 3000"/>
            </a:avLst>
          </a:prstGeom>
          <a:solidFill>
            <a:srgbClr val="001B4D"/>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11696" y="4645152"/>
            <a:ext cx="4846320" cy="1591056"/>
          </a:xfrm>
          <a:prstGeom prst="rect">
            <a:avLst/>
          </a:prstGeom>
          <a:noFill/>
        </p:spPr>
        <p:txBody>
          <a:bodyPr wrap="square" lIns="54864" rIns="54864" tIns="36576" bIns="36576">
            <a:spAutoFit/>
          </a:bodyPr>
          <a:lstStyle/>
          <a:p>
            <a:pPr marL="210000" indent="-210000">
              <a:spcAft>
                <a:spcPts val="700"/>
              </a:spcAft>
              <a:buChar char="•"/>
            </a:pPr>
            <a:r>
              <a:rPr sz="1060" b="1">
                <a:solidFill>
                  <a:srgbClr val="00BAF2"/>
                </a:solidFill>
                <a:latin typeface="Liberation Sans"/>
              </a:rPr>
              <a:t>Reported (Paytm Q2 FY27, 26 Oct 2026): </a:t>
            </a:r>
            <a:r>
              <a:rPr sz="1060" b="0">
                <a:solidFill>
                  <a:srgbClr val="FFFFFF"/>
                </a:solidFill>
                <a:latin typeface="Liberation Sans"/>
              </a:rPr>
              <a:t>1.64 Cr subscription-paying merchants, Rs 7.1L Cr merchant GMV, Rs 2,648 Cr operating revenue.</a:t>
            </a:r>
          </a:p>
          <a:p>
            <a:pPr marL="210000" indent="-210000">
              <a:spcAft>
                <a:spcPts val="700"/>
              </a:spcAft>
              <a:buChar char="•"/>
            </a:pPr>
            <a:r>
              <a:rPr sz="1060" b="1">
                <a:solidFill>
                  <a:srgbClr val="00BAF2"/>
                </a:solidFill>
                <a:latin typeface="Liberation Sans"/>
              </a:rPr>
              <a:t>Assumptions vs Synthetic: </a:t>
            </a:r>
            <a:r>
              <a:rPr sz="1060" b="0">
                <a:solidFill>
                  <a:srgbClr val="FFFFFF"/>
                </a:solidFill>
                <a:latin typeface="Liberation Sans"/>
              </a:rPr>
              <a:t>~7% merchant loan pen. &amp; Rs 90-100/mo Soundbox fee (Assumptions); Ramesh Rao store is synthetic (917 scans/30d).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063240"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2971800"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A3 : 3-PILLAR MAPPING</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Track 1 Coverage: Growth, Operations, and Customer Recovery</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(Deck v2.1)</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A3 (Slide 8 / 16)</a:t>
            </a:r>
          </a:p>
        </p:txBody>
      </p:sp>
      <p:sp>
        <p:nvSpPr>
          <p:cNvPr id="10" name="Rounded Rectangle 9"/>
          <p:cNvSpPr/>
          <p:nvPr/>
        </p:nvSpPr>
        <p:spPr>
          <a:xfrm>
            <a:off x="502920" y="1280160"/>
            <a:ext cx="3602736" cy="49834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426464"/>
            <a:ext cx="3273552" cy="256032"/>
          </a:xfrm>
          <a:prstGeom prst="rect">
            <a:avLst/>
          </a:prstGeom>
          <a:noFill/>
        </p:spPr>
        <p:txBody>
          <a:bodyPr wrap="square" lIns="36576" rIns="36576" tIns="18288" bIns="18288">
            <a:spAutoFit/>
          </a:bodyPr>
          <a:lstStyle/>
          <a:p>
            <a:pPr algn="l">
              <a:spcAft>
                <a:spcPts val="300"/>
              </a:spcAft>
            </a:pPr>
            <a:r>
              <a:rPr sz="1050" b="1" i="0">
                <a:solidFill>
                  <a:srgbClr val="002970"/>
                </a:solidFill>
                <a:latin typeface="Liberation Sans"/>
              </a:rPr>
              <a:t>PILLAR 1 : GROW BUSINESS</a:t>
            </a:r>
          </a:p>
        </p:txBody>
      </p:sp>
      <p:sp>
        <p:nvSpPr>
          <p:cNvPr id="12" name="TextBox 11"/>
          <p:cNvSpPr txBox="1"/>
          <p:nvPr/>
        </p:nvSpPr>
        <p:spPr>
          <a:xfrm>
            <a:off x="667512" y="1700784"/>
            <a:ext cx="3273552" cy="329184"/>
          </a:xfrm>
          <a:prstGeom prst="rect">
            <a:avLst/>
          </a:prstGeom>
          <a:noFill/>
        </p:spPr>
        <p:txBody>
          <a:bodyPr wrap="square" lIns="36576" rIns="36576" tIns="18288" bIns="18288">
            <a:spAutoFit/>
          </a:bodyPr>
          <a:lstStyle/>
          <a:p>
            <a:pPr algn="l">
              <a:spcAft>
                <a:spcPts val="300"/>
              </a:spcAft>
            </a:pPr>
            <a:r>
              <a:rPr sz="1450" b="1" i="0">
                <a:solidFill>
                  <a:srgbClr val="0F172A"/>
                </a:solidFill>
                <a:latin typeface="Liberation Sans"/>
              </a:rPr>
              <a:t>Retention &amp; Slow-Hour Copilot</a:t>
            </a:r>
          </a:p>
        </p:txBody>
      </p:sp>
      <p:sp>
        <p:nvSpPr>
          <p:cNvPr id="13" name="TextBox 12"/>
          <p:cNvSpPr txBox="1"/>
          <p:nvPr/>
        </p:nvSpPr>
        <p:spPr>
          <a:xfrm>
            <a:off x="630936" y="2121408"/>
            <a:ext cx="3346704" cy="3977639"/>
          </a:xfrm>
          <a:prstGeom prst="rect">
            <a:avLst/>
          </a:prstGeom>
          <a:noFill/>
        </p:spPr>
        <p:txBody>
          <a:bodyPr wrap="square" lIns="54864" rIns="54864" tIns="36576" bIns="36576">
            <a:spAutoFit/>
          </a:bodyPr>
          <a:lstStyle/>
          <a:p>
            <a:pPr marL="210000" indent="-210000">
              <a:spcAft>
                <a:spcPts val="1000"/>
              </a:spcAft>
              <a:buChar char="•"/>
            </a:pPr>
            <a:r>
              <a:rPr sz="1200" b="1">
                <a:solidFill>
                  <a:srgbClr val="002970"/>
                </a:solidFill>
                <a:latin typeface="Liberation Sans"/>
              </a:rPr>
              <a:t>Churn Detection (Built): </a:t>
            </a:r>
            <a:r>
              <a:rPr sz="1200" b="0">
                <a:solidFill>
                  <a:srgbClr val="0F172A"/>
                </a:solidFill>
                <a:latin typeface="Liberation Sans"/>
              </a:rPr>
              <a:t>SQL flags regulars silent 16+ days (16-38d in synthetic DB).</a:t>
            </a:r>
          </a:p>
          <a:p>
            <a:pPr marL="210000" indent="-210000">
              <a:spcAft>
                <a:spcPts val="1000"/>
              </a:spcAft>
              <a:buChar char="•"/>
            </a:pPr>
            <a:r>
              <a:rPr sz="1200" b="1">
                <a:solidFill>
                  <a:srgbClr val="002970"/>
                </a:solidFill>
                <a:latin typeface="Liberation Sans"/>
              </a:rPr>
              <a:t>Slow-Hour Group (Built): </a:t>
            </a:r>
            <a:r>
              <a:rPr sz="1200" b="0">
                <a:solidFill>
                  <a:srgbClr val="0F172A"/>
                </a:solidFill>
                <a:latin typeface="Liberation Sans"/>
              </a:rPr>
              <a:t>Identifies 3-5 PM snack buyers (55 detected, 34 eligible).</a:t>
            </a:r>
          </a:p>
          <a:p>
            <a:pPr marL="210000" indent="-210000">
              <a:spcAft>
                <a:spcPts val="1000"/>
              </a:spcAft>
              <a:buChar char="•"/>
            </a:pPr>
            <a:r>
              <a:rPr sz="1200" b="1">
                <a:solidFill>
                  <a:srgbClr val="002970"/>
                </a:solidFill>
                <a:latin typeface="Liberation Sans"/>
              </a:rPr>
              <a:t>ITT Spend Stop (Built): </a:t>
            </a:r>
            <a:r>
              <a:rPr sz="1200" b="0">
                <a:solidFill>
                  <a:srgbClr val="0F172A"/>
                </a:solidFill>
                <a:latin typeface="Liberation Sans"/>
              </a:rPr>
              <a:t>Issues passes to all nudged buyers; atomic cap stops spend.</a:t>
            </a:r>
          </a:p>
          <a:p>
            <a:pPr marL="210000" indent="-210000">
              <a:spcAft>
                <a:spcPts val="1000"/>
              </a:spcAft>
              <a:buChar char="•"/>
            </a:pPr>
            <a:r>
              <a:rPr sz="1200" b="1">
                <a:solidFill>
                  <a:srgbClr val="002970"/>
                </a:solidFill>
                <a:latin typeface="Liberation Sans"/>
              </a:rPr>
              <a:t>QR Coupon Hook (Planned): </a:t>
            </a:r>
            <a:r>
              <a:rPr sz="1200" b="0">
                <a:solidFill>
                  <a:srgbClr val="0F172A"/>
                </a:solidFill>
                <a:latin typeface="Liberation Sans"/>
              </a:rPr>
              <a:t>Production hook into Paytm QR redemption rail.</a:t>
            </a:r>
          </a:p>
        </p:txBody>
      </p:sp>
      <p:sp>
        <p:nvSpPr>
          <p:cNvPr id="14" name="Rounded Rectangle 13"/>
          <p:cNvSpPr/>
          <p:nvPr/>
        </p:nvSpPr>
        <p:spPr>
          <a:xfrm>
            <a:off x="4288536" y="1280160"/>
            <a:ext cx="3602736" cy="49834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3127" y="1426464"/>
            <a:ext cx="3273552" cy="256032"/>
          </a:xfrm>
          <a:prstGeom prst="rect">
            <a:avLst/>
          </a:prstGeom>
          <a:noFill/>
        </p:spPr>
        <p:txBody>
          <a:bodyPr wrap="square" lIns="36576" rIns="36576" tIns="18288" bIns="18288">
            <a:spAutoFit/>
          </a:bodyPr>
          <a:lstStyle/>
          <a:p>
            <a:pPr algn="l">
              <a:spcAft>
                <a:spcPts val="300"/>
              </a:spcAft>
            </a:pPr>
            <a:r>
              <a:rPr sz="1050" b="1" i="0">
                <a:solidFill>
                  <a:srgbClr val="002970"/>
                </a:solidFill>
                <a:latin typeface="Liberation Sans"/>
              </a:rPr>
              <a:t>PILLAR 2 : MANAGE OPERATIONS</a:t>
            </a:r>
          </a:p>
        </p:txBody>
      </p:sp>
      <p:sp>
        <p:nvSpPr>
          <p:cNvPr id="16" name="TextBox 15"/>
          <p:cNvSpPr txBox="1"/>
          <p:nvPr/>
        </p:nvSpPr>
        <p:spPr>
          <a:xfrm>
            <a:off x="4453127" y="1700784"/>
            <a:ext cx="3273552" cy="329184"/>
          </a:xfrm>
          <a:prstGeom prst="rect">
            <a:avLst/>
          </a:prstGeom>
          <a:noFill/>
        </p:spPr>
        <p:txBody>
          <a:bodyPr wrap="square" lIns="36576" rIns="36576" tIns="18288" bIns="18288">
            <a:spAutoFit/>
          </a:bodyPr>
          <a:lstStyle/>
          <a:p>
            <a:pPr algn="l">
              <a:spcAft>
                <a:spcPts val="300"/>
              </a:spcAft>
            </a:pPr>
            <a:r>
              <a:rPr sz="1450" b="1" i="0">
                <a:solidFill>
                  <a:srgbClr val="0F172A"/>
                </a:solidFill>
                <a:latin typeface="Liberation Sans"/>
              </a:rPr>
              <a:t>Rush Prep &amp; Credit Signals</a:t>
            </a:r>
          </a:p>
        </p:txBody>
      </p:sp>
      <p:sp>
        <p:nvSpPr>
          <p:cNvPr id="17" name="TextBox 16"/>
          <p:cNvSpPr txBox="1"/>
          <p:nvPr/>
        </p:nvSpPr>
        <p:spPr>
          <a:xfrm>
            <a:off x="4416551" y="2121408"/>
            <a:ext cx="3346704" cy="3977639"/>
          </a:xfrm>
          <a:prstGeom prst="rect">
            <a:avLst/>
          </a:prstGeom>
          <a:noFill/>
        </p:spPr>
        <p:txBody>
          <a:bodyPr wrap="square" lIns="54864" rIns="54864" tIns="36576" bIns="36576">
            <a:spAutoFit/>
          </a:bodyPr>
          <a:lstStyle/>
          <a:p>
            <a:pPr marL="210000" indent="-210000">
              <a:spcAft>
                <a:spcPts val="1000"/>
              </a:spcAft>
              <a:buChar char="•"/>
            </a:pPr>
            <a:r>
              <a:rPr sz="1200" b="1">
                <a:solidFill>
                  <a:srgbClr val="002970"/>
                </a:solidFill>
                <a:latin typeface="Liberation Sans"/>
              </a:rPr>
              <a:t>Rush Alert (Simulated): </a:t>
            </a:r>
            <a:r>
              <a:rPr sz="1200" b="0">
                <a:solidFill>
                  <a:srgbClr val="0F172A"/>
                </a:solidFill>
                <a:latin typeface="Liberation Sans"/>
              </a:rPr>
              <a:t>Flags weekend morning demand spikes from scan history.</a:t>
            </a:r>
          </a:p>
          <a:p>
            <a:pPr marL="210000" indent="-210000">
              <a:spcAft>
                <a:spcPts val="1000"/>
              </a:spcAft>
              <a:buChar char="•"/>
            </a:pPr>
            <a:r>
              <a:rPr sz="1200" b="1">
                <a:solidFill>
                  <a:srgbClr val="002970"/>
                </a:solidFill>
                <a:latin typeface="Liberation Sans"/>
              </a:rPr>
              <a:t>Supplier PO (Simulated): </a:t>
            </a:r>
            <a:r>
              <a:rPr sz="1200" b="0">
                <a:solidFill>
                  <a:srgbClr val="0F172A"/>
                </a:solidFill>
                <a:latin typeface="Liberation Sans"/>
              </a:rPr>
              <a:t>Dispatches pre-filled WhatsApp restock (+18L milk, +12kg batter).</a:t>
            </a:r>
          </a:p>
          <a:p>
            <a:pPr marL="210000" indent="-210000">
              <a:spcAft>
                <a:spcPts val="1000"/>
              </a:spcAft>
              <a:buChar char="•"/>
            </a:pPr>
            <a:r>
              <a:rPr sz="1200" b="1">
                <a:solidFill>
                  <a:srgbClr val="002970"/>
                </a:solidFill>
                <a:latin typeface="Liberation Sans"/>
              </a:rPr>
              <a:t>Dual Ledgers (Built): </a:t>
            </a:r>
            <a:r>
              <a:rPr sz="1200" b="0">
                <a:solidFill>
                  <a:srgbClr val="0F172A"/>
                </a:solidFill>
                <a:latin typeface="Liberation Sans"/>
              </a:rPr>
              <a:t>Separates merchant cashback stop from 30% Sarvam credit cap.</a:t>
            </a:r>
          </a:p>
          <a:p>
            <a:pPr marL="210000" indent="-210000">
              <a:spcAft>
                <a:spcPts val="1000"/>
              </a:spcAft>
              <a:buChar char="•"/>
            </a:pPr>
            <a:r>
              <a:rPr sz="1200" b="1">
                <a:solidFill>
                  <a:srgbClr val="002970"/>
                </a:solidFill>
                <a:latin typeface="Liberation Sans"/>
              </a:rPr>
              <a:t>Credit Signal (Planned): </a:t>
            </a:r>
            <a:r>
              <a:rPr sz="1200" b="0">
                <a:solidFill>
                  <a:srgbClr val="0F172A"/>
                </a:solidFill>
                <a:latin typeface="Liberation Sans"/>
              </a:rPr>
              <a:t>Feeds verified cashflow stability to partner NBFC funnel.</a:t>
            </a:r>
          </a:p>
        </p:txBody>
      </p:sp>
      <p:sp>
        <p:nvSpPr>
          <p:cNvPr id="18" name="Rounded Rectangle 17"/>
          <p:cNvSpPr/>
          <p:nvPr/>
        </p:nvSpPr>
        <p:spPr>
          <a:xfrm>
            <a:off x="8074152" y="1280160"/>
            <a:ext cx="3602736" cy="49834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8744" y="1426464"/>
            <a:ext cx="3273552" cy="256032"/>
          </a:xfrm>
          <a:prstGeom prst="rect">
            <a:avLst/>
          </a:prstGeom>
          <a:noFill/>
        </p:spPr>
        <p:txBody>
          <a:bodyPr wrap="square" lIns="36576" rIns="36576" tIns="18288" bIns="18288">
            <a:spAutoFit/>
          </a:bodyPr>
          <a:lstStyle/>
          <a:p>
            <a:pPr algn="l">
              <a:spcAft>
                <a:spcPts val="300"/>
              </a:spcAft>
            </a:pPr>
            <a:r>
              <a:rPr sz="1050" b="1" i="0">
                <a:solidFill>
                  <a:srgbClr val="002970"/>
                </a:solidFill>
                <a:latin typeface="Liberation Sans"/>
              </a:rPr>
              <a:t>PILLAR 3 : SERVE CUSTOMERS</a:t>
            </a:r>
          </a:p>
        </p:txBody>
      </p:sp>
      <p:sp>
        <p:nvSpPr>
          <p:cNvPr id="20" name="TextBox 19"/>
          <p:cNvSpPr txBox="1"/>
          <p:nvPr/>
        </p:nvSpPr>
        <p:spPr>
          <a:xfrm>
            <a:off x="8238744" y="1700784"/>
            <a:ext cx="3273552" cy="329184"/>
          </a:xfrm>
          <a:prstGeom prst="rect">
            <a:avLst/>
          </a:prstGeom>
          <a:noFill/>
        </p:spPr>
        <p:txBody>
          <a:bodyPr wrap="square" lIns="36576" rIns="36576" tIns="18288" bIns="18288">
            <a:spAutoFit/>
          </a:bodyPr>
          <a:lstStyle/>
          <a:p>
            <a:pPr algn="l">
              <a:spcAft>
                <a:spcPts val="300"/>
              </a:spcAft>
            </a:pPr>
            <a:r>
              <a:rPr sz="1450" b="1" i="0">
                <a:solidFill>
                  <a:srgbClr val="0F172A"/>
                </a:solidFill>
                <a:latin typeface="Liberation Sans"/>
              </a:rPr>
              <a:t>Privacy-Safe Service Recovery</a:t>
            </a:r>
          </a:p>
        </p:txBody>
      </p:sp>
      <p:sp>
        <p:nvSpPr>
          <p:cNvPr id="21" name="TextBox 20"/>
          <p:cNvSpPr txBox="1"/>
          <p:nvPr/>
        </p:nvSpPr>
        <p:spPr>
          <a:xfrm>
            <a:off x="8202168" y="2121408"/>
            <a:ext cx="3346704" cy="3977639"/>
          </a:xfrm>
          <a:prstGeom prst="rect">
            <a:avLst/>
          </a:prstGeom>
          <a:noFill/>
        </p:spPr>
        <p:txBody>
          <a:bodyPr wrap="square" lIns="54864" rIns="54864" tIns="36576" bIns="36576">
            <a:spAutoFit/>
          </a:bodyPr>
          <a:lstStyle/>
          <a:p>
            <a:pPr marL="210000" indent="-210000">
              <a:spcAft>
                <a:spcPts val="1000"/>
              </a:spcAft>
              <a:buChar char="•"/>
            </a:pPr>
            <a:r>
              <a:rPr sz="1200" b="1">
                <a:solidFill>
                  <a:srgbClr val="002970"/>
                </a:solidFill>
                <a:latin typeface="Liberation Sans"/>
              </a:rPr>
              <a:t>Delay Tagging (Simulated): </a:t>
            </a:r>
            <a:r>
              <a:rPr sz="1200" b="0">
                <a:solidFill>
                  <a:srgbClr val="0F172A"/>
                </a:solidFill>
                <a:latin typeface="Liberation Sans"/>
              </a:rPr>
              <a:t>Flags peak-hour queue delays and 3-star feedback tags.</a:t>
            </a:r>
          </a:p>
          <a:p>
            <a:pPr marL="210000" indent="-210000">
              <a:spcAft>
                <a:spcPts val="1000"/>
              </a:spcAft>
              <a:buChar char="•"/>
            </a:pPr>
            <a:r>
              <a:rPr sz="1200" b="1">
                <a:solidFill>
                  <a:srgbClr val="002970"/>
                </a:solidFill>
                <a:latin typeface="Liberation Sans"/>
              </a:rPr>
              <a:t>Goodwill Pass (Simulated): </a:t>
            </a:r>
            <a:r>
              <a:rPr sz="1200" b="0">
                <a:solidFill>
                  <a:srgbClr val="0F172A"/>
                </a:solidFill>
                <a:latin typeface="Liberation Sans"/>
              </a:rPr>
              <a:t>1-tap bilingual apology + Rs 30 next-scan coffee voucher.</a:t>
            </a:r>
          </a:p>
          <a:p>
            <a:pPr marL="210000" indent="-210000">
              <a:spcAft>
                <a:spcPts val="1000"/>
              </a:spcAft>
              <a:buChar char="•"/>
            </a:pPr>
            <a:r>
              <a:rPr sz="1200" b="1">
                <a:solidFill>
                  <a:srgbClr val="002970"/>
                </a:solidFill>
                <a:latin typeface="Liberation Sans"/>
              </a:rPr>
              <a:t>Zero PII Leakage (Built): </a:t>
            </a:r>
            <a:r>
              <a:rPr sz="1200" b="0">
                <a:solidFill>
                  <a:srgbClr val="0F172A"/>
                </a:solidFill>
                <a:latin typeface="Liberation Sans"/>
              </a:rPr>
              <a:t>No raw phone numbers or payer IDs ever leave SQLite.</a:t>
            </a:r>
          </a:p>
          <a:p>
            <a:pPr marL="210000" indent="-210000">
              <a:spcAft>
                <a:spcPts val="1000"/>
              </a:spcAft>
              <a:buChar char="•"/>
            </a:pPr>
            <a:r>
              <a:rPr sz="1200" b="1">
                <a:solidFill>
                  <a:srgbClr val="002970"/>
                </a:solidFill>
                <a:latin typeface="Liberation Sans"/>
              </a:rPr>
              <a:t>DPDP &amp; Cooldown (Built): </a:t>
            </a:r>
            <a:r>
              <a:rPr sz="1200" b="0">
                <a:solidFill>
                  <a:srgbClr val="0F172A"/>
                </a:solidFill>
                <a:latin typeface="Liberation Sans"/>
              </a:rPr>
              <a:t>Hard opt-in filter and 14-day per-payer anti-spam cooldown.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845052"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753612"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A4 : ITT WORKFLOW &amp; SPEND STOP</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Intention-to-Treat Cap-vs-Holdout &amp; Late-Arrival Handling</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(Deck v2.1)</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A4 (Slide 9 / 16)</a:t>
            </a:r>
          </a:p>
        </p:txBody>
      </p:sp>
      <p:sp>
        <p:nvSpPr>
          <p:cNvPr id="10" name="Rounded Rectangle 9"/>
          <p:cNvSpPr/>
          <p:nvPr/>
        </p:nvSpPr>
        <p:spPr>
          <a:xfrm>
            <a:off x="502920" y="1298448"/>
            <a:ext cx="2670048" cy="2944368"/>
          </a:xfrm>
          <a:prstGeom prst="roundRect">
            <a:avLst>
              <a:gd name="adj" fmla="val 3000"/>
            </a:avLst>
          </a:prstGeom>
          <a:solidFill>
            <a:srgbClr val="FFFFFF"/>
          </a:solidFill>
          <a:ln w="1524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 y="1426464"/>
            <a:ext cx="2414016" cy="329184"/>
          </a:xfrm>
          <a:prstGeom prst="rect">
            <a:avLst/>
          </a:prstGeom>
          <a:noFill/>
        </p:spPr>
        <p:txBody>
          <a:bodyPr wrap="square" lIns="36576" rIns="36576" tIns="18288" bIns="18288">
            <a:spAutoFit/>
          </a:bodyPr>
          <a:lstStyle/>
          <a:p>
            <a:pPr algn="l">
              <a:spcAft>
                <a:spcPts val="300"/>
              </a:spcAft>
            </a:pPr>
            <a:r>
              <a:rPr sz="1100" b="1" i="0">
                <a:solidFill>
                  <a:srgbClr val="002970"/>
                </a:solidFill>
                <a:latin typeface="Liberation Sans"/>
              </a:rPr>
              <a:t>STEP 1 : PASS ISSUANCE</a:t>
            </a:r>
          </a:p>
        </p:txBody>
      </p:sp>
      <p:sp>
        <p:nvSpPr>
          <p:cNvPr id="12" name="TextBox 11"/>
          <p:cNvSpPr txBox="1"/>
          <p:nvPr/>
        </p:nvSpPr>
        <p:spPr>
          <a:xfrm>
            <a:off x="630936" y="1810512"/>
            <a:ext cx="2414016" cy="2304288"/>
          </a:xfrm>
          <a:prstGeom prst="rect">
            <a:avLst/>
          </a:prstGeom>
          <a:noFill/>
        </p:spPr>
        <p:txBody>
          <a:bodyPr wrap="square" lIns="36576" rIns="36576" tIns="18288" bIns="18288">
            <a:spAutoFit/>
          </a:bodyPr>
          <a:lstStyle/>
          <a:p>
            <a:pPr algn="l">
              <a:spcAft>
                <a:spcPts val="300"/>
              </a:spcAft>
            </a:pPr>
            <a:r>
              <a:rPr sz="1080" b="0" i="0">
                <a:solidFill>
                  <a:srgbClr val="0F172A"/>
                </a:solidFill>
                <a:latin typeface="Liberation Sans"/>
              </a:rPr>
              <a:t>Filter 48 -&gt; 40 eligible (80/20: 32 nudged, 8 control). Issue Rs 25 passes ('valid while shop offer budget lasts') to ALL 32 nudged buyers (Rs 800 face).</a:t>
            </a:r>
          </a:p>
        </p:txBody>
      </p:sp>
      <p:sp>
        <p:nvSpPr>
          <p:cNvPr id="13" name="Rounded Rectangle 12"/>
          <p:cNvSpPr/>
          <p:nvPr/>
        </p:nvSpPr>
        <p:spPr>
          <a:xfrm>
            <a:off x="3337560" y="1298448"/>
            <a:ext cx="2670048" cy="2944368"/>
          </a:xfrm>
          <a:prstGeom prst="roundRect">
            <a:avLst>
              <a:gd name="adj" fmla="val 3000"/>
            </a:avLst>
          </a:prstGeom>
          <a:solidFill>
            <a:srgbClr val="FFFFFF"/>
          </a:solidFill>
          <a:ln w="1524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65576" y="1426464"/>
            <a:ext cx="2414016" cy="329184"/>
          </a:xfrm>
          <a:prstGeom prst="rect">
            <a:avLst/>
          </a:prstGeom>
          <a:noFill/>
        </p:spPr>
        <p:txBody>
          <a:bodyPr wrap="square" lIns="36576" rIns="36576" tIns="18288" bIns="18288">
            <a:spAutoFit/>
          </a:bodyPr>
          <a:lstStyle/>
          <a:p>
            <a:pPr algn="l">
              <a:spcAft>
                <a:spcPts val="300"/>
              </a:spcAft>
            </a:pPr>
            <a:r>
              <a:rPr sz="1100" b="1" i="0">
                <a:solidFill>
                  <a:srgbClr val="002970"/>
                </a:solidFill>
                <a:latin typeface="Liberation Sans"/>
              </a:rPr>
              <a:t>STEP 2 : &gt;10% &amp; 80% ALERTS</a:t>
            </a:r>
          </a:p>
        </p:txBody>
      </p:sp>
      <p:sp>
        <p:nvSpPr>
          <p:cNvPr id="15" name="TextBox 14"/>
          <p:cNvSpPr txBox="1"/>
          <p:nvPr/>
        </p:nvSpPr>
        <p:spPr>
          <a:xfrm>
            <a:off x="3465576" y="1810512"/>
            <a:ext cx="2414016" cy="2304288"/>
          </a:xfrm>
          <a:prstGeom prst="rect">
            <a:avLst/>
          </a:prstGeom>
          <a:noFill/>
        </p:spPr>
        <p:txBody>
          <a:bodyPr wrap="square" lIns="36576" rIns="36576" tIns="18288" bIns="18288">
            <a:spAutoFit/>
          </a:bodyPr>
          <a:lstStyle/>
          <a:p>
            <a:pPr algn="l">
              <a:spcAft>
                <a:spcPts val="300"/>
              </a:spcAft>
            </a:pPr>
            <a:r>
              <a:rPr sz="1080" b="0" i="0">
                <a:solidFill>
                  <a:srgbClr val="0F172A"/>
                </a:solidFill>
                <a:latin typeface="Liberation Sans"/>
              </a:rPr>
              <a:t>At approval, P(Binomial(32, 0.375) &gt; 12) = 42.2% (&gt;10% alert -&gt; suggests Rs 400 cap). Live at 80% cap (10/12 paid), prompt merchant 1-tap top-up.</a:t>
            </a:r>
          </a:p>
        </p:txBody>
      </p:sp>
      <p:sp>
        <p:nvSpPr>
          <p:cNvPr id="16" name="Rounded Rectangle 15"/>
          <p:cNvSpPr/>
          <p:nvPr/>
        </p:nvSpPr>
        <p:spPr>
          <a:xfrm>
            <a:off x="6172200" y="1298448"/>
            <a:ext cx="2670048" cy="2944368"/>
          </a:xfrm>
          <a:prstGeom prst="roundRect">
            <a:avLst>
              <a:gd name="adj" fmla="val 3000"/>
            </a:avLst>
          </a:prstGeom>
          <a:solidFill>
            <a:srgbClr val="FFFFFF"/>
          </a:solidFill>
          <a:ln w="1524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0216" y="1426464"/>
            <a:ext cx="2414016" cy="329184"/>
          </a:xfrm>
          <a:prstGeom prst="rect">
            <a:avLst/>
          </a:prstGeom>
          <a:noFill/>
        </p:spPr>
        <p:txBody>
          <a:bodyPr wrap="square" lIns="36576" rIns="36576" tIns="18288" bIns="18288">
            <a:spAutoFit/>
          </a:bodyPr>
          <a:lstStyle/>
          <a:p>
            <a:pPr algn="l">
              <a:spcAft>
                <a:spcPts val="300"/>
              </a:spcAft>
            </a:pPr>
            <a:r>
              <a:rPr sz="1100" b="1" i="0">
                <a:solidFill>
                  <a:srgbClr val="002970"/>
                </a:solidFill>
                <a:latin typeface="Liberation Sans"/>
              </a:rPr>
              <a:t>STEP 3 : INDEPENDENT DRAW</a:t>
            </a:r>
          </a:p>
        </p:txBody>
      </p:sp>
      <p:sp>
        <p:nvSpPr>
          <p:cNvPr id="18" name="TextBox 17"/>
          <p:cNvSpPr txBox="1"/>
          <p:nvPr/>
        </p:nvSpPr>
        <p:spPr>
          <a:xfrm>
            <a:off x="6300216" y="1810512"/>
            <a:ext cx="2414016" cy="2304288"/>
          </a:xfrm>
          <a:prstGeom prst="rect">
            <a:avLst/>
          </a:prstGeom>
          <a:noFill/>
        </p:spPr>
        <p:txBody>
          <a:bodyPr wrap="square" lIns="36576" rIns="36576" tIns="18288" bIns="18288">
            <a:spAutoFit/>
          </a:bodyPr>
          <a:lstStyle/>
          <a:p>
            <a:pPr algn="l">
              <a:spcAft>
                <a:spcPts val="300"/>
              </a:spcAft>
            </a:pPr>
            <a:r>
              <a:rPr sz="1080" b="0" i="0">
                <a:solidFill>
                  <a:srgbClr val="0F172A"/>
                </a:solidFill>
                <a:latin typeface="Liberation Sans"/>
              </a:rPr>
              <a:t>48h simulator draws customer return visits independently of max_budget first, then applies atomic BEGIN IMMEDIATE stop at Rs 300 (12 paid).</a:t>
            </a:r>
          </a:p>
        </p:txBody>
      </p:sp>
      <p:sp>
        <p:nvSpPr>
          <p:cNvPr id="19" name="Rounded Rectangle 18"/>
          <p:cNvSpPr/>
          <p:nvPr/>
        </p:nvSpPr>
        <p:spPr>
          <a:xfrm>
            <a:off x="9006840" y="1298448"/>
            <a:ext cx="2670048" cy="2944368"/>
          </a:xfrm>
          <a:prstGeom prst="roundRect">
            <a:avLst>
              <a:gd name="adj" fmla="val 3000"/>
            </a:avLst>
          </a:prstGeom>
          <a:solidFill>
            <a:srgbClr val="FFFFFF"/>
          </a:solidFill>
          <a:ln w="1524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34856" y="1426464"/>
            <a:ext cx="2414016" cy="329184"/>
          </a:xfrm>
          <a:prstGeom prst="rect">
            <a:avLst/>
          </a:prstGeom>
          <a:noFill/>
        </p:spPr>
        <p:txBody>
          <a:bodyPr wrap="square" lIns="36576" rIns="36576" tIns="18288" bIns="18288">
            <a:spAutoFit/>
          </a:bodyPr>
          <a:lstStyle/>
          <a:p>
            <a:pPr algn="l">
              <a:spcAft>
                <a:spcPts val="300"/>
              </a:spcAft>
            </a:pPr>
            <a:r>
              <a:rPr sz="1100" b="1" i="0">
                <a:solidFill>
                  <a:srgbClr val="002970"/>
                </a:solidFill>
                <a:latin typeface="Liberation Sans"/>
              </a:rPr>
              <a:t>STEP 4 : ITT &amp; DECLINE LOG</a:t>
            </a:r>
          </a:p>
        </p:txBody>
      </p:sp>
      <p:sp>
        <p:nvSpPr>
          <p:cNvPr id="21" name="TextBox 20"/>
          <p:cNvSpPr txBox="1"/>
          <p:nvPr/>
        </p:nvSpPr>
        <p:spPr>
          <a:xfrm>
            <a:off x="9134856" y="1810512"/>
            <a:ext cx="2414016" cy="2304288"/>
          </a:xfrm>
          <a:prstGeom prst="rect">
            <a:avLst/>
          </a:prstGeom>
          <a:noFill/>
        </p:spPr>
        <p:txBody>
          <a:bodyPr wrap="square" lIns="36576" rIns="36576" tIns="18288" bIns="18288">
            <a:spAutoFit/>
          </a:bodyPr>
          <a:lstStyle/>
          <a:p>
            <a:pPr algn="l">
              <a:spcAft>
                <a:spcPts val="300"/>
              </a:spcAft>
            </a:pPr>
            <a:r>
              <a:rPr sz="1080" b="0" i="0">
                <a:solidFill>
                  <a:srgbClr val="0F172A"/>
                </a:solidFill>
                <a:latin typeface="Liberation Sans"/>
              </a:rPr>
              <a:t>After cap, normal UPI clears, cashback withholds, refused_redemptions + audit_log increment (brand risk tracked). ITT (32 vs 8) stays unchanged.</a:t>
            </a:r>
          </a:p>
        </p:txBody>
      </p:sp>
      <p:sp>
        <p:nvSpPr>
          <p:cNvPr id="22" name="Rounded Rectangle 21"/>
          <p:cNvSpPr/>
          <p:nvPr/>
        </p:nvSpPr>
        <p:spPr>
          <a:xfrm>
            <a:off x="502920" y="4407408"/>
            <a:ext cx="11183112" cy="1865376"/>
          </a:xfrm>
          <a:prstGeom prst="roundRect">
            <a:avLst>
              <a:gd name="adj" fmla="val 3000"/>
            </a:avLst>
          </a:prstGeom>
          <a:solidFill>
            <a:srgbClr val="FFFBEB"/>
          </a:solidFill>
          <a:ln w="1524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4517136"/>
            <a:ext cx="10789920" cy="292608"/>
          </a:xfrm>
          <a:prstGeom prst="rect">
            <a:avLst/>
          </a:prstGeom>
          <a:noFill/>
        </p:spPr>
        <p:txBody>
          <a:bodyPr wrap="square" lIns="36576" rIns="36576" tIns="18288" bIns="18288">
            <a:spAutoFit/>
          </a:bodyPr>
          <a:lstStyle/>
          <a:p>
            <a:pPr algn="l">
              <a:spcAft>
                <a:spcPts val="300"/>
              </a:spcAft>
            </a:pPr>
            <a:r>
              <a:rPr sz="1250" b="1" i="0">
                <a:solidFill>
                  <a:srgbClr val="B45309"/>
                </a:solidFill>
                <a:latin typeface="Liberation Sans"/>
              </a:rPr>
              <a:t>DISCLOSED BRAND RISK &amp; VERIFIED INVARIANCE TESTS</a:t>
            </a:r>
          </a:p>
        </p:txBody>
      </p:sp>
      <p:sp>
        <p:nvSpPr>
          <p:cNvPr id="24" name="TextBox 23"/>
          <p:cNvSpPr txBox="1"/>
          <p:nvPr/>
        </p:nvSpPr>
        <p:spPr>
          <a:xfrm>
            <a:off x="658368" y="4828032"/>
            <a:ext cx="10835640" cy="1371600"/>
          </a:xfrm>
          <a:prstGeom prst="rect">
            <a:avLst/>
          </a:prstGeom>
          <a:noFill/>
        </p:spPr>
        <p:txBody>
          <a:bodyPr wrap="square" lIns="54864" rIns="54864" tIns="36576" bIns="36576">
            <a:spAutoFit/>
          </a:bodyPr>
          <a:lstStyle/>
          <a:p>
            <a:pPr marL="210000" indent="-210000">
              <a:spcAft>
                <a:spcPts val="600"/>
              </a:spcAft>
              <a:buChar char="•"/>
            </a:pPr>
            <a:r>
              <a:rPr sz="1120" b="1">
                <a:solidFill>
                  <a:srgbClr val="002970"/>
                </a:solidFill>
                <a:latin typeface="Liberation Sans"/>
              </a:rPr>
              <a:t>Post-Cap Customer Experience &amp; Brand Risk: </a:t>
            </a:r>
            <a:r>
              <a:rPr sz="1120" b="0">
                <a:solidFill>
                  <a:srgbClr val="0F172A"/>
                </a:solidFill>
                <a:latin typeface="Liberation Sans"/>
              </a:rPr>
              <a:t>Pass terms state 'valid while shop offer budget lasts'; declining a 13th regular still risks counter disappointment, so overrun alerts, 80%-cap top-up prompts, and logged declines are mandatory.</a:t>
            </a:r>
          </a:p>
          <a:p>
            <a:pPr marL="210000" indent="-210000">
              <a:spcAft>
                <a:spcPts val="600"/>
              </a:spcAft>
              <a:buChar char="•"/>
            </a:pPr>
            <a:r>
              <a:rPr sz="1120" b="1">
                <a:solidFill>
                  <a:srgbClr val="002970"/>
                </a:solidFill>
                <a:latin typeface="Liberation Sans"/>
              </a:rPr>
              <a:t>Automated Concurrency &amp; ITT Tests: </a:t>
            </a:r>
            <a:r>
              <a:rPr sz="1120" b="0">
                <a:solidFill>
                  <a:srgbClr val="0F172A"/>
                </a:solidFill>
                <a:latin typeface="Liberation Sans"/>
              </a:rPr>
              <a:t>25-thread simultaneous scan test verifies budget_spent == Rs 300 (12 paid, 13 refused); multi-seed test proves ITT holdout comparison is identical whether cap is Rs 800 or Rs 100.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323844"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232404"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A5 : SYSTEM ARCHITECTURE</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Component Status: Built vs Pending vs Production Plan</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(Deck v2.1)</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A5 (Slide 10 / 16)</a:t>
            </a:r>
          </a:p>
        </p:txBody>
      </p:sp>
      <p:sp>
        <p:nvSpPr>
          <p:cNvPr id="10" name="Rounded Rectangle 9"/>
          <p:cNvSpPr/>
          <p:nvPr/>
        </p:nvSpPr>
        <p:spPr>
          <a:xfrm>
            <a:off x="502920" y="1298448"/>
            <a:ext cx="11183112" cy="10972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298448"/>
            <a:ext cx="2011680" cy="1097280"/>
          </a:xfrm>
          <a:prstGeom prst="rect">
            <a:avLst/>
          </a:prstGeom>
          <a:solidFill>
            <a:srgbClr val="00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645919"/>
            <a:ext cx="1783080" cy="411480"/>
          </a:xfrm>
          <a:prstGeom prst="rect">
            <a:avLst/>
          </a:prstGeom>
          <a:noFill/>
        </p:spPr>
        <p:txBody>
          <a:bodyPr wrap="square" lIns="36576" rIns="36576" tIns="18288" bIns="18288">
            <a:spAutoFit/>
          </a:bodyPr>
          <a:lstStyle/>
          <a:p>
            <a:pPr algn="ctr">
              <a:spcAft>
                <a:spcPts val="300"/>
              </a:spcAft>
            </a:pPr>
            <a:r>
              <a:rPr sz="1150" b="1" i="0">
                <a:solidFill>
                  <a:srgbClr val="FFFFFF"/>
                </a:solidFill>
                <a:latin typeface="Liberation Sans"/>
              </a:rPr>
              <a:t>TOUCHPOINTS</a:t>
            </a:r>
          </a:p>
        </p:txBody>
      </p:sp>
      <p:sp>
        <p:nvSpPr>
          <p:cNvPr id="13" name="Rounded Rectangle 12"/>
          <p:cNvSpPr/>
          <p:nvPr/>
        </p:nvSpPr>
        <p:spPr>
          <a:xfrm>
            <a:off x="2670048" y="1426464"/>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9776" y="1517904"/>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Merchant &amp; Technical View UI</a:t>
            </a:r>
          </a:p>
        </p:txBody>
      </p:sp>
      <p:sp>
        <p:nvSpPr>
          <p:cNvPr id="15" name="Rounded Rectangle 14"/>
          <p:cNvSpPr/>
          <p:nvPr/>
        </p:nvSpPr>
        <p:spPr>
          <a:xfrm>
            <a:off x="5641848" y="1426464"/>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51576" y="1517904"/>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1-Tap &amp; Voice Chip Fallback</a:t>
            </a:r>
          </a:p>
        </p:txBody>
      </p:sp>
      <p:sp>
        <p:nvSpPr>
          <p:cNvPr id="17" name="Rounded Rectangle 16"/>
          <p:cNvSpPr/>
          <p:nvPr/>
        </p:nvSpPr>
        <p:spPr>
          <a:xfrm>
            <a:off x="8613648" y="1426464"/>
            <a:ext cx="2834640" cy="841248"/>
          </a:xfrm>
          <a:prstGeom prst="roundRect">
            <a:avLst>
              <a:gd name="adj" fmla="val 3000"/>
            </a:avLst>
          </a:prstGeom>
          <a:solidFill>
            <a:srgbClr val="F1F5F9"/>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23376" y="1517904"/>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[PLANNED] Soundbox 4G Push &amp; WhatsApp Cloud</a:t>
            </a:r>
          </a:p>
        </p:txBody>
      </p:sp>
      <p:sp>
        <p:nvSpPr>
          <p:cNvPr id="19" name="Rounded Rectangle 18"/>
          <p:cNvSpPr/>
          <p:nvPr/>
        </p:nvSpPr>
        <p:spPr>
          <a:xfrm>
            <a:off x="502920" y="2542032"/>
            <a:ext cx="11183112" cy="10972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2542032"/>
            <a:ext cx="2011680" cy="1097280"/>
          </a:xfrm>
          <a:prstGeom prst="rect">
            <a:avLst/>
          </a:prstGeom>
          <a:solidFill>
            <a:srgbClr val="00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2889504"/>
            <a:ext cx="1783080" cy="411480"/>
          </a:xfrm>
          <a:prstGeom prst="rect">
            <a:avLst/>
          </a:prstGeom>
          <a:noFill/>
        </p:spPr>
        <p:txBody>
          <a:bodyPr wrap="square" lIns="36576" rIns="36576" tIns="18288" bIns="18288">
            <a:spAutoFit/>
          </a:bodyPr>
          <a:lstStyle/>
          <a:p>
            <a:pPr algn="ctr">
              <a:spcAft>
                <a:spcPts val="300"/>
              </a:spcAft>
            </a:pPr>
            <a:r>
              <a:rPr sz="1150" b="1" i="0">
                <a:solidFill>
                  <a:srgbClr val="FFFFFF"/>
                </a:solidFill>
                <a:latin typeface="Liberation Sans"/>
              </a:rPr>
              <a:t>VOICE &amp; LLM</a:t>
            </a:r>
          </a:p>
        </p:txBody>
      </p:sp>
      <p:sp>
        <p:nvSpPr>
          <p:cNvPr id="22" name="Rounded Rectangle 21"/>
          <p:cNvSpPr/>
          <p:nvPr/>
        </p:nvSpPr>
        <p:spPr>
          <a:xfrm>
            <a:off x="2670048" y="2670048"/>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79776" y="2761488"/>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Browser Speech + SHA-256 Cache</a:t>
            </a:r>
          </a:p>
        </p:txBody>
      </p:sp>
      <p:sp>
        <p:nvSpPr>
          <p:cNvPr id="24" name="Rounded Rectangle 23"/>
          <p:cNvSpPr/>
          <p:nvPr/>
        </p:nvSpPr>
        <p:spPr>
          <a:xfrm>
            <a:off x="5641848" y="2670048"/>
            <a:ext cx="2834640" cy="841248"/>
          </a:xfrm>
          <a:prstGeom prst="roundRect">
            <a:avLst>
              <a:gd name="adj" fmla="val 3000"/>
            </a:avLst>
          </a:prstGeom>
          <a:solidFill>
            <a:srgbClr val="FFFBEB"/>
          </a:solidFill>
          <a:ln w="1397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51576" y="2761488"/>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[PENDING LIVE] Keyless Sarvam (30% Cap)</a:t>
            </a:r>
          </a:p>
        </p:txBody>
      </p:sp>
      <p:sp>
        <p:nvSpPr>
          <p:cNvPr id="26" name="Rounded Rectangle 25"/>
          <p:cNvSpPr/>
          <p:nvPr/>
        </p:nvSpPr>
        <p:spPr>
          <a:xfrm>
            <a:off x="8613648" y="2670048"/>
            <a:ext cx="2834640" cy="841248"/>
          </a:xfrm>
          <a:prstGeom prst="roundRect">
            <a:avLst>
              <a:gd name="adj" fmla="val 3000"/>
            </a:avLst>
          </a:prstGeom>
          <a:solidFill>
            <a:srgbClr val="FFFBEB"/>
          </a:solidFill>
          <a:ln w="1397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23376" y="2761488"/>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[STAGE 2] Keyless Groq Grounded English Q&amp;A</a:t>
            </a:r>
          </a:p>
        </p:txBody>
      </p:sp>
      <p:sp>
        <p:nvSpPr>
          <p:cNvPr id="28" name="Rounded Rectangle 27"/>
          <p:cNvSpPr/>
          <p:nvPr/>
        </p:nvSpPr>
        <p:spPr>
          <a:xfrm>
            <a:off x="502920" y="3785616"/>
            <a:ext cx="11183112" cy="10972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3785616"/>
            <a:ext cx="2011680" cy="1097280"/>
          </a:xfrm>
          <a:prstGeom prst="rect">
            <a:avLst/>
          </a:prstGeom>
          <a:solidFill>
            <a:srgbClr val="00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4133088"/>
            <a:ext cx="1783080" cy="411480"/>
          </a:xfrm>
          <a:prstGeom prst="rect">
            <a:avLst/>
          </a:prstGeom>
          <a:noFill/>
        </p:spPr>
        <p:txBody>
          <a:bodyPr wrap="square" lIns="36576" rIns="36576" tIns="18288" bIns="18288">
            <a:spAutoFit/>
          </a:bodyPr>
          <a:lstStyle/>
          <a:p>
            <a:pPr algn="ctr">
              <a:spcAft>
                <a:spcPts val="300"/>
              </a:spcAft>
            </a:pPr>
            <a:r>
              <a:rPr sz="1150" b="1" i="0">
                <a:solidFill>
                  <a:srgbClr val="FFFFFF"/>
                </a:solidFill>
                <a:latin typeface="Liberation Sans"/>
              </a:rPr>
              <a:t>CORE ENGINE</a:t>
            </a:r>
          </a:p>
        </p:txBody>
      </p:sp>
      <p:sp>
        <p:nvSpPr>
          <p:cNvPr id="31" name="Rounded Rectangle 30"/>
          <p:cNvSpPr/>
          <p:nvPr/>
        </p:nvSpPr>
        <p:spPr>
          <a:xfrm>
            <a:off x="2670048" y="3913632"/>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79776" y="4005072"/>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FastAPI + TTL/LRU/Byte Sessions</a:t>
            </a:r>
          </a:p>
        </p:txBody>
      </p:sp>
      <p:sp>
        <p:nvSpPr>
          <p:cNvPr id="33" name="Rounded Rectangle 32"/>
          <p:cNvSpPr/>
          <p:nvPr/>
        </p:nvSpPr>
        <p:spPr>
          <a:xfrm>
            <a:off x="5641848" y="3913632"/>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51576" y="4005072"/>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5-Rule Guardrails + Jargon Lint</a:t>
            </a:r>
          </a:p>
        </p:txBody>
      </p:sp>
      <p:sp>
        <p:nvSpPr>
          <p:cNvPr id="35" name="Rounded Rectangle 34"/>
          <p:cNvSpPr/>
          <p:nvPr/>
        </p:nvSpPr>
        <p:spPr>
          <a:xfrm>
            <a:off x="8613648" y="3913632"/>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723376" y="4005072"/>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ITT Fisher/Wilson/Power + Profit ROI</a:t>
            </a:r>
          </a:p>
        </p:txBody>
      </p:sp>
      <p:sp>
        <p:nvSpPr>
          <p:cNvPr id="37" name="Rounded Rectangle 36"/>
          <p:cNvSpPr/>
          <p:nvPr/>
        </p:nvSpPr>
        <p:spPr>
          <a:xfrm>
            <a:off x="502920" y="5029200"/>
            <a:ext cx="11183112" cy="10972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2920" y="5029200"/>
            <a:ext cx="2011680" cy="1097280"/>
          </a:xfrm>
          <a:prstGeom prst="rect">
            <a:avLst/>
          </a:prstGeom>
          <a:solidFill>
            <a:srgbClr val="00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 y="5376672"/>
            <a:ext cx="1783080" cy="411480"/>
          </a:xfrm>
          <a:prstGeom prst="rect">
            <a:avLst/>
          </a:prstGeom>
          <a:noFill/>
        </p:spPr>
        <p:txBody>
          <a:bodyPr wrap="square" lIns="36576" rIns="36576" tIns="18288" bIns="18288">
            <a:spAutoFit/>
          </a:bodyPr>
          <a:lstStyle/>
          <a:p>
            <a:pPr algn="ctr">
              <a:spcAft>
                <a:spcPts val="300"/>
              </a:spcAft>
            </a:pPr>
            <a:r>
              <a:rPr sz="1150" b="1" i="0">
                <a:solidFill>
                  <a:srgbClr val="FFFFFF"/>
                </a:solidFill>
                <a:latin typeface="Liberation Sans"/>
              </a:rPr>
              <a:t>DATA &amp; OPS</a:t>
            </a:r>
          </a:p>
        </p:txBody>
      </p:sp>
      <p:sp>
        <p:nvSpPr>
          <p:cNvPr id="40" name="Rounded Rectangle 39"/>
          <p:cNvSpPr/>
          <p:nvPr/>
        </p:nvSpPr>
        <p:spPr>
          <a:xfrm>
            <a:off x="2670048" y="5157216"/>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79776" y="5248656"/>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Atomic SQLite Spend-Stop Ledger</a:t>
            </a:r>
          </a:p>
        </p:txBody>
      </p:sp>
      <p:sp>
        <p:nvSpPr>
          <p:cNvPr id="42" name="Rounded Rectangle 41"/>
          <p:cNvSpPr/>
          <p:nvPr/>
        </p:nvSpPr>
        <p:spPr>
          <a:xfrm>
            <a:off x="5641848" y="5157216"/>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751576" y="5248656"/>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Automated Preflight + Stress Suite</a:t>
            </a:r>
          </a:p>
        </p:txBody>
      </p:sp>
      <p:sp>
        <p:nvSpPr>
          <p:cNvPr id="44" name="Rounded Rectangle 43"/>
          <p:cNvSpPr/>
          <p:nvPr/>
        </p:nvSpPr>
        <p:spPr>
          <a:xfrm>
            <a:off x="8613648" y="5157216"/>
            <a:ext cx="2834640" cy="841248"/>
          </a:xfrm>
          <a:prstGeom prst="roundRect">
            <a:avLst>
              <a:gd name="adj" fmla="val 3000"/>
            </a:avLst>
          </a:prstGeom>
          <a:solidFill>
            <a:srgbClr val="F1F5F9"/>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723376" y="5248656"/>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[PLANNED] PostgreSQL &amp; Redis Cluster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150108"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058668"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A6 : POSITIONING (USP)</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Differentiation vs Manual Khata Apps and Generic Chatbots</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(Deck v2.1)</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A6 (Slide 11 / 16)</a:t>
            </a:r>
          </a:p>
        </p:txBody>
      </p:sp>
      <p:graphicFrame>
        <p:nvGraphicFramePr>
          <p:cNvPr id="10" name="Table 9"/>
          <p:cNvGraphicFramePr>
            <a:graphicFrameLocks noGrp="1"/>
          </p:cNvGraphicFramePr>
          <p:nvPr/>
        </p:nvGraphicFramePr>
        <p:xfrm>
          <a:off x="502920" y="1298448"/>
          <a:ext cx="11183112" cy="4846320"/>
        </p:xfrm>
        <a:graphic>
          <a:graphicData uri="http://schemas.openxmlformats.org/drawingml/2006/table">
            <a:tbl>
              <a:tblPr firstRow="1" bandRow="1">
                <a:tableStyleId>{5C22544A-7EE6-4342-B048-85BDC9FD1C3A}</a:tableStyleId>
              </a:tblPr>
              <a:tblGrid>
                <a:gridCol w="2148840"/>
                <a:gridCol w="2743200"/>
                <a:gridCol w="2743200"/>
                <a:gridCol w="3547872"/>
              </a:tblGrid>
              <a:tr h="807720">
                <a:tc>
                  <a:txBody>
                    <a:bodyPr/>
                    <a:lstStyle/>
                    <a:p>
                      <a:pPr>
                        <a:defRPr sz="1200" b="1">
                          <a:solidFill>
                            <a:srgbClr val="FFFFFF"/>
                          </a:solidFill>
                          <a:latin typeface="Liberation Sans"/>
                        </a:defRPr>
                      </a:pPr>
                      <a:r>
                        <a:t>Dimension</a:t>
                      </a:r>
                    </a:p>
                  </a:txBody>
                  <a:tcPr anchor="ctr">
                    <a:solidFill>
                      <a:srgbClr val="001B4D"/>
                    </a:solidFill>
                  </a:tcPr>
                </a:tc>
                <a:tc>
                  <a:txBody>
                    <a:bodyPr/>
                    <a:lstStyle/>
                    <a:p>
                      <a:pPr>
                        <a:defRPr sz="1200" b="1">
                          <a:solidFill>
                            <a:srgbClr val="FFFFFF"/>
                          </a:solidFill>
                          <a:latin typeface="Liberation Sans"/>
                        </a:defRPr>
                      </a:pPr>
                      <a:r>
                        <a:t>Manual BI / Khata Apps</a:t>
                      </a:r>
                    </a:p>
                  </a:txBody>
                  <a:tcPr anchor="ctr">
                    <a:solidFill>
                      <a:srgbClr val="001B4D"/>
                    </a:solidFill>
                  </a:tcPr>
                </a:tc>
                <a:tc>
                  <a:txBody>
                    <a:bodyPr/>
                    <a:lstStyle/>
                    <a:p>
                      <a:pPr>
                        <a:defRPr sz="1200" b="1">
                          <a:solidFill>
                            <a:srgbClr val="FFFFFF"/>
                          </a:solidFill>
                          <a:latin typeface="Liberation Sans"/>
                        </a:defRPr>
                      </a:pPr>
                      <a:r>
                        <a:t>Generic LLM Chatbots</a:t>
                      </a:r>
                    </a:p>
                  </a:txBody>
                  <a:tcPr anchor="ctr">
                    <a:solidFill>
                      <a:srgbClr val="001B4D"/>
                    </a:solidFill>
                  </a:tcPr>
                </a:tc>
                <a:tc>
                  <a:txBody>
                    <a:bodyPr/>
                    <a:lstStyle/>
                    <a:p>
                      <a:pPr>
                        <a:defRPr sz="1200" b="1">
                          <a:solidFill>
                            <a:srgbClr val="FFFFFF"/>
                          </a:solidFill>
                          <a:latin typeface="Liberation Sans"/>
                        </a:defRPr>
                      </a:pPr>
                      <a:r>
                        <a:t>PaytmAI VyaparVoice</a:t>
                      </a:r>
                    </a:p>
                  </a:txBody>
                  <a:tcPr anchor="ctr">
                    <a:solidFill>
                      <a:srgbClr val="0284C7"/>
                    </a:solidFill>
                  </a:tcPr>
                </a:tc>
              </a:tr>
              <a:tr h="807720">
                <a:tc>
                  <a:txBody>
                    <a:bodyPr/>
                    <a:lstStyle/>
                    <a:p>
                      <a:pPr>
                        <a:defRPr sz="1120" b="1">
                          <a:solidFill>
                            <a:srgbClr val="0F172A"/>
                          </a:solidFill>
                          <a:latin typeface="Liberation Sans"/>
                        </a:defRPr>
                      </a:pPr>
                      <a:r>
                        <a:t>Merchant UX</a:t>
                      </a:r>
                    </a:p>
                  </a:txBody>
                  <a:tcPr anchor="ctr">
                    <a:solidFill>
                      <a:srgbClr val="FFFFFF"/>
                    </a:solidFill>
                  </a:tcPr>
                </a:tc>
                <a:tc>
                  <a:txBody>
                    <a:bodyPr/>
                    <a:lstStyle/>
                    <a:p>
                      <a:pPr>
                        <a:defRPr sz="1120" b="0">
                          <a:solidFill>
                            <a:srgbClr val="0F172A"/>
                          </a:solidFill>
                          <a:latin typeface="Liberation Sans"/>
                        </a:defRPr>
                      </a:pPr>
                      <a:r>
                        <a:t>Charts &amp; manual ledger entry</a:t>
                      </a:r>
                    </a:p>
                  </a:txBody>
                  <a:tcPr anchor="ctr">
                    <a:solidFill>
                      <a:srgbClr val="FFFFFF"/>
                    </a:solidFill>
                  </a:tcPr>
                </a:tc>
                <a:tc>
                  <a:txBody>
                    <a:bodyPr/>
                    <a:lstStyle/>
                    <a:p>
                      <a:pPr>
                        <a:defRPr sz="1120" b="0">
                          <a:solidFill>
                            <a:srgbClr val="0F172A"/>
                          </a:solidFill>
                          <a:latin typeface="Liberation Sans"/>
                        </a:defRPr>
                      </a:pPr>
                      <a:r>
                        <a:t>Requires typing business prompts</a:t>
                      </a:r>
                    </a:p>
                  </a:txBody>
                  <a:tcPr anchor="ctr">
                    <a:solidFill>
                      <a:srgbClr val="FFFFFF"/>
                    </a:solidFill>
                  </a:tcPr>
                </a:tc>
                <a:tc>
                  <a:txBody>
                    <a:bodyPr/>
                    <a:lstStyle/>
                    <a:p>
                      <a:pPr>
                        <a:defRPr sz="1120" b="1">
                          <a:solidFill>
                            <a:srgbClr val="0F172A"/>
                          </a:solidFill>
                          <a:latin typeface="Liberation Sans"/>
                        </a:defRPr>
                      </a:pPr>
                      <a:r>
                        <a:t>8:30 PM plain voice brief + 1-tap button</a:t>
                      </a:r>
                    </a:p>
                  </a:txBody>
                  <a:tcPr anchor="ctr">
                    <a:solidFill>
                      <a:srgbClr val="ECFDF5"/>
                    </a:solidFill>
                  </a:tcPr>
                </a:tc>
              </a:tr>
              <a:tr h="807720">
                <a:tc>
                  <a:txBody>
                    <a:bodyPr/>
                    <a:lstStyle/>
                    <a:p>
                      <a:pPr>
                        <a:defRPr sz="1120" b="1">
                          <a:solidFill>
                            <a:srgbClr val="0F172A"/>
                          </a:solidFill>
                          <a:latin typeface="Liberation Sans"/>
                        </a:defRPr>
                      </a:pPr>
                      <a:r>
                        <a:t>Customer Graph</a:t>
                      </a:r>
                    </a:p>
                  </a:txBody>
                  <a:tcPr anchor="ctr">
                    <a:solidFill>
                      <a:srgbClr val="F1F5F9"/>
                    </a:solidFill>
                  </a:tcPr>
                </a:tc>
                <a:tc>
                  <a:txBody>
                    <a:bodyPr/>
                    <a:lstStyle/>
                    <a:p>
                      <a:pPr>
                        <a:defRPr sz="1120" b="0">
                          <a:solidFill>
                            <a:srgbClr val="0F172A"/>
                          </a:solidFill>
                          <a:latin typeface="Liberation Sans"/>
                        </a:defRPr>
                      </a:pPr>
                      <a:r>
                        <a:t>Incomplete manual phonebooks</a:t>
                      </a:r>
                    </a:p>
                  </a:txBody>
                  <a:tcPr anchor="ctr">
                    <a:solidFill>
                      <a:srgbClr val="F1F5F9"/>
                    </a:solidFill>
                  </a:tcPr>
                </a:tc>
                <a:tc>
                  <a:txBody>
                    <a:bodyPr/>
                    <a:lstStyle/>
                    <a:p>
                      <a:pPr>
                        <a:defRPr sz="1120" b="0">
                          <a:solidFill>
                            <a:srgbClr val="0F172A"/>
                          </a:solidFill>
                          <a:latin typeface="Liberation Sans"/>
                        </a:defRPr>
                      </a:pPr>
                      <a:r>
                        <a:t>No link to payment history</a:t>
                      </a:r>
                    </a:p>
                  </a:txBody>
                  <a:tcPr anchor="ctr">
                    <a:solidFill>
                      <a:srgbClr val="F1F5F9"/>
                    </a:solidFill>
                  </a:tcPr>
                </a:tc>
                <a:tc>
                  <a:txBody>
                    <a:bodyPr/>
                    <a:lstStyle/>
                    <a:p>
                      <a:pPr>
                        <a:defRPr sz="1120" b="1">
                          <a:solidFill>
                            <a:srgbClr val="0F172A"/>
                          </a:solidFill>
                          <a:latin typeface="Liberation Sans"/>
                        </a:defRPr>
                      </a:pPr>
                      <a:r>
                        <a:t>Paytm QR repeat-payer IDs (synthetic in MVP)</a:t>
                      </a:r>
                    </a:p>
                  </a:txBody>
                  <a:tcPr anchor="ctr">
                    <a:solidFill>
                      <a:srgbClr val="ECFDF5"/>
                    </a:solidFill>
                  </a:tcPr>
                </a:tc>
              </a:tr>
              <a:tr h="807720">
                <a:tc>
                  <a:txBody>
                    <a:bodyPr/>
                    <a:lstStyle/>
                    <a:p>
                      <a:pPr>
                        <a:defRPr sz="1120" b="1">
                          <a:solidFill>
                            <a:srgbClr val="0F172A"/>
                          </a:solidFill>
                          <a:latin typeface="Liberation Sans"/>
                        </a:defRPr>
                      </a:pPr>
                      <a:r>
                        <a:t>Financial Safety</a:t>
                      </a:r>
                    </a:p>
                  </a:txBody>
                  <a:tcPr anchor="ctr">
                    <a:solidFill>
                      <a:srgbClr val="FFFFFF"/>
                    </a:solidFill>
                  </a:tcPr>
                </a:tc>
                <a:tc>
                  <a:txBody>
                    <a:bodyPr/>
                    <a:lstStyle/>
                    <a:p>
                      <a:pPr>
                        <a:defRPr sz="1120" b="0">
                          <a:solidFill>
                            <a:srgbClr val="0F172A"/>
                          </a:solidFill>
                          <a:latin typeface="Liberation Sans"/>
                        </a:defRPr>
                      </a:pPr>
                      <a:r>
                        <a:t>Manual coupon rules</a:t>
                      </a:r>
                    </a:p>
                  </a:txBody>
                  <a:tcPr anchor="ctr">
                    <a:solidFill>
                      <a:srgbClr val="FFFFFF"/>
                    </a:solidFill>
                  </a:tcPr>
                </a:tc>
                <a:tc>
                  <a:txBody>
                    <a:bodyPr/>
                    <a:lstStyle/>
                    <a:p>
                      <a:pPr>
                        <a:defRPr sz="1120" b="0">
                          <a:solidFill>
                            <a:srgbClr val="0F172A"/>
                          </a:solidFill>
                          <a:latin typeface="Liberation Sans"/>
                        </a:defRPr>
                      </a:pPr>
                      <a:r>
                        <a:t>LLM can invent unsafe offers</a:t>
                      </a:r>
                    </a:p>
                  </a:txBody>
                  <a:tcPr anchor="ctr">
                    <a:solidFill>
                      <a:srgbClr val="FFFFFF"/>
                    </a:solidFill>
                  </a:tcPr>
                </a:tc>
                <a:tc>
                  <a:txBody>
                    <a:bodyPr/>
                    <a:lstStyle/>
                    <a:p>
                      <a:pPr>
                        <a:defRPr sz="1120" b="1">
                          <a:solidFill>
                            <a:srgbClr val="0F172A"/>
                          </a:solidFill>
                          <a:latin typeface="Liberation Sans"/>
                        </a:defRPr>
                      </a:pPr>
                      <a:r>
                        <a:t>Deterministic floor, atomic spend stop &amp; &gt;10% alert</a:t>
                      </a:r>
                    </a:p>
                  </a:txBody>
                  <a:tcPr anchor="ctr">
                    <a:solidFill>
                      <a:srgbClr val="ECFDF5"/>
                    </a:solidFill>
                  </a:tcPr>
                </a:tc>
              </a:tr>
              <a:tr h="807720">
                <a:tc>
                  <a:txBody>
                    <a:bodyPr/>
                    <a:lstStyle/>
                    <a:p>
                      <a:pPr>
                        <a:defRPr sz="1120" b="1">
                          <a:solidFill>
                            <a:srgbClr val="0F172A"/>
                          </a:solidFill>
                          <a:latin typeface="Liberation Sans"/>
                        </a:defRPr>
                      </a:pPr>
                      <a:r>
                        <a:t>Privacy (DPDP)</a:t>
                      </a:r>
                    </a:p>
                  </a:txBody>
                  <a:tcPr anchor="ctr">
                    <a:solidFill>
                      <a:srgbClr val="F1F5F9"/>
                    </a:solidFill>
                  </a:tcPr>
                </a:tc>
                <a:tc>
                  <a:txBody>
                    <a:bodyPr/>
                    <a:lstStyle/>
                    <a:p>
                      <a:pPr>
                        <a:defRPr sz="1120" b="0">
                          <a:solidFill>
                            <a:srgbClr val="0F172A"/>
                          </a:solidFill>
                          <a:latin typeface="Liberation Sans"/>
                        </a:defRPr>
                      </a:pPr>
                      <a:r>
                        <a:t>Raw phone lists exposed</a:t>
                      </a:r>
                    </a:p>
                  </a:txBody>
                  <a:tcPr anchor="ctr">
                    <a:solidFill>
                      <a:srgbClr val="F1F5F9"/>
                    </a:solidFill>
                  </a:tcPr>
                </a:tc>
                <a:tc>
                  <a:txBody>
                    <a:bodyPr/>
                    <a:lstStyle/>
                    <a:p>
                      <a:pPr>
                        <a:defRPr sz="1120" b="0">
                          <a:solidFill>
                            <a:srgbClr val="0F172A"/>
                          </a:solidFill>
                          <a:latin typeface="Liberation Sans"/>
                        </a:defRPr>
                      </a:pPr>
                      <a:r>
                        <a:t>Prompt data leakage risk</a:t>
                      </a:r>
                    </a:p>
                  </a:txBody>
                  <a:tcPr anchor="ctr">
                    <a:solidFill>
                      <a:srgbClr val="F1F5F9"/>
                    </a:solidFill>
                  </a:tcPr>
                </a:tc>
                <a:tc>
                  <a:txBody>
                    <a:bodyPr/>
                    <a:lstStyle/>
                    <a:p>
                      <a:pPr>
                        <a:defRPr sz="1120" b="1">
                          <a:solidFill>
                            <a:srgbClr val="0F172A"/>
                          </a:solidFill>
                          <a:latin typeface="Liberation Sans"/>
                        </a:defRPr>
                      </a:pPr>
                      <a:r>
                        <a:t>SQL opt-in filter; zero PII sent to voice/LLM</a:t>
                      </a:r>
                    </a:p>
                  </a:txBody>
                  <a:tcPr anchor="ctr">
                    <a:solidFill>
                      <a:srgbClr val="ECFDF5"/>
                    </a:solidFill>
                  </a:tcPr>
                </a:tc>
              </a:tr>
              <a:tr h="807720">
                <a:tc>
                  <a:txBody>
                    <a:bodyPr/>
                    <a:lstStyle/>
                    <a:p>
                      <a:pPr>
                        <a:defRPr sz="1120" b="1">
                          <a:solidFill>
                            <a:srgbClr val="0F172A"/>
                          </a:solidFill>
                          <a:latin typeface="Liberation Sans"/>
                        </a:defRPr>
                      </a:pPr>
                      <a:r>
                        <a:t>Causal Proof</a:t>
                      </a:r>
                    </a:p>
                  </a:txBody>
                  <a:tcPr anchor="ctr">
                    <a:solidFill>
                      <a:srgbClr val="FFFFFF"/>
                    </a:solidFill>
                  </a:tcPr>
                </a:tc>
                <a:tc>
                  <a:txBody>
                    <a:bodyPr/>
                    <a:lstStyle/>
                    <a:p>
                      <a:pPr>
                        <a:defRPr sz="1120" b="0">
                          <a:solidFill>
                            <a:srgbClr val="0F172A"/>
                          </a:solidFill>
                          <a:latin typeface="Liberation Sans"/>
                        </a:defRPr>
                      </a:pPr>
                      <a:r>
                        <a:t>Vanity message counts</a:t>
                      </a:r>
                    </a:p>
                  </a:txBody>
                  <a:tcPr anchor="ctr">
                    <a:solidFill>
                      <a:srgbClr val="FFFFFF"/>
                    </a:solidFill>
                  </a:tcPr>
                </a:tc>
                <a:tc>
                  <a:txBody>
                    <a:bodyPr/>
                    <a:lstStyle/>
                    <a:p>
                      <a:pPr>
                        <a:defRPr sz="1120" b="0">
                          <a:solidFill>
                            <a:srgbClr val="0F172A"/>
                          </a:solidFill>
                          <a:latin typeface="Liberation Sans"/>
                        </a:defRPr>
                      </a:pPr>
                      <a:r>
                        <a:t>No comparison group</a:t>
                      </a:r>
                    </a:p>
                  </a:txBody>
                  <a:tcPr anchor="ctr">
                    <a:solidFill>
                      <a:srgbClr val="FFFFFF"/>
                    </a:solidFill>
                  </a:tcPr>
                </a:tc>
                <a:tc>
                  <a:txBody>
                    <a:bodyPr/>
                    <a:lstStyle/>
                    <a:p>
                      <a:pPr>
                        <a:defRPr sz="1120" b="1">
                          <a:solidFill>
                            <a:srgbClr val="0F172A"/>
                          </a:solidFill>
                          <a:latin typeface="Liberation Sans"/>
                        </a:defRPr>
                      </a:pPr>
                      <a:r>
                        <a:t>80/20 ITT holdout + 50-shop stratified pilot</a:t>
                      </a:r>
                    </a:p>
                  </a:txBody>
                  <a:tcPr anchor="ctr">
                    <a:solidFill>
                      <a:srgbClr val="ECFDF5"/>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584448"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493008"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A7 : POOLED POWER &amp; TARGETS</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50-Shop Stratified Power (400C + 1,600T) &amp; Pilot Targets</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(Deck v2.1)</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A7 (Slide 12 / 16)</a:t>
            </a:r>
          </a:p>
        </p:txBody>
      </p:sp>
      <p:sp>
        <p:nvSpPr>
          <p:cNvPr id="10" name="Rounded Rectangle 9"/>
          <p:cNvSpPr/>
          <p:nvPr/>
        </p:nvSpPr>
        <p:spPr>
          <a:xfrm>
            <a:off x="502920" y="1298448"/>
            <a:ext cx="5943600" cy="2487168"/>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389888"/>
            <a:ext cx="5577840" cy="256032"/>
          </a:xfrm>
          <a:prstGeom prst="rect">
            <a:avLst/>
          </a:prstGeom>
          <a:noFill/>
        </p:spPr>
        <p:txBody>
          <a:bodyPr wrap="square" lIns="36576" rIns="36576" tIns="18288" bIns="18288">
            <a:spAutoFit/>
          </a:bodyPr>
          <a:lstStyle/>
          <a:p>
            <a:pPr algn="l">
              <a:spcAft>
                <a:spcPts val="300"/>
              </a:spcAft>
            </a:pPr>
            <a:r>
              <a:rPr sz="1150" b="1" i="0">
                <a:solidFill>
                  <a:srgbClr val="002970"/>
                </a:solidFill>
                <a:latin typeface="Liberation Sans"/>
              </a:rPr>
              <a:t>POOLED 50-SHOP X 1-WAVE POWER (12.5% BASELINE, ALPHA=0.05)</a:t>
            </a:r>
          </a:p>
        </p:txBody>
      </p:sp>
      <p:sp>
        <p:nvSpPr>
          <p:cNvPr id="12" name="TextBox 11"/>
          <p:cNvSpPr txBox="1"/>
          <p:nvPr/>
        </p:nvSpPr>
        <p:spPr>
          <a:xfrm>
            <a:off x="658368" y="1682496"/>
            <a:ext cx="5623560" cy="2029968"/>
          </a:xfrm>
          <a:prstGeom prst="rect">
            <a:avLst/>
          </a:prstGeom>
          <a:noFill/>
        </p:spPr>
        <p:txBody>
          <a:bodyPr wrap="square" lIns="54864" rIns="54864" tIns="36576" bIns="36576">
            <a:spAutoFit/>
          </a:bodyPr>
          <a:lstStyle/>
          <a:p>
            <a:pPr marL="210000" indent="-210000">
              <a:spcAft>
                <a:spcPts val="500"/>
              </a:spcAft>
              <a:buChar char="•"/>
            </a:pPr>
            <a:r>
              <a:rPr sz="1100" b="1">
                <a:solidFill>
                  <a:srgbClr val="002970"/>
                </a:solidFill>
                <a:latin typeface="Liberation Sans"/>
              </a:rPr>
              <a:t>Why Pool Stores: </a:t>
            </a:r>
            <a:r>
              <a:rPr sz="1100" b="0">
                <a:solidFill>
                  <a:srgbClr val="0F172A"/>
                </a:solidFill>
                <a:latin typeface="Liberation Sans"/>
              </a:rPr>
              <a:t>50 shops x 1 wave (~400C + ~1,600T, stratified by shop); avoids claiming 1 shop runs 4 waves in 4w under a 14d cooldown (~0.78 waves/mo).</a:t>
            </a:r>
          </a:p>
          <a:p>
            <a:pPr marL="210000" indent="-210000">
              <a:spcAft>
                <a:spcPts val="500"/>
              </a:spcAft>
              <a:buChar char="•"/>
            </a:pPr>
            <a:r>
              <a:rPr sz="1100" b="1">
                <a:solidFill>
                  <a:srgbClr val="002970"/>
                </a:solidFill>
                <a:latin typeface="Liberation Sans"/>
              </a:rPr>
              <a:t>Exact Power Curve: </a:t>
            </a:r>
            <a:r>
              <a:rPr sz="1100" b="0">
                <a:solidFill>
                  <a:srgbClr val="0F172A"/>
                </a:solidFill>
                <a:latin typeface="Liberation Sans"/>
              </a:rPr>
              <a:t>+4 pp: 50.3% | +5 pp: 68.8% | +6 pp: 83.3% | +7 pp: 92.5% | +8 pp: 97.2% | +10 pp: 99.8%.</a:t>
            </a:r>
          </a:p>
          <a:p>
            <a:pPr marL="210000" indent="-210000">
              <a:spcAft>
                <a:spcPts val="500"/>
              </a:spcAft>
              <a:buChar char="•"/>
            </a:pPr>
            <a:r>
              <a:rPr sz="1100" b="1">
                <a:solidFill>
                  <a:srgbClr val="002970"/>
                </a:solidFill>
                <a:latin typeface="Liberation Sans"/>
              </a:rPr>
              <a:t>Break-Even Lift: </a:t>
            </a:r>
            <a:r>
              <a:rPr sz="1100" b="0">
                <a:solidFill>
                  <a:srgbClr val="0F172A"/>
                </a:solidFill>
                <a:latin typeface="Liberation Sans"/>
              </a:rPr>
              <a:t>+7.8 pp pre-fee (20.3%) and +15.3 pp post-5%-fee (27.8% at 30% shop margin; &gt;99.9% power).</a:t>
            </a:r>
          </a:p>
        </p:txBody>
      </p:sp>
      <p:sp>
        <p:nvSpPr>
          <p:cNvPr id="13" name="Rounded Rectangle 12"/>
          <p:cNvSpPr/>
          <p:nvPr/>
        </p:nvSpPr>
        <p:spPr>
          <a:xfrm>
            <a:off x="502920" y="3913632"/>
            <a:ext cx="5943600" cy="2350008"/>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005072"/>
            <a:ext cx="5577840" cy="256032"/>
          </a:xfrm>
          <a:prstGeom prst="rect">
            <a:avLst/>
          </a:prstGeom>
          <a:noFill/>
        </p:spPr>
        <p:txBody>
          <a:bodyPr wrap="square" lIns="36576" rIns="36576" tIns="18288" bIns="18288">
            <a:spAutoFit/>
          </a:bodyPr>
          <a:lstStyle/>
          <a:p>
            <a:pPr algn="l">
              <a:spcAft>
                <a:spcPts val="300"/>
              </a:spcAft>
            </a:pPr>
            <a:r>
              <a:rPr sz="1150" b="1" i="0">
                <a:solidFill>
                  <a:srgbClr val="059669"/>
                </a:solidFill>
                <a:latin typeface="Liberation Sans"/>
              </a:rPr>
              <a:t>ECOSYSTEM HYPOTHESES (UNVALIDATED PILOT TARGETS)</a:t>
            </a:r>
          </a:p>
        </p:txBody>
      </p:sp>
      <p:sp>
        <p:nvSpPr>
          <p:cNvPr id="15" name="TextBox 14"/>
          <p:cNvSpPr txBox="1"/>
          <p:nvPr/>
        </p:nvSpPr>
        <p:spPr>
          <a:xfrm>
            <a:off x="658368" y="4297680"/>
            <a:ext cx="5623560" cy="1874519"/>
          </a:xfrm>
          <a:prstGeom prst="rect">
            <a:avLst/>
          </a:prstGeom>
          <a:noFill/>
        </p:spPr>
        <p:txBody>
          <a:bodyPr wrap="square" lIns="54864" rIns="54864" tIns="36576" bIns="36576">
            <a:spAutoFit/>
          </a:bodyPr>
          <a:lstStyle/>
          <a:p>
            <a:pPr marL="210000" indent="-210000">
              <a:spcAft>
                <a:spcPts val="500"/>
              </a:spcAft>
              <a:buChar char="•"/>
            </a:pPr>
            <a:r>
              <a:rPr sz="1100" b="1">
                <a:solidFill>
                  <a:srgbClr val="002970"/>
                </a:solidFill>
                <a:latin typeface="Liberation Sans"/>
              </a:rPr>
              <a:t>Repeat &amp; Waste Targets: </a:t>
            </a:r>
            <a:r>
              <a:rPr sz="1100" b="0">
                <a:solidFill>
                  <a:srgbClr val="0F172A"/>
                </a:solidFill>
                <a:latin typeface="Liberation Sans"/>
              </a:rPr>
              <a:t>+14% to +22% repeat visits; -18% afternoon perishable loss (PILOT TARGETS).</a:t>
            </a:r>
          </a:p>
          <a:p>
            <a:pPr marL="210000" indent="-210000">
              <a:spcAft>
                <a:spcPts val="500"/>
              </a:spcAft>
              <a:buChar char="•"/>
            </a:pPr>
            <a:r>
              <a:rPr sz="1100" b="1">
                <a:solidFill>
                  <a:srgbClr val="002970"/>
                </a:solidFill>
                <a:latin typeface="Liberation Sans"/>
              </a:rPr>
              <a:t>Device &amp; QR Share: </a:t>
            </a:r>
            <a:r>
              <a:rPr sz="1100" b="0">
                <a:solidFill>
                  <a:srgbClr val="0F172A"/>
                </a:solidFill>
                <a:latin typeface="Liberation Sans"/>
              </a:rPr>
              <a:t>-35% Soundbox churn; +12% to +15% store Paytm QR GMV lift (PILOT TARGETS).</a:t>
            </a:r>
          </a:p>
          <a:p>
            <a:pPr marL="210000" indent="-210000">
              <a:spcAft>
                <a:spcPts val="500"/>
              </a:spcAft>
              <a:buChar char="•"/>
            </a:pPr>
            <a:r>
              <a:rPr sz="1100" b="1">
                <a:solidFill>
                  <a:srgbClr val="002970"/>
                </a:solidFill>
                <a:latin typeface="Liberation Sans"/>
              </a:rPr>
              <a:t>Credit Funnel: </a:t>
            </a:r>
            <a:r>
              <a:rPr sz="1100" b="0">
                <a:solidFill>
                  <a:srgbClr val="0F172A"/>
                </a:solidFill>
                <a:latin typeface="Liberation Sans"/>
              </a:rPr>
              <a:t>Expand ~7% merchant loan pen. (ASSUMPTION) toward 15% (LONG-TERM TARGET).</a:t>
            </a:r>
          </a:p>
        </p:txBody>
      </p:sp>
      <p:sp>
        <p:nvSpPr>
          <p:cNvPr id="16" name="Rounded Rectangle 15"/>
          <p:cNvSpPr/>
          <p:nvPr/>
        </p:nvSpPr>
        <p:spPr>
          <a:xfrm>
            <a:off x="6629400" y="1298448"/>
            <a:ext cx="5056632" cy="324612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5_pooled_power.png"/>
          <p:cNvPicPr>
            <a:picLocks noChangeAspect="1"/>
          </p:cNvPicPr>
          <p:nvPr/>
        </p:nvPicPr>
        <p:blipFill>
          <a:blip r:embed="rId2"/>
          <a:stretch>
            <a:fillRect/>
          </a:stretch>
        </p:blipFill>
        <p:spPr>
          <a:xfrm>
            <a:off x="6876288" y="1353312"/>
            <a:ext cx="4553712" cy="3050987"/>
          </a:xfrm>
          <a:prstGeom prst="rect">
            <a:avLst/>
          </a:prstGeom>
        </p:spPr>
      </p:pic>
      <p:sp>
        <p:nvSpPr>
          <p:cNvPr id="18" name="Rounded Rectangle 17"/>
          <p:cNvSpPr/>
          <p:nvPr/>
        </p:nvSpPr>
        <p:spPr>
          <a:xfrm>
            <a:off x="6629400" y="4700016"/>
            <a:ext cx="1609344" cy="1554480"/>
          </a:xfrm>
          <a:prstGeom prst="roundRect">
            <a:avLst>
              <a:gd name="adj" fmla="val 3000"/>
            </a:avLst>
          </a:prstGeom>
          <a:solidFill>
            <a:srgbClr val="FFFFFF"/>
          </a:solidFill>
          <a:ln w="1651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84264" y="4846320"/>
            <a:ext cx="1499616" cy="420624"/>
          </a:xfrm>
          <a:prstGeom prst="rect">
            <a:avLst/>
          </a:prstGeom>
          <a:noFill/>
        </p:spPr>
        <p:txBody>
          <a:bodyPr wrap="square" lIns="36576" rIns="36576" tIns="18288" bIns="18288">
            <a:spAutoFit/>
          </a:bodyPr>
          <a:lstStyle/>
          <a:p>
            <a:pPr algn="ctr">
              <a:spcAft>
                <a:spcPts val="300"/>
              </a:spcAft>
            </a:pPr>
            <a:r>
              <a:rPr sz="1750" b="1" i="0">
                <a:solidFill>
                  <a:srgbClr val="059669"/>
                </a:solidFill>
                <a:latin typeface="Liberation Sans"/>
              </a:rPr>
              <a:t>83.3%</a:t>
            </a:r>
          </a:p>
        </p:txBody>
      </p:sp>
      <p:sp>
        <p:nvSpPr>
          <p:cNvPr id="20" name="TextBox 19"/>
          <p:cNvSpPr txBox="1"/>
          <p:nvPr/>
        </p:nvSpPr>
        <p:spPr>
          <a:xfrm>
            <a:off x="6684264" y="5340096"/>
            <a:ext cx="1499616" cy="786384"/>
          </a:xfrm>
          <a:prstGeom prst="rect">
            <a:avLst/>
          </a:prstGeom>
          <a:noFill/>
        </p:spPr>
        <p:txBody>
          <a:bodyPr wrap="square" lIns="36576" rIns="36576" tIns="18288" bIns="18288">
            <a:spAutoFit/>
          </a:bodyPr>
          <a:lstStyle/>
          <a:p>
            <a:pPr algn="ctr">
              <a:spcAft>
                <a:spcPts val="300"/>
              </a:spcAft>
            </a:pPr>
            <a:r>
              <a:rPr sz="960" b="1" i="0">
                <a:solidFill>
                  <a:srgbClr val="334155"/>
                </a:solidFill>
                <a:latin typeface="Liberation Sans"/>
              </a:rPr>
              <a:t>Power at +6 pp Lift</a:t>
            </a:r>
          </a:p>
          <a:p>
            <a:pPr algn="ctr">
              <a:spcAft>
                <a:spcPts val="300"/>
              </a:spcAft>
            </a:pPr>
            <a:r>
              <a:rPr sz="960" b="1" i="0">
                <a:solidFill>
                  <a:srgbClr val="334155"/>
                </a:solidFill>
                <a:latin typeface="Liberation Sans"/>
              </a:rPr>
              <a:t>(400C + 1,600T)</a:t>
            </a:r>
          </a:p>
        </p:txBody>
      </p:sp>
      <p:sp>
        <p:nvSpPr>
          <p:cNvPr id="21" name="Rounded Rectangle 20"/>
          <p:cNvSpPr/>
          <p:nvPr/>
        </p:nvSpPr>
        <p:spPr>
          <a:xfrm>
            <a:off x="8348471" y="4700016"/>
            <a:ext cx="1609344" cy="1554480"/>
          </a:xfrm>
          <a:prstGeom prst="roundRect">
            <a:avLst>
              <a:gd name="adj" fmla="val 3000"/>
            </a:avLst>
          </a:prstGeom>
          <a:solidFill>
            <a:srgbClr val="FFFFFF"/>
          </a:solidFill>
          <a:ln w="1651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03336" y="4846320"/>
            <a:ext cx="1499616" cy="420624"/>
          </a:xfrm>
          <a:prstGeom prst="rect">
            <a:avLst/>
          </a:prstGeom>
          <a:noFill/>
        </p:spPr>
        <p:txBody>
          <a:bodyPr wrap="square" lIns="36576" rIns="36576" tIns="18288" bIns="18288">
            <a:spAutoFit/>
          </a:bodyPr>
          <a:lstStyle/>
          <a:p>
            <a:pPr algn="ctr">
              <a:spcAft>
                <a:spcPts val="300"/>
              </a:spcAft>
            </a:pPr>
            <a:r>
              <a:rPr sz="1750" b="1" i="0">
                <a:solidFill>
                  <a:srgbClr val="B45309"/>
                </a:solidFill>
                <a:latin typeface="Liberation Sans"/>
              </a:rPr>
              <a:t>+15.3 pp</a:t>
            </a:r>
          </a:p>
        </p:txBody>
      </p:sp>
      <p:sp>
        <p:nvSpPr>
          <p:cNvPr id="23" name="TextBox 22"/>
          <p:cNvSpPr txBox="1"/>
          <p:nvPr/>
        </p:nvSpPr>
        <p:spPr>
          <a:xfrm>
            <a:off x="8403336" y="5340096"/>
            <a:ext cx="1499616" cy="786384"/>
          </a:xfrm>
          <a:prstGeom prst="rect">
            <a:avLst/>
          </a:prstGeom>
          <a:noFill/>
        </p:spPr>
        <p:txBody>
          <a:bodyPr wrap="square" lIns="36576" rIns="36576" tIns="18288" bIns="18288">
            <a:spAutoFit/>
          </a:bodyPr>
          <a:lstStyle/>
          <a:p>
            <a:pPr algn="ctr">
              <a:spcAft>
                <a:spcPts val="300"/>
              </a:spcAft>
            </a:pPr>
            <a:r>
              <a:rPr sz="960" b="1" i="0">
                <a:solidFill>
                  <a:srgbClr val="334155"/>
                </a:solidFill>
                <a:latin typeface="Liberation Sans"/>
              </a:rPr>
              <a:t>Post-Fee Break-Even</a:t>
            </a:r>
          </a:p>
          <a:p>
            <a:pPr algn="ctr">
              <a:spcAft>
                <a:spcPts val="300"/>
              </a:spcAft>
            </a:pPr>
            <a:r>
              <a:rPr sz="960" b="1" i="0">
                <a:solidFill>
                  <a:srgbClr val="334155"/>
                </a:solidFill>
                <a:latin typeface="Liberation Sans"/>
              </a:rPr>
              <a:t>(+7.8 pp Pre-Fee)</a:t>
            </a:r>
          </a:p>
        </p:txBody>
      </p:sp>
      <p:sp>
        <p:nvSpPr>
          <p:cNvPr id="24" name="Rounded Rectangle 23"/>
          <p:cNvSpPr/>
          <p:nvPr/>
        </p:nvSpPr>
        <p:spPr>
          <a:xfrm>
            <a:off x="10067544" y="4700016"/>
            <a:ext cx="1609344" cy="1554480"/>
          </a:xfrm>
          <a:prstGeom prst="roundRect">
            <a:avLst>
              <a:gd name="adj" fmla="val 3000"/>
            </a:avLst>
          </a:prstGeom>
          <a:solidFill>
            <a:srgbClr val="FFFFFF"/>
          </a:solidFill>
          <a:ln w="1651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22408" y="4846320"/>
            <a:ext cx="1499616" cy="420624"/>
          </a:xfrm>
          <a:prstGeom prst="rect">
            <a:avLst/>
          </a:prstGeom>
          <a:noFill/>
        </p:spPr>
        <p:txBody>
          <a:bodyPr wrap="square" lIns="36576" rIns="36576" tIns="18288" bIns="18288">
            <a:spAutoFit/>
          </a:bodyPr>
          <a:lstStyle/>
          <a:p>
            <a:pPr algn="ctr">
              <a:spcAft>
                <a:spcPts val="300"/>
              </a:spcAft>
            </a:pPr>
            <a:r>
              <a:rPr sz="1750" b="1" i="0">
                <a:solidFill>
                  <a:srgbClr val="002970"/>
                </a:solidFill>
                <a:latin typeface="Liberation Sans"/>
              </a:rPr>
              <a:t>Rs 5.00</a:t>
            </a:r>
          </a:p>
        </p:txBody>
      </p:sp>
      <p:sp>
        <p:nvSpPr>
          <p:cNvPr id="26" name="TextBox 25"/>
          <p:cNvSpPr txBox="1"/>
          <p:nvPr/>
        </p:nvSpPr>
        <p:spPr>
          <a:xfrm>
            <a:off x="10122408" y="5340096"/>
            <a:ext cx="1499616" cy="786384"/>
          </a:xfrm>
          <a:prstGeom prst="rect">
            <a:avLst/>
          </a:prstGeom>
          <a:noFill/>
        </p:spPr>
        <p:txBody>
          <a:bodyPr wrap="square" lIns="36576" rIns="36576" tIns="18288" bIns="18288">
            <a:spAutoFit/>
          </a:bodyPr>
          <a:lstStyle/>
          <a:p>
            <a:pPr algn="ctr">
              <a:spcAft>
                <a:spcPts val="300"/>
              </a:spcAft>
            </a:pPr>
            <a:r>
              <a:rPr sz="960" b="1" i="0">
                <a:solidFill>
                  <a:srgbClr val="334155"/>
                </a:solidFill>
                <a:latin typeface="Liberation Sans"/>
              </a:rPr>
              <a:t>Cached AI Cost/Mo</a:t>
            </a:r>
          </a:p>
          <a:p>
            <a:pPr algn="ctr">
              <a:spcAft>
                <a:spcPts val="300"/>
              </a:spcAft>
            </a:pPr>
            <a:r>
              <a:rPr sz="960" b="1" i="0">
                <a:solidFill>
                  <a:srgbClr val="334155"/>
                </a:solidFill>
                <a:latin typeface="Liberation Sans"/>
              </a:rPr>
              <a:t>(Rs 28.80 Uncached)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845052"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753612"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A8 : UNIT ECONOMICS &amp; FEE MATH</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Q2 FY27 ARR Cases, Fee Reconciliation &amp; TTS Cache Sensitivity</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(Deck v2.1)</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A8 (Slide 13 / 16)</a:t>
            </a:r>
          </a:p>
        </p:txBody>
      </p:sp>
      <p:sp>
        <p:nvSpPr>
          <p:cNvPr id="10" name="Rounded Rectangle 9"/>
          <p:cNvSpPr/>
          <p:nvPr/>
        </p:nvSpPr>
        <p:spPr>
          <a:xfrm>
            <a:off x="502920" y="1298448"/>
            <a:ext cx="5943600" cy="4956048"/>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408176"/>
            <a:ext cx="5614416" cy="4754880"/>
          </a:xfrm>
          <a:prstGeom prst="rect">
            <a:avLst/>
          </a:prstGeom>
          <a:noFill/>
        </p:spPr>
        <p:txBody>
          <a:bodyPr wrap="square" lIns="54864" rIns="54864" tIns="36576" bIns="36576">
            <a:spAutoFit/>
          </a:bodyPr>
          <a:lstStyle/>
          <a:p>
            <a:pPr marL="210000" indent="-210000">
              <a:spcAft>
                <a:spcPts val="900"/>
              </a:spcAft>
              <a:buChar char="•"/>
            </a:pPr>
            <a:r>
              <a:rPr sz="1120" b="1">
                <a:solidFill>
                  <a:srgbClr val="002970"/>
                </a:solidFill>
                <a:latin typeface="Liberation Sans"/>
              </a:rPr>
              <a:t>Stream 1 (SaaS - Rs 79/mo): </a:t>
            </a:r>
            <a:r>
              <a:rPr sz="1120" b="0">
                <a:solidFill>
                  <a:srgbClr val="0F172A"/>
                </a:solidFill>
                <a:latin typeface="Liberation Sans"/>
              </a:rPr>
              <a:t>Add-on to Soundbox (~Rs 90-100/mo rental ASSUMPTION) x 8.20L shops (5% of 1.64 Cr Q2 FY27 base) = Rs 77.7 Cr ARR.</a:t>
            </a:r>
          </a:p>
          <a:p>
            <a:pPr marL="210000" indent="-210000">
              <a:spcAft>
                <a:spcPts val="900"/>
              </a:spcAft>
              <a:buChar char="•"/>
            </a:pPr>
            <a:r>
              <a:rPr sz="1120" b="1">
                <a:solidFill>
                  <a:srgbClr val="002970"/>
                </a:solidFill>
                <a:latin typeface="Liberation Sans"/>
              </a:rPr>
              <a:t>Stream 2 (Promo Fee - Rs 102/mo): </a:t>
            </a:r>
            <a:r>
              <a:rPr sz="1120" b="0">
                <a:solidFill>
                  <a:srgbClr val="0F172A"/>
                </a:solidFill>
                <a:latin typeface="Liberation Sans"/>
              </a:rPr>
              <a:t>5% fee on ALL redeemed bills incl. organic returners: 1 wave = Rs 130.50 (Rs 2,610 bills); steady state assumes ~0.78 waves/mo (Rs 2,040/mo bills) = Rs 102/mo (+Rs 100.4 Cr -&gt; Rs 178.1 Cr ARR).</a:t>
            </a:r>
          </a:p>
          <a:p>
            <a:pPr marL="210000" indent="-210000">
              <a:spcAft>
                <a:spcPts val="900"/>
              </a:spcAft>
              <a:buChar char="•"/>
            </a:pPr>
            <a:r>
              <a:rPr sz="1120" b="1">
                <a:solidFill>
                  <a:srgbClr val="002970"/>
                </a:solidFill>
                <a:latin typeface="Liberation Sans"/>
              </a:rPr>
              <a:t>Stream 3 (Credit - Rs 77/mo): </a:t>
            </a:r>
            <a:r>
              <a:rPr sz="1120" b="0">
                <a:solidFill>
                  <a:srgbClr val="0F172A"/>
                </a:solidFill>
                <a:latin typeface="Liberation Sans"/>
              </a:rPr>
              <a:t>Amortized 1.5%-2.5% partner origination uplift (~7% loan pen. ASSUMPTION) -&gt; +Rs 75.8 Cr (Rs 253.9 Cr ARR).</a:t>
            </a:r>
          </a:p>
          <a:p>
            <a:pPr marL="210000" indent="-210000">
              <a:spcAft>
                <a:spcPts val="900"/>
              </a:spcAft>
              <a:buChar char="•"/>
            </a:pPr>
            <a:r>
              <a:rPr sz="1120" b="1">
                <a:solidFill>
                  <a:srgbClr val="002970"/>
                </a:solidFill>
                <a:latin typeface="Liberation Sans"/>
              </a:rPr>
              <a:t>Cached COGS (Rs 48.00/mo): </a:t>
            </a:r>
            <a:r>
              <a:rPr sz="1120" b="0">
                <a:solidFill>
                  <a:srgbClr val="0F172A"/>
                </a:solidFill>
                <a:latin typeface="Liberation Sans"/>
              </a:rPr>
              <a:t>Rs 1.80 SLM + Rs 3.20 TTS (~88% phrase cache hit on Bulbul v3) + Rs 43 msg = 81.4% gross margin.</a:t>
            </a:r>
          </a:p>
          <a:p>
            <a:pPr marL="210000" indent="-210000">
              <a:spcAft>
                <a:spcPts val="900"/>
              </a:spcAft>
              <a:buChar char="•"/>
            </a:pPr>
            <a:r>
              <a:rPr sz="1120" b="1">
                <a:solidFill>
                  <a:srgbClr val="002970"/>
                </a:solidFill>
                <a:latin typeface="Liberation Sans"/>
              </a:rPr>
              <a:t>Uncached COGS (Rs 71.80/mo): </a:t>
            </a:r>
            <a:r>
              <a:rPr sz="1120" b="0">
                <a:solidFill>
                  <a:srgbClr val="0F172A"/>
                </a:solidFill>
                <a:latin typeface="Liberation Sans"/>
              </a:rPr>
              <a:t>Uncached Bulbul v3 (9k chars at Rs 30/10k = Rs 27 TTS) = 72.2% margin (39.2% cached margin on SaaS-only).</a:t>
            </a:r>
          </a:p>
        </p:txBody>
      </p:sp>
      <p:sp>
        <p:nvSpPr>
          <p:cNvPr id="12" name="Rounded Rectangle 11"/>
          <p:cNvSpPr/>
          <p:nvPr/>
        </p:nvSpPr>
        <p:spPr>
          <a:xfrm>
            <a:off x="6629400" y="1298448"/>
            <a:ext cx="5056632" cy="329184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3_three_revenue_cases_q2.png"/>
          <p:cNvPicPr>
            <a:picLocks noChangeAspect="1"/>
          </p:cNvPicPr>
          <p:nvPr/>
        </p:nvPicPr>
        <p:blipFill>
          <a:blip r:embed="rId2"/>
          <a:stretch>
            <a:fillRect/>
          </a:stretch>
        </p:blipFill>
        <p:spPr>
          <a:xfrm>
            <a:off x="6876288" y="1353312"/>
            <a:ext cx="4553712" cy="3050987"/>
          </a:xfrm>
          <a:prstGeom prst="rect">
            <a:avLst/>
          </a:prstGeom>
        </p:spPr>
      </p:pic>
      <p:sp>
        <p:nvSpPr>
          <p:cNvPr id="14" name="Rounded Rectangle 13"/>
          <p:cNvSpPr/>
          <p:nvPr/>
        </p:nvSpPr>
        <p:spPr>
          <a:xfrm>
            <a:off x="6629400" y="4736592"/>
            <a:ext cx="5056632" cy="1517904"/>
          </a:xfrm>
          <a:prstGeom prst="roundRect">
            <a:avLst>
              <a:gd name="adj" fmla="val 3000"/>
            </a:avLst>
          </a:prstGeom>
          <a:solidFill>
            <a:srgbClr val="001B4D"/>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84848" y="4846320"/>
            <a:ext cx="4736592" cy="1298448"/>
          </a:xfrm>
          <a:prstGeom prst="rect">
            <a:avLst/>
          </a:prstGeom>
          <a:noFill/>
        </p:spPr>
        <p:txBody>
          <a:bodyPr wrap="square" lIns="36576" rIns="36576" tIns="18288" bIns="18288">
            <a:spAutoFit/>
          </a:bodyPr>
          <a:lstStyle/>
          <a:p>
            <a:pPr algn="l">
              <a:spcAft>
                <a:spcPts val="300"/>
              </a:spcAft>
            </a:pPr>
            <a:r>
              <a:rPr sz="1060" b="1" i="0">
                <a:solidFill>
                  <a:srgbClr val="FFFFFF"/>
                </a:solidFill>
                <a:latin typeface="Liberation Sans"/>
              </a:rPr>
              <a:t>FEE &amp; BASE RECONCILIATION</a:t>
            </a:r>
          </a:p>
          <a:p>
            <a:pPr algn="l">
              <a:spcAft>
                <a:spcPts val="300"/>
              </a:spcAft>
            </a:pPr>
            <a:r>
              <a:rPr sz="1060" b="1" i="0">
                <a:solidFill>
                  <a:srgbClr val="FFFFFF"/>
                </a:solidFill>
                <a:latin typeface="Liberation Sans"/>
              </a:rPr>
              <a:t>1. Fee Base: 5% applies to gross QR-redeemed promo bills including organic returners.</a:t>
            </a:r>
          </a:p>
          <a:p>
            <a:pPr algn="l">
              <a:spcAft>
                <a:spcPts val="300"/>
              </a:spcAft>
            </a:pPr>
            <a:r>
              <a:rPr sz="1060" b="1" i="0">
                <a:solidFill>
                  <a:srgbClr val="FFFFFF"/>
                </a:solidFill>
                <a:latin typeface="Liberation Sans"/>
              </a:rPr>
              <a:t>2. Cadence: Initial backlog wave yields Rs 130.50; steady replenishment (~0.78 waves/mo) yields Rs 102/mo.</a:t>
            </a:r>
          </a:p>
          <a:p>
            <a:pPr algn="l">
              <a:spcAft>
                <a:spcPts val="300"/>
              </a:spcAft>
            </a:pPr>
            <a:r>
              <a:rPr sz="1060" b="1" i="0">
                <a:solidFill>
                  <a:srgbClr val="FFFFFF"/>
                </a:solidFill>
                <a:latin typeface="Liberation Sans"/>
              </a:rPr>
              <a:t>3. Q2 FY27 Base: 5% x 1.64 Cr = 8.20L shops.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1B4D"/>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6858000" cy="292608"/>
          </a:xfrm>
          <a:prstGeom prst="rect">
            <a:avLst/>
          </a:prstGeom>
          <a:noFill/>
        </p:spPr>
        <p:txBody>
          <a:bodyPr wrap="square" lIns="36576" rIns="36576" tIns="18288" bIns="18288">
            <a:spAutoFit/>
          </a:bodyPr>
          <a:lstStyle/>
          <a:p>
            <a:pPr algn="l">
              <a:spcAft>
                <a:spcPts val="300"/>
              </a:spcAft>
            </a:pPr>
            <a:r>
              <a:rPr sz="1100" b="1" i="0">
                <a:solidFill>
                  <a:srgbClr val="00BAF2"/>
                </a:solidFill>
                <a:latin typeface="Liberation Sans"/>
              </a:rPr>
              <a:t>APPENDIX A9 : VALIDATION &amp; GO / NO-GO DECISION RULE</a:t>
            </a:r>
          </a:p>
        </p:txBody>
      </p:sp>
      <p:sp>
        <p:nvSpPr>
          <p:cNvPr id="4" name="TextBox 3"/>
          <p:cNvSpPr txBox="1"/>
          <p:nvPr/>
        </p:nvSpPr>
        <p:spPr>
          <a:xfrm>
            <a:off x="594360" y="777240"/>
            <a:ext cx="10972800" cy="457200"/>
          </a:xfrm>
          <a:prstGeom prst="rect">
            <a:avLst/>
          </a:prstGeom>
          <a:noFill/>
        </p:spPr>
        <p:txBody>
          <a:bodyPr wrap="square" lIns="36576" rIns="36576" tIns="18288" bIns="18288">
            <a:spAutoFit/>
          </a:bodyPr>
          <a:lstStyle/>
          <a:p>
            <a:pPr algn="l">
              <a:spcAft>
                <a:spcPts val="300"/>
              </a:spcAft>
            </a:pPr>
            <a:r>
              <a:rPr sz="2400" b="1" i="0">
                <a:solidFill>
                  <a:srgbClr val="FFFFFF"/>
                </a:solidFill>
                <a:latin typeface="Liberation Sans"/>
              </a:rPr>
              <a:t>From Verified Synthetic MVP to Pooled 50-Shop Stratified Pilot</a:t>
            </a:r>
          </a:p>
        </p:txBody>
      </p:sp>
      <p:sp>
        <p:nvSpPr>
          <p:cNvPr id="5" name="Rounded Rectangle 4"/>
          <p:cNvSpPr/>
          <p:nvPr/>
        </p:nvSpPr>
        <p:spPr>
          <a:xfrm>
            <a:off x="594360" y="1508760"/>
            <a:ext cx="3520440" cy="3547872"/>
          </a:xfrm>
          <a:prstGeom prst="roundRect">
            <a:avLst>
              <a:gd name="adj" fmla="val 3000"/>
            </a:avLst>
          </a:prstGeom>
          <a:solidFill>
            <a:srgbClr val="002970"/>
          </a:solidFill>
          <a:ln w="1524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645920"/>
            <a:ext cx="3200400" cy="274320"/>
          </a:xfrm>
          <a:prstGeom prst="rect">
            <a:avLst/>
          </a:prstGeom>
          <a:noFill/>
        </p:spPr>
        <p:txBody>
          <a:bodyPr wrap="square" lIns="36576" rIns="36576" tIns="18288" bIns="18288">
            <a:spAutoFit/>
          </a:bodyPr>
          <a:lstStyle/>
          <a:p>
            <a:pPr algn="l">
              <a:spcAft>
                <a:spcPts val="300"/>
              </a:spcAft>
            </a:pPr>
            <a:r>
              <a:rPr sz="1019" b="1" i="0">
                <a:solidFill>
                  <a:srgbClr val="00BAF2"/>
                </a:solidFill>
                <a:latin typeface="Liberation Sans"/>
              </a:rPr>
              <a:t>STAGE A : BUILT &amp; VERIFIED</a:t>
            </a:r>
          </a:p>
        </p:txBody>
      </p:sp>
      <p:sp>
        <p:nvSpPr>
          <p:cNvPr id="7" name="TextBox 6"/>
          <p:cNvSpPr txBox="1"/>
          <p:nvPr/>
        </p:nvSpPr>
        <p:spPr>
          <a:xfrm>
            <a:off x="758952" y="1956816"/>
            <a:ext cx="3200400" cy="329184"/>
          </a:xfrm>
          <a:prstGeom prst="rect">
            <a:avLst/>
          </a:prstGeom>
          <a:noFill/>
        </p:spPr>
        <p:txBody>
          <a:bodyPr wrap="square" lIns="36576" rIns="36576" tIns="18288" bIns="18288">
            <a:spAutoFit/>
          </a:bodyPr>
          <a:lstStyle/>
          <a:p>
            <a:pPr algn="l">
              <a:spcAft>
                <a:spcPts val="300"/>
              </a:spcAft>
            </a:pPr>
            <a:r>
              <a:rPr sz="1400" b="1" i="0">
                <a:solidFill>
                  <a:srgbClr val="FFFFFF"/>
                </a:solidFill>
                <a:latin typeface="Liberation Sans"/>
              </a:rPr>
              <a:t>Deterministic Core &amp; Safeguards</a:t>
            </a:r>
          </a:p>
        </p:txBody>
      </p:sp>
      <p:sp>
        <p:nvSpPr>
          <p:cNvPr id="8" name="TextBox 7"/>
          <p:cNvSpPr txBox="1"/>
          <p:nvPr/>
        </p:nvSpPr>
        <p:spPr>
          <a:xfrm>
            <a:off x="722376" y="2340864"/>
            <a:ext cx="3255264" cy="2578608"/>
          </a:xfrm>
          <a:prstGeom prst="rect">
            <a:avLst/>
          </a:prstGeom>
          <a:noFill/>
        </p:spPr>
        <p:txBody>
          <a:bodyPr wrap="square" lIns="54864" rIns="54864" tIns="36576" bIns="36576">
            <a:spAutoFit/>
          </a:bodyPr>
          <a:lstStyle/>
          <a:p>
            <a:pPr marL="210000" indent="-210000">
              <a:spcAft>
                <a:spcPts val="900"/>
              </a:spcAft>
              <a:buChar char="•"/>
            </a:pPr>
            <a:r>
              <a:rPr sz="1080">
                <a:solidFill>
                  <a:srgbClr val="E2E8F0"/>
                </a:solidFill>
                <a:latin typeface="Liberation Sans"/>
              </a:rPr>
              <a:t>FastAPI + TTL/LRU/byte-bounded SQLite sessions (204 KB/visitor)</a:t>
            </a:r>
          </a:p>
          <a:p>
            <a:pPr marL="210000" indent="-210000">
              <a:spcAft>
                <a:spcPts val="900"/>
              </a:spcAft>
              <a:buChar char="•"/>
            </a:pPr>
            <a:r>
              <a:rPr sz="1080">
                <a:solidFill>
                  <a:srgbClr val="E2E8F0"/>
                </a:solidFill>
                <a:latin typeface="Liberation Sans"/>
              </a:rPr>
              <a:t>ITT cap-vs-holdout, &gt;10% alert, 25-thread concurrency &amp; preflight</a:t>
            </a:r>
          </a:p>
          <a:p>
            <a:pPr marL="210000" indent="-210000">
              <a:spcAft>
                <a:spcPts val="900"/>
              </a:spcAft>
              <a:buChar char="•"/>
            </a:pPr>
            <a:r>
              <a:rPr sz="1080">
                <a:solidFill>
                  <a:srgbClr val="E2E8F0"/>
                </a:solidFill>
                <a:latin typeface="Liberation Sans"/>
              </a:rPr>
              <a:t>Keyless Sarvam mock selftest (30% cap) + banned-jargon lint</a:t>
            </a:r>
          </a:p>
        </p:txBody>
      </p:sp>
      <p:sp>
        <p:nvSpPr>
          <p:cNvPr id="9" name="Rounded Rectangle 8"/>
          <p:cNvSpPr/>
          <p:nvPr/>
        </p:nvSpPr>
        <p:spPr>
          <a:xfrm>
            <a:off x="4343400" y="1508760"/>
            <a:ext cx="3520440" cy="3547872"/>
          </a:xfrm>
          <a:prstGeom prst="roundRect">
            <a:avLst>
              <a:gd name="adj" fmla="val 3000"/>
            </a:avLst>
          </a:prstGeom>
          <a:solidFill>
            <a:srgbClr val="002970"/>
          </a:solidFill>
          <a:ln w="1524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1645920"/>
            <a:ext cx="3200400" cy="274320"/>
          </a:xfrm>
          <a:prstGeom prst="rect">
            <a:avLst/>
          </a:prstGeom>
          <a:noFill/>
        </p:spPr>
        <p:txBody>
          <a:bodyPr wrap="square" lIns="36576" rIns="36576" tIns="18288" bIns="18288">
            <a:spAutoFit/>
          </a:bodyPr>
          <a:lstStyle/>
          <a:p>
            <a:pPr algn="l">
              <a:spcAft>
                <a:spcPts val="300"/>
              </a:spcAft>
            </a:pPr>
            <a:r>
              <a:rPr sz="1019" b="1" i="0">
                <a:solidFill>
                  <a:srgbClr val="00BAF2"/>
                </a:solidFill>
                <a:latin typeface="Liberation Sans"/>
              </a:rPr>
              <a:t>STAGE B : POOLED 50-SHOP PILOT</a:t>
            </a:r>
          </a:p>
        </p:txBody>
      </p:sp>
      <p:sp>
        <p:nvSpPr>
          <p:cNvPr id="11" name="TextBox 10"/>
          <p:cNvSpPr txBox="1"/>
          <p:nvPr/>
        </p:nvSpPr>
        <p:spPr>
          <a:xfrm>
            <a:off x="4507992" y="1956816"/>
            <a:ext cx="3200400" cy="329184"/>
          </a:xfrm>
          <a:prstGeom prst="rect">
            <a:avLst/>
          </a:prstGeom>
          <a:noFill/>
        </p:spPr>
        <p:txBody>
          <a:bodyPr wrap="square" lIns="36576" rIns="36576" tIns="18288" bIns="18288">
            <a:spAutoFit/>
          </a:bodyPr>
          <a:lstStyle/>
          <a:p>
            <a:pPr algn="l">
              <a:spcAft>
                <a:spcPts val="300"/>
              </a:spcAft>
            </a:pPr>
            <a:r>
              <a:rPr sz="1400" b="1" i="0">
                <a:solidFill>
                  <a:srgbClr val="FFFFFF"/>
                </a:solidFill>
                <a:latin typeface="Liberation Sans"/>
              </a:rPr>
              <a:t>Stratified Single-Wave Validation</a:t>
            </a:r>
          </a:p>
        </p:txBody>
      </p:sp>
      <p:sp>
        <p:nvSpPr>
          <p:cNvPr id="12" name="TextBox 11"/>
          <p:cNvSpPr txBox="1"/>
          <p:nvPr/>
        </p:nvSpPr>
        <p:spPr>
          <a:xfrm>
            <a:off x="4471416" y="2340864"/>
            <a:ext cx="3255264" cy="2578608"/>
          </a:xfrm>
          <a:prstGeom prst="rect">
            <a:avLst/>
          </a:prstGeom>
          <a:noFill/>
        </p:spPr>
        <p:txBody>
          <a:bodyPr wrap="square" lIns="54864" rIns="54864" tIns="36576" bIns="36576">
            <a:spAutoFit/>
          </a:bodyPr>
          <a:lstStyle/>
          <a:p>
            <a:pPr marL="210000" indent="-210000">
              <a:spcAft>
                <a:spcPts val="900"/>
              </a:spcAft>
              <a:buChar char="•"/>
            </a:pPr>
            <a:r>
              <a:rPr sz="1080">
                <a:solidFill>
                  <a:srgbClr val="E2E8F0"/>
                </a:solidFill>
                <a:latin typeface="Liberation Sans"/>
              </a:rPr>
              <a:t>3-merchant counter teach-back across EN (author-checked), KN &amp; HI (draft)</a:t>
            </a:r>
          </a:p>
          <a:p>
            <a:pPr marL="210000" indent="-210000">
              <a:spcAft>
                <a:spcPts val="900"/>
              </a:spcAft>
              <a:buChar char="•"/>
            </a:pPr>
            <a:r>
              <a:rPr sz="1080">
                <a:solidFill>
                  <a:srgbClr val="E2E8F0"/>
                </a:solidFill>
                <a:latin typeface="Liberation Sans"/>
              </a:rPr>
              <a:t>50 shops x 1 wave (~400C + ~1,600T, stratified by shop; 83.3% power at +6 pp)</a:t>
            </a:r>
          </a:p>
          <a:p>
            <a:pPr marL="210000" indent="-210000">
              <a:spcAft>
                <a:spcPts val="900"/>
              </a:spcAft>
              <a:buChar char="•"/>
            </a:pPr>
            <a:r>
              <a:rPr sz="1080">
                <a:solidFill>
                  <a:srgbClr val="E2E8F0"/>
                </a:solidFill>
                <a:latin typeface="Liberation Sans"/>
              </a:rPr>
              <a:t>Advance only if lower 95% bound of post-5%-fee net profit/nudged &gt; 0 AND lift &gt; break-even (+15.3 pp)</a:t>
            </a:r>
          </a:p>
        </p:txBody>
      </p:sp>
      <p:sp>
        <p:nvSpPr>
          <p:cNvPr id="13" name="Rounded Rectangle 12"/>
          <p:cNvSpPr/>
          <p:nvPr/>
        </p:nvSpPr>
        <p:spPr>
          <a:xfrm>
            <a:off x="8092440" y="1508760"/>
            <a:ext cx="3520440" cy="3547872"/>
          </a:xfrm>
          <a:prstGeom prst="roundRect">
            <a:avLst>
              <a:gd name="adj" fmla="val 3000"/>
            </a:avLst>
          </a:prstGeom>
          <a:solidFill>
            <a:srgbClr val="002970"/>
          </a:solidFill>
          <a:ln w="1524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1645920"/>
            <a:ext cx="3200400" cy="274320"/>
          </a:xfrm>
          <a:prstGeom prst="rect">
            <a:avLst/>
          </a:prstGeom>
          <a:noFill/>
        </p:spPr>
        <p:txBody>
          <a:bodyPr wrap="square" lIns="36576" rIns="36576" tIns="18288" bIns="18288">
            <a:spAutoFit/>
          </a:bodyPr>
          <a:lstStyle/>
          <a:p>
            <a:pPr algn="l">
              <a:spcAft>
                <a:spcPts val="300"/>
              </a:spcAft>
            </a:pPr>
            <a:r>
              <a:rPr sz="1019" b="1" i="0">
                <a:solidFill>
                  <a:srgbClr val="00BAF2"/>
                </a:solidFill>
                <a:latin typeface="Liberation Sans"/>
              </a:rPr>
              <a:t>STAGE C : PRODUCTION SCALE</a:t>
            </a:r>
          </a:p>
        </p:txBody>
      </p:sp>
      <p:sp>
        <p:nvSpPr>
          <p:cNvPr id="15" name="TextBox 14"/>
          <p:cNvSpPr txBox="1"/>
          <p:nvPr/>
        </p:nvSpPr>
        <p:spPr>
          <a:xfrm>
            <a:off x="8257031" y="1956816"/>
            <a:ext cx="3200400" cy="329184"/>
          </a:xfrm>
          <a:prstGeom prst="rect">
            <a:avLst/>
          </a:prstGeom>
          <a:noFill/>
        </p:spPr>
        <p:txBody>
          <a:bodyPr wrap="square" lIns="36576" rIns="36576" tIns="18288" bIns="18288">
            <a:spAutoFit/>
          </a:bodyPr>
          <a:lstStyle/>
          <a:p>
            <a:pPr algn="l">
              <a:spcAft>
                <a:spcPts val="300"/>
              </a:spcAft>
            </a:pPr>
            <a:r>
              <a:rPr sz="1400" b="1" i="0">
                <a:solidFill>
                  <a:srgbClr val="FFFFFF"/>
                </a:solidFill>
                <a:latin typeface="Liberation Sans"/>
              </a:rPr>
              <a:t>Paytm Ecosystem Integration</a:t>
            </a:r>
          </a:p>
        </p:txBody>
      </p:sp>
      <p:sp>
        <p:nvSpPr>
          <p:cNvPr id="16" name="TextBox 15"/>
          <p:cNvSpPr txBox="1"/>
          <p:nvPr/>
        </p:nvSpPr>
        <p:spPr>
          <a:xfrm>
            <a:off x="8220456" y="2340864"/>
            <a:ext cx="3255264" cy="2578608"/>
          </a:xfrm>
          <a:prstGeom prst="rect">
            <a:avLst/>
          </a:prstGeom>
          <a:noFill/>
        </p:spPr>
        <p:txBody>
          <a:bodyPr wrap="square" lIns="54864" rIns="54864" tIns="36576" bIns="36576">
            <a:spAutoFit/>
          </a:bodyPr>
          <a:lstStyle/>
          <a:p>
            <a:pPr marL="210000" indent="-210000">
              <a:spcAft>
                <a:spcPts val="900"/>
              </a:spcAft>
              <a:buChar char="•"/>
            </a:pPr>
            <a:r>
              <a:rPr sz="1080">
                <a:solidFill>
                  <a:srgbClr val="E2E8F0"/>
                </a:solidFill>
                <a:latin typeface="Liberation Sans"/>
              </a:rPr>
              <a:t>Bind Paytm QR dynamic coupon settlement &amp; 4G Soundbox push</a:t>
            </a:r>
          </a:p>
          <a:p>
            <a:pPr marL="210000" indent="-210000">
              <a:spcAft>
                <a:spcPts val="900"/>
              </a:spcAft>
              <a:buChar char="•"/>
            </a:pPr>
            <a:r>
              <a:rPr sz="1080">
                <a:solidFill>
                  <a:srgbClr val="E2E8F0"/>
                </a:solidFill>
                <a:latin typeface="Liberation Sans"/>
              </a:rPr>
              <a:t>Enforce live 80%-cap merchant top-up prompt to protect counter goodwill</a:t>
            </a:r>
          </a:p>
          <a:p>
            <a:pPr marL="210000" indent="-210000">
              <a:spcAft>
                <a:spcPts val="900"/>
              </a:spcAft>
              <a:buChar char="•"/>
            </a:pPr>
            <a:r>
              <a:rPr sz="1080">
                <a:solidFill>
                  <a:srgbClr val="E2E8F0"/>
                </a:solidFill>
                <a:latin typeface="Liberation Sans"/>
              </a:rPr>
              <a:t>Scale across 8.20L target stores (Rs 77.7 Cr to Rs 253.9 Cr ARR)</a:t>
            </a:r>
          </a:p>
        </p:txBody>
      </p:sp>
      <p:sp>
        <p:nvSpPr>
          <p:cNvPr id="17" name="Rounded Rectangle 16"/>
          <p:cNvSpPr/>
          <p:nvPr/>
        </p:nvSpPr>
        <p:spPr>
          <a:xfrm>
            <a:off x="594360" y="5257800"/>
            <a:ext cx="11018520" cy="1005840"/>
          </a:xfrm>
          <a:prstGeom prst="roundRect">
            <a:avLst>
              <a:gd name="adj" fmla="val 3000"/>
            </a:avLst>
          </a:prstGeom>
          <a:solidFill>
            <a:srgbClr val="001133"/>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413248"/>
            <a:ext cx="8686800" cy="329184"/>
          </a:xfrm>
          <a:prstGeom prst="rect">
            <a:avLst/>
          </a:prstGeom>
          <a:noFill/>
        </p:spPr>
        <p:txBody>
          <a:bodyPr wrap="square" lIns="36576" rIns="36576" tIns="18288" bIns="18288">
            <a:spAutoFit/>
          </a:bodyPr>
          <a:lstStyle/>
          <a:p>
            <a:pPr algn="l">
              <a:spcAft>
                <a:spcPts val="300"/>
              </a:spcAft>
            </a:pPr>
            <a:r>
              <a:rPr sz="1550" b="1" i="0">
                <a:solidFill>
                  <a:srgbClr val="FFFFFF"/>
                </a:solidFill>
                <a:latin typeface="Liberation Sans"/>
              </a:rPr>
              <a:t>PaytmAI VyaparVoice | Team SemiTechnical (Kevin Joseph)</a:t>
            </a:r>
          </a:p>
        </p:txBody>
      </p:sp>
      <p:sp>
        <p:nvSpPr>
          <p:cNvPr id="19" name="TextBox 18"/>
          <p:cNvSpPr txBox="1"/>
          <p:nvPr/>
        </p:nvSpPr>
        <p:spPr>
          <a:xfrm>
            <a:off x="822960" y="5779008"/>
            <a:ext cx="10515600" cy="310896"/>
          </a:xfrm>
          <a:prstGeom prst="rect">
            <a:avLst/>
          </a:prstGeom>
          <a:noFill/>
        </p:spPr>
        <p:txBody>
          <a:bodyPr wrap="square" lIns="36576" rIns="36576" tIns="18288" bIns="18288">
            <a:spAutoFit/>
          </a:bodyPr>
          <a:lstStyle/>
          <a:p>
            <a:pPr algn="l">
              <a:spcAft>
                <a:spcPts val="300"/>
              </a:spcAft>
            </a:pPr>
            <a:r>
              <a:rPr sz="1080" b="0" i="0">
                <a:solidFill>
                  <a:srgbClr val="00BAF2"/>
                </a:solidFill>
                <a:latin typeface="Liberation Sans"/>
              </a:rPr>
              <a:t>Appendix A9 (Slide 14 / 16) | Go/No-Go: Lower 95% CI of Post-5%-Fee Net Profit/Nudged &gt; Rs 0 AND Observed Lift &gt; Break-Even Lift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4018787"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927348"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A10 : DUAL SCORECARD &amp; COPY LINT</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Merchant Plain-Language View vs Technical Audit View</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(Deck v2.1)</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A10 (Slide 15 / 16)</a:t>
            </a:r>
          </a:p>
        </p:txBody>
      </p:sp>
      <p:sp>
        <p:nvSpPr>
          <p:cNvPr id="10" name="Rounded Rectangle 9"/>
          <p:cNvSpPr/>
          <p:nvPr/>
        </p:nvSpPr>
        <p:spPr>
          <a:xfrm>
            <a:off x="502920" y="1280160"/>
            <a:ext cx="5440680" cy="3337560"/>
          </a:xfrm>
          <a:prstGeom prst="roundRect">
            <a:avLst>
              <a:gd name="adj" fmla="val 3000"/>
            </a:avLst>
          </a:prstGeom>
          <a:solidFill>
            <a:srgbClr val="FFFFFF"/>
          </a:solidFill>
          <a:ln w="1651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408176"/>
            <a:ext cx="5074920" cy="292608"/>
          </a:xfrm>
          <a:prstGeom prst="rect">
            <a:avLst/>
          </a:prstGeom>
          <a:noFill/>
        </p:spPr>
        <p:txBody>
          <a:bodyPr wrap="square" lIns="36576" rIns="36576" tIns="18288" bIns="18288">
            <a:spAutoFit/>
          </a:bodyPr>
          <a:lstStyle/>
          <a:p>
            <a:pPr algn="l">
              <a:spcAft>
                <a:spcPts val="300"/>
              </a:spcAft>
            </a:pPr>
            <a:r>
              <a:rPr sz="1250" b="1" i="0">
                <a:solidFill>
                  <a:srgbClr val="059669"/>
                </a:solidFill>
                <a:latin typeface="Liberation Sans"/>
              </a:rPr>
              <a:t>MERCHANT VIEW (ZERO JARGON - LINT VERIFIED)</a:t>
            </a:r>
          </a:p>
        </p:txBody>
      </p:sp>
      <p:sp>
        <p:nvSpPr>
          <p:cNvPr id="12" name="TextBox 11"/>
          <p:cNvSpPr txBox="1"/>
          <p:nvPr/>
        </p:nvSpPr>
        <p:spPr>
          <a:xfrm>
            <a:off x="658368" y="1755648"/>
            <a:ext cx="5120640" cy="2697480"/>
          </a:xfrm>
          <a:prstGeom prst="rect">
            <a:avLst/>
          </a:prstGeom>
          <a:noFill/>
        </p:spPr>
        <p:txBody>
          <a:bodyPr wrap="square" lIns="54864" rIns="54864" tIns="36576" bIns="36576">
            <a:spAutoFit/>
          </a:bodyPr>
          <a:lstStyle/>
          <a:p>
            <a:pPr marL="210000" indent="-210000">
              <a:spcAft>
                <a:spcPts val="800"/>
              </a:spcAft>
              <a:buChar char="•"/>
            </a:pPr>
            <a:r>
              <a:rPr sz="1140" b="1">
                <a:solidFill>
                  <a:srgbClr val="002970"/>
                </a:solidFill>
                <a:latin typeface="Liberation Sans"/>
              </a:rPr>
              <a:t>Plain Outcome Copy: </a:t>
            </a:r>
            <a:r>
              <a:rPr sz="1140" b="0">
                <a:solidFill>
                  <a:srgbClr val="0F172A"/>
                </a:solidFill>
                <a:latin typeface="Liberation Sans"/>
              </a:rPr>
              <a:t>Early check on one store wave (pool multiple shops to be sure): 12 of 32 with offer came back vs 1 of 8 without.</a:t>
            </a:r>
          </a:p>
          <a:p>
            <a:pPr marL="210000" indent="-210000">
              <a:spcAft>
                <a:spcPts val="800"/>
              </a:spcAft>
              <a:buChar char="•"/>
            </a:pPr>
            <a:r>
              <a:rPr sz="1140" b="1">
                <a:solidFill>
                  <a:srgbClr val="002970"/>
                </a:solidFill>
                <a:latin typeface="Liberation Sans"/>
              </a:rPr>
              <a:t>Clear Spend Stop: </a:t>
            </a:r>
            <a:r>
              <a:rPr sz="1140" b="0">
                <a:solidFill>
                  <a:srgbClr val="0F172A"/>
                </a:solidFill>
                <a:latin typeface="Liberation Sans"/>
              </a:rPr>
              <a:t>Your 300 rupee limit was reached after 12 paid redemptions (0 extra declined in base run).</a:t>
            </a:r>
          </a:p>
          <a:p>
            <a:pPr marL="210000" indent="-210000">
              <a:spcAft>
                <a:spcPts val="800"/>
              </a:spcAft>
              <a:buChar char="•"/>
            </a:pPr>
            <a:r>
              <a:rPr sz="1140" b="1">
                <a:solidFill>
                  <a:srgbClr val="002970"/>
                </a:solidFill>
                <a:latin typeface="Liberation Sans"/>
              </a:rPr>
              <a:t>Estimated Shop Profit: </a:t>
            </a:r>
            <a:r>
              <a:rPr sz="1140" b="0">
                <a:solidFill>
                  <a:srgbClr val="0F172A"/>
                </a:solidFill>
                <a:latin typeface="Liberation Sans"/>
              </a:rPr>
              <a:t>At 30% shop margin, estimated profit is Rs 222 before Paytm fee (Rs 91.50 after 5% fee).</a:t>
            </a:r>
          </a:p>
          <a:p>
            <a:pPr marL="210000" indent="-210000">
              <a:spcAft>
                <a:spcPts val="800"/>
              </a:spcAft>
              <a:buChar char="•"/>
            </a:pPr>
            <a:r>
              <a:rPr sz="1140" b="1">
                <a:solidFill>
                  <a:srgbClr val="002970"/>
                </a:solidFill>
                <a:latin typeface="Liberation Sans"/>
              </a:rPr>
              <a:t>Honest Copy Status: </a:t>
            </a:r>
            <a:r>
              <a:rPr sz="1140" b="0">
                <a:solidFill>
                  <a:srgbClr val="0F172A"/>
                </a:solidFill>
                <a:latin typeface="Liberation Sans"/>
              </a:rPr>
              <a:t>EN author-checked, native review pending; KN &amp; HI carry visible [DRAFT - UNREVIEWED] badges.</a:t>
            </a:r>
          </a:p>
        </p:txBody>
      </p:sp>
      <p:sp>
        <p:nvSpPr>
          <p:cNvPr id="13" name="Rounded Rectangle 12"/>
          <p:cNvSpPr/>
          <p:nvPr/>
        </p:nvSpPr>
        <p:spPr>
          <a:xfrm>
            <a:off x="6172200" y="1280160"/>
            <a:ext cx="5513832" cy="3337560"/>
          </a:xfrm>
          <a:prstGeom prst="roundRect">
            <a:avLst>
              <a:gd name="adj" fmla="val 3000"/>
            </a:avLst>
          </a:prstGeom>
          <a:solidFill>
            <a:srgbClr val="FFFFFF"/>
          </a:solidFill>
          <a:ln w="1651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08176"/>
            <a:ext cx="5148072" cy="292608"/>
          </a:xfrm>
          <a:prstGeom prst="rect">
            <a:avLst/>
          </a:prstGeom>
          <a:noFill/>
        </p:spPr>
        <p:txBody>
          <a:bodyPr wrap="square" lIns="36576" rIns="36576" tIns="18288" bIns="18288">
            <a:spAutoFit/>
          </a:bodyPr>
          <a:lstStyle/>
          <a:p>
            <a:pPr algn="l">
              <a:spcAft>
                <a:spcPts val="300"/>
              </a:spcAft>
            </a:pPr>
            <a:r>
              <a:rPr sz="1250" b="1" i="0">
                <a:solidFill>
                  <a:srgbClr val="002970"/>
                </a:solidFill>
                <a:latin typeface="Liberation Sans"/>
              </a:rPr>
              <a:t>TECHNICAL &amp; AUDIT VIEW (ANALYST / JUDGE)</a:t>
            </a:r>
          </a:p>
        </p:txBody>
      </p:sp>
      <p:sp>
        <p:nvSpPr>
          <p:cNvPr id="15" name="TextBox 14"/>
          <p:cNvSpPr txBox="1"/>
          <p:nvPr/>
        </p:nvSpPr>
        <p:spPr>
          <a:xfrm>
            <a:off x="6327648" y="1755648"/>
            <a:ext cx="5193792" cy="2697480"/>
          </a:xfrm>
          <a:prstGeom prst="rect">
            <a:avLst/>
          </a:prstGeom>
          <a:noFill/>
        </p:spPr>
        <p:txBody>
          <a:bodyPr wrap="square" lIns="54864" rIns="54864" tIns="36576" bIns="36576">
            <a:spAutoFit/>
          </a:bodyPr>
          <a:lstStyle/>
          <a:p>
            <a:pPr marL="210000" indent="-210000">
              <a:spcAft>
                <a:spcPts val="800"/>
              </a:spcAft>
              <a:buChar char="•"/>
            </a:pPr>
            <a:r>
              <a:rPr sz="1140" b="1">
                <a:solidFill>
                  <a:srgbClr val="002970"/>
                </a:solidFill>
                <a:latin typeface="Liberation Sans"/>
              </a:rPr>
              <a:t>ITT &amp; Wilson 95% CIs: </a:t>
            </a:r>
            <a:r>
              <a:rPr sz="1140" b="0">
                <a:solidFill>
                  <a:srgbClr val="0F172A"/>
                </a:solidFill>
                <a:latin typeface="Liberation Sans"/>
              </a:rPr>
              <a:t>37.5% [22.9%, 54.8%] vs 12.5% [2.2%, 47.1%]; two-sided Fisher exact p = 0.24.</a:t>
            </a:r>
          </a:p>
          <a:p>
            <a:pPr marL="210000" indent="-210000">
              <a:spcAft>
                <a:spcPts val="800"/>
              </a:spcAft>
              <a:buChar char="•"/>
            </a:pPr>
            <a:r>
              <a:rPr sz="1140" b="1">
                <a:solidFill>
                  <a:srgbClr val="002970"/>
                </a:solidFill>
                <a:latin typeface="Liberation Sans"/>
              </a:rPr>
              <a:t>Pooled Pilot Power: </a:t>
            </a:r>
            <a:r>
              <a:rPr sz="1140" b="0">
                <a:solidFill>
                  <a:srgbClr val="0F172A"/>
                </a:solidFill>
                <a:latin typeface="Liberation Sans"/>
              </a:rPr>
              <a:t>50 shops x 1 wave (400C + 1,600T): 50.3%, 68.8%, 83.3%, 92.5%, 97.2%, 99.8% at +4..+10 pp.</a:t>
            </a:r>
          </a:p>
          <a:p>
            <a:pPr marL="210000" indent="-210000">
              <a:spcAft>
                <a:spcPts val="800"/>
              </a:spcAft>
              <a:buChar char="•"/>
            </a:pPr>
            <a:r>
              <a:rPr sz="1140" b="1">
                <a:solidFill>
                  <a:srgbClr val="002970"/>
                </a:solidFill>
                <a:latin typeface="Liberation Sans"/>
              </a:rPr>
              <a:t>Cap Risk &amp; Refusals: </a:t>
            </a:r>
            <a:r>
              <a:rPr sz="1140" b="0">
                <a:solidFill>
                  <a:srgbClr val="0F172A"/>
                </a:solidFill>
                <a:latin typeface="Liberation Sans"/>
              </a:rPr>
              <a:t>Face exposure Rs 800; P(X &gt; 12 | p=0.375) = 42.2% (&gt;10% alert -&gt; suggests Rs 400 cap).</a:t>
            </a:r>
          </a:p>
          <a:p>
            <a:pPr marL="210000" indent="-210000">
              <a:spcAft>
                <a:spcPts val="800"/>
              </a:spcAft>
              <a:buChar char="•"/>
            </a:pPr>
            <a:r>
              <a:rPr sz="1140" b="1">
                <a:solidFill>
                  <a:srgbClr val="002970"/>
                </a:solidFill>
                <a:latin typeface="Liberation Sans"/>
              </a:rPr>
              <a:t>Banned Merchant Terms: </a:t>
            </a:r>
            <a:r>
              <a:rPr sz="1140" b="0">
                <a:solidFill>
                  <a:srgbClr val="0F172A"/>
                </a:solidFill>
                <a:latin typeface="Liberation Sans"/>
              </a:rPr>
              <a:t>Automated regex blocks cohort, holdout, p-value, Fisher, Wilson, ROI, DPDP, RFM, ITT.</a:t>
            </a:r>
          </a:p>
        </p:txBody>
      </p:sp>
      <p:sp>
        <p:nvSpPr>
          <p:cNvPr id="16" name="Rounded Rectangle 15"/>
          <p:cNvSpPr/>
          <p:nvPr/>
        </p:nvSpPr>
        <p:spPr>
          <a:xfrm>
            <a:off x="502920" y="4800600"/>
            <a:ext cx="3602736" cy="1463040"/>
          </a:xfrm>
          <a:prstGeom prst="roundRect">
            <a:avLst>
              <a:gd name="adj" fmla="val 3000"/>
            </a:avLst>
          </a:prstGeom>
          <a:solidFill>
            <a:srgbClr val="FFFFFF"/>
          </a:solidFill>
          <a:ln w="1651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4919472"/>
            <a:ext cx="3310128" cy="274320"/>
          </a:xfrm>
          <a:prstGeom prst="rect">
            <a:avLst/>
          </a:prstGeom>
          <a:noFill/>
        </p:spPr>
        <p:txBody>
          <a:bodyPr wrap="square" lIns="36576" rIns="36576" tIns="18288" bIns="18288">
            <a:spAutoFit/>
          </a:bodyPr>
          <a:lstStyle/>
          <a:p>
            <a:pPr algn="l">
              <a:spcAft>
                <a:spcPts val="300"/>
              </a:spcAft>
            </a:pPr>
            <a:r>
              <a:rPr sz="1120" b="1" i="0">
                <a:solidFill>
                  <a:srgbClr val="002970"/>
                </a:solidFill>
                <a:latin typeface="Liberation Sans"/>
              </a:rPr>
              <a:t>GRADE A : OBSERVED LEDGER</a:t>
            </a:r>
          </a:p>
        </p:txBody>
      </p:sp>
      <p:sp>
        <p:nvSpPr>
          <p:cNvPr id="18" name="TextBox 17"/>
          <p:cNvSpPr txBox="1"/>
          <p:nvPr/>
        </p:nvSpPr>
        <p:spPr>
          <a:xfrm>
            <a:off x="649224" y="5230368"/>
            <a:ext cx="3310128" cy="914400"/>
          </a:xfrm>
          <a:prstGeom prst="rect">
            <a:avLst/>
          </a:prstGeom>
          <a:noFill/>
        </p:spPr>
        <p:txBody>
          <a:bodyPr wrap="square" lIns="36576" rIns="36576" tIns="18288" bIns="18288">
            <a:spAutoFit/>
          </a:bodyPr>
          <a:lstStyle/>
          <a:p>
            <a:pPr algn="l">
              <a:spcAft>
                <a:spcPts val="300"/>
              </a:spcAft>
            </a:pPr>
            <a:r>
              <a:rPr sz="1080" b="0" i="0">
                <a:solidFill>
                  <a:srgbClr val="0F172A"/>
                </a:solidFill>
                <a:latin typeface="Liberation Sans"/>
              </a:rPr>
              <a:t>SQLite store counts (240 payers, 1,613 scans, 48 silent -&gt; 40 eligible; synthetic seed 20261025).</a:t>
            </a:r>
          </a:p>
        </p:txBody>
      </p:sp>
      <p:sp>
        <p:nvSpPr>
          <p:cNvPr id="19" name="Rounded Rectangle 18"/>
          <p:cNvSpPr/>
          <p:nvPr/>
        </p:nvSpPr>
        <p:spPr>
          <a:xfrm>
            <a:off x="4288536" y="4800600"/>
            <a:ext cx="3602736" cy="1463040"/>
          </a:xfrm>
          <a:prstGeom prst="roundRect">
            <a:avLst>
              <a:gd name="adj" fmla="val 3000"/>
            </a:avLst>
          </a:prstGeom>
          <a:solidFill>
            <a:srgbClr val="FFFFFF"/>
          </a:solidFill>
          <a:ln w="1651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4840" y="4919472"/>
            <a:ext cx="3310128" cy="274320"/>
          </a:xfrm>
          <a:prstGeom prst="rect">
            <a:avLst/>
          </a:prstGeom>
          <a:noFill/>
        </p:spPr>
        <p:txBody>
          <a:bodyPr wrap="square" lIns="36576" rIns="36576" tIns="18288" bIns="18288">
            <a:spAutoFit/>
          </a:bodyPr>
          <a:lstStyle/>
          <a:p>
            <a:pPr algn="l">
              <a:spcAft>
                <a:spcPts val="300"/>
              </a:spcAft>
            </a:pPr>
            <a:r>
              <a:rPr sz="1120" b="1" i="0">
                <a:solidFill>
                  <a:srgbClr val="B45309"/>
                </a:solidFill>
                <a:latin typeface="Liberation Sans"/>
              </a:rPr>
              <a:t>GRADE B : SIMULATED ITT</a:t>
            </a:r>
          </a:p>
        </p:txBody>
      </p:sp>
      <p:sp>
        <p:nvSpPr>
          <p:cNvPr id="21" name="TextBox 20"/>
          <p:cNvSpPr txBox="1"/>
          <p:nvPr/>
        </p:nvSpPr>
        <p:spPr>
          <a:xfrm>
            <a:off x="4434840" y="5230368"/>
            <a:ext cx="3310128" cy="914400"/>
          </a:xfrm>
          <a:prstGeom prst="rect">
            <a:avLst/>
          </a:prstGeom>
          <a:noFill/>
        </p:spPr>
        <p:txBody>
          <a:bodyPr wrap="square" lIns="36576" rIns="36576" tIns="18288" bIns="18288">
            <a:spAutoFit/>
          </a:bodyPr>
          <a:lstStyle/>
          <a:p>
            <a:pPr algn="l">
              <a:spcAft>
                <a:spcPts val="300"/>
              </a:spcAft>
            </a:pPr>
            <a:r>
              <a:rPr sz="1080" b="0" i="0">
                <a:solidFill>
                  <a:srgbClr val="0F172A"/>
                </a:solidFill>
                <a:latin typeface="Liberation Sans"/>
              </a:rPr>
              <a:t>Randomized 32 vs 8 split, independent outcome draw, Fisher p &amp; Wilson CIs (simulated).</a:t>
            </a:r>
          </a:p>
        </p:txBody>
      </p:sp>
      <p:sp>
        <p:nvSpPr>
          <p:cNvPr id="22" name="Rounded Rectangle 21"/>
          <p:cNvSpPr/>
          <p:nvPr/>
        </p:nvSpPr>
        <p:spPr>
          <a:xfrm>
            <a:off x="8074152" y="4800600"/>
            <a:ext cx="3602736" cy="1463040"/>
          </a:xfrm>
          <a:prstGeom prst="roundRect">
            <a:avLst>
              <a:gd name="adj" fmla="val 3000"/>
            </a:avLst>
          </a:prstGeom>
          <a:solidFill>
            <a:srgbClr val="FFFFFF"/>
          </a:solidFill>
          <a:ln w="1651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4919472"/>
            <a:ext cx="3310128" cy="274320"/>
          </a:xfrm>
          <a:prstGeom prst="rect">
            <a:avLst/>
          </a:prstGeom>
          <a:noFill/>
        </p:spPr>
        <p:txBody>
          <a:bodyPr wrap="square" lIns="36576" rIns="36576" tIns="18288" bIns="18288">
            <a:spAutoFit/>
          </a:bodyPr>
          <a:lstStyle/>
          <a:p>
            <a:pPr algn="l">
              <a:spcAft>
                <a:spcPts val="300"/>
              </a:spcAft>
            </a:pPr>
            <a:r>
              <a:rPr sz="1120" b="1" i="0">
                <a:solidFill>
                  <a:srgbClr val="059669"/>
                </a:solidFill>
                <a:latin typeface="Liberation Sans"/>
              </a:rPr>
              <a:t>GRADE C : ASSUMPTIONS</a:t>
            </a:r>
          </a:p>
        </p:txBody>
      </p:sp>
      <p:sp>
        <p:nvSpPr>
          <p:cNvPr id="24" name="TextBox 23"/>
          <p:cNvSpPr txBox="1"/>
          <p:nvPr/>
        </p:nvSpPr>
        <p:spPr>
          <a:xfrm>
            <a:off x="8220456" y="5230368"/>
            <a:ext cx="3310128" cy="914400"/>
          </a:xfrm>
          <a:prstGeom prst="rect">
            <a:avLst/>
          </a:prstGeom>
          <a:noFill/>
        </p:spPr>
        <p:txBody>
          <a:bodyPr wrap="square" lIns="36576" rIns="36576" tIns="18288" bIns="18288">
            <a:spAutoFit/>
          </a:bodyPr>
          <a:lstStyle/>
          <a:p>
            <a:pPr algn="l">
              <a:spcAft>
                <a:spcPts val="300"/>
              </a:spcAft>
            </a:pPr>
            <a:r>
              <a:rPr sz="1080" b="0" i="0">
                <a:solidFill>
                  <a:srgbClr val="0F172A"/>
                </a:solidFill>
                <a:latin typeface="Liberation Sans"/>
              </a:rPr>
              <a:t>30% shop gross margin, 5% fee on redeemed bills, ~0.78 waves/mo steady cadence.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4105656"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4014216"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A11 : CAP LEDGERS &amp; DOSE-RESPONSE</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Merchant Spend Stop, Sarvam Credit Cap &amp; Dose-Response Curve</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(Deck v2.1)</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A11 (Slide 16 / 16)</a:t>
            </a:r>
          </a:p>
        </p:txBody>
      </p:sp>
      <p:sp>
        <p:nvSpPr>
          <p:cNvPr id="10" name="Rounded Rectangle 9"/>
          <p:cNvSpPr/>
          <p:nvPr/>
        </p:nvSpPr>
        <p:spPr>
          <a:xfrm>
            <a:off x="502920" y="1280160"/>
            <a:ext cx="5943600" cy="49834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408176"/>
            <a:ext cx="5614416" cy="4736592"/>
          </a:xfrm>
          <a:prstGeom prst="rect">
            <a:avLst/>
          </a:prstGeom>
          <a:noFill/>
        </p:spPr>
        <p:txBody>
          <a:bodyPr wrap="square" lIns="54864" rIns="54864" tIns="36576" bIns="36576">
            <a:spAutoFit/>
          </a:bodyPr>
          <a:lstStyle/>
          <a:p>
            <a:pPr marL="210000" indent="-210000">
              <a:spcAft>
                <a:spcPts val="1000"/>
              </a:spcAft>
              <a:buChar char="•"/>
            </a:pPr>
            <a:r>
              <a:rPr sz="1160" b="1">
                <a:solidFill>
                  <a:srgbClr val="002970"/>
                </a:solidFill>
                <a:latin typeface="Liberation Sans"/>
              </a:rPr>
              <a:t>Merchant Cashback Stop: </a:t>
            </a:r>
            <a:r>
              <a:rPr sz="1160" b="0">
                <a:solidFill>
                  <a:srgbClr val="0F172A"/>
                </a:solidFill>
                <a:latin typeface="Liberation Sans"/>
              </a:rPr>
              <a:t>Issues passes ('valid while budget lasts') to all 32 nudged buyers; SQLite lock stops spend at Rs 300 (12 paid) and logs declines.</a:t>
            </a:r>
          </a:p>
          <a:p>
            <a:pPr marL="210000" indent="-210000">
              <a:spcAft>
                <a:spcPts val="1000"/>
              </a:spcAft>
              <a:buChar char="•"/>
            </a:pPr>
            <a:r>
              <a:rPr sz="1160" b="1">
                <a:solidFill>
                  <a:srgbClr val="002970"/>
                </a:solidFill>
                <a:latin typeface="Liberation Sans"/>
              </a:rPr>
              <a:t>Dose-Response Sweet Spot: </a:t>
            </a:r>
            <a:r>
              <a:rPr sz="1160" b="0">
                <a:solidFill>
                  <a:srgbClr val="0F172A"/>
                </a:solidFill>
                <a:latin typeface="Liberation Sans"/>
              </a:rPr>
              <a:t>In simulation, Rs 25 peaks uncapped profit: offers of Rs 30 to 40 erode uncapped net profit via organic subsidy AND trigger 5 to 8 cap refusals under a Rs 300 stop.</a:t>
            </a:r>
          </a:p>
          <a:p>
            <a:pPr marL="210000" indent="-210000">
              <a:spcAft>
                <a:spcPts val="1000"/>
              </a:spcAft>
              <a:buChar char="•"/>
            </a:pPr>
            <a:r>
              <a:rPr sz="1160" b="1">
                <a:solidFill>
                  <a:srgbClr val="002970"/>
                </a:solidFill>
                <a:latin typeface="Liberation Sans"/>
              </a:rPr>
              <a:t>Margin &amp; Lift Break-Even: </a:t>
            </a:r>
            <a:r>
              <a:rPr sz="1160" b="0">
                <a:solidFill>
                  <a:srgbClr val="0F172A"/>
                </a:solidFill>
                <a:latin typeface="Liberation Sans"/>
              </a:rPr>
              <a:t>At +25 pp simulated lift, shop breaks even at 17.2% margin pre-fee (24.7% post-fee); at 30% margin, break-even lift is +7.8 pp pre-fee (+15.3 pp post-fee).</a:t>
            </a:r>
          </a:p>
          <a:p>
            <a:pPr marL="210000" indent="-210000">
              <a:spcAft>
                <a:spcPts val="1000"/>
              </a:spcAft>
              <a:buChar char="•"/>
            </a:pPr>
            <a:r>
              <a:rPr sz="1160" b="1">
                <a:solidFill>
                  <a:srgbClr val="002970"/>
                </a:solidFill>
                <a:latin typeface="Liberation Sans"/>
              </a:rPr>
              <a:t>Sarvam 30% Credit Ledger: </a:t>
            </a:r>
            <a:r>
              <a:rPr sz="1160" b="0">
                <a:solidFill>
                  <a:srgbClr val="0F172A"/>
                </a:solidFill>
                <a:latin typeface="Liberation Sans"/>
              </a:rPr>
              <a:t>Separate JSON ledger caps TTS &lt;=15% and STT &lt;=15% (30% total of 500 sponsor credits = 150 max) and halts fail-closed on HTTP 402/429/5xx.</a:t>
            </a:r>
          </a:p>
          <a:p>
            <a:pPr marL="210000" indent="-210000">
              <a:spcAft>
                <a:spcPts val="1000"/>
              </a:spcAft>
              <a:buChar char="•"/>
            </a:pPr>
            <a:r>
              <a:rPr sz="1160" b="1">
                <a:solidFill>
                  <a:srgbClr val="002970"/>
                </a:solidFill>
                <a:latin typeface="Liberation Sans"/>
              </a:rPr>
              <a:t>Public Cloud Lock: </a:t>
            </a:r>
            <a:r>
              <a:rPr sz="1160" b="0">
                <a:solidFill>
                  <a:srgbClr val="0F172A"/>
                </a:solidFill>
                <a:latin typeface="Liberation Sans"/>
              </a:rPr>
              <a:t>PUBLIC_DEPLOY=true (auto-enabled on Render) hard-blocks live paid calls while SHA-256 audio cache replays at 0 credits.</a:t>
            </a:r>
          </a:p>
        </p:txBody>
      </p:sp>
      <p:sp>
        <p:nvSpPr>
          <p:cNvPr id="12" name="Rounded Rectangle 11"/>
          <p:cNvSpPr/>
          <p:nvPr/>
        </p:nvSpPr>
        <p:spPr>
          <a:xfrm>
            <a:off x="6629400" y="1280160"/>
            <a:ext cx="5056632" cy="3364992"/>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4_dose_breakeven.png"/>
          <p:cNvPicPr>
            <a:picLocks noChangeAspect="1"/>
          </p:cNvPicPr>
          <p:nvPr/>
        </p:nvPicPr>
        <p:blipFill>
          <a:blip r:embed="rId2"/>
          <a:stretch>
            <a:fillRect/>
          </a:stretch>
        </p:blipFill>
        <p:spPr>
          <a:xfrm>
            <a:off x="6821424" y="1353312"/>
            <a:ext cx="4663440" cy="3154680"/>
          </a:xfrm>
          <a:prstGeom prst="rect">
            <a:avLst/>
          </a:prstGeom>
        </p:spPr>
      </p:pic>
      <p:sp>
        <p:nvSpPr>
          <p:cNvPr id="14" name="Rounded Rectangle 13"/>
          <p:cNvSpPr/>
          <p:nvPr/>
        </p:nvSpPr>
        <p:spPr>
          <a:xfrm>
            <a:off x="6629400" y="4791456"/>
            <a:ext cx="5056632" cy="1472184"/>
          </a:xfrm>
          <a:prstGeom prst="roundRect">
            <a:avLst>
              <a:gd name="adj" fmla="val 3000"/>
            </a:avLst>
          </a:prstGeom>
          <a:solidFill>
            <a:srgbClr val="001B4D"/>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84848" y="4901184"/>
            <a:ext cx="4736592" cy="1261872"/>
          </a:xfrm>
          <a:prstGeom prst="rect">
            <a:avLst/>
          </a:prstGeom>
          <a:noFill/>
        </p:spPr>
        <p:txBody>
          <a:bodyPr wrap="square" lIns="36576" rIns="36576" tIns="18288" bIns="18288">
            <a:spAutoFit/>
          </a:bodyPr>
          <a:lstStyle/>
          <a:p>
            <a:pPr algn="l">
              <a:spcAft>
                <a:spcPts val="300"/>
              </a:spcAft>
            </a:pPr>
            <a:r>
              <a:rPr sz="1080" b="1" i="0">
                <a:solidFill>
                  <a:srgbClr val="FFFFFF"/>
                </a:solidFill>
                <a:latin typeface="Liberation Sans"/>
              </a:rPr>
              <a:t>DUAL CAP SUMMARY (SIMULATED &amp; BUILT)</a:t>
            </a:r>
          </a:p>
          <a:p>
            <a:pPr algn="l">
              <a:spcAft>
                <a:spcPts val="300"/>
              </a:spcAft>
            </a:pPr>
            <a:r>
              <a:rPr sz="1080" b="1" i="0">
                <a:solidFill>
                  <a:srgbClr val="FFFFFF"/>
                </a:solidFill>
                <a:latin typeface="Liberation Sans"/>
              </a:rPr>
              <a:t>1. Merchant Cap: Protects shopkeeper pocket (Rs 300 stop; &gt;10% overrun warning &amp; 80% top-up prompt).</a:t>
            </a:r>
          </a:p>
          <a:p>
            <a:pPr algn="l">
              <a:spcAft>
                <a:spcPts val="300"/>
              </a:spcAft>
            </a:pPr>
            <a:r>
              <a:rPr sz="1080" b="1" i="0">
                <a:solidFill>
                  <a:srgbClr val="FFFFFF"/>
                </a:solidFill>
                <a:latin typeface="Liberation Sans"/>
              </a:rPr>
              <a:t>2. Sponsor API Cap: Protects hackathon credits (&lt;=15% TTS, &lt;=15% STT, fail-closed).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