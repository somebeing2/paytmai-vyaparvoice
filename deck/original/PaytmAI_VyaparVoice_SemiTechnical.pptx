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 everyone, I'm Kevin Joseph from Team SemiTechnical. For Track 1 (Merchant Growth AI), we built PaytmAI VyaparVoice — turning Paytm's 1.57 crore Soundboxes into a proactive, vernacular voice growth and operations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Paytm already owns the storefront counter with 1.57 crore Soundboxes. Yet merchants lose 30% of repeat buyers silently and suffer 68% afternoon dead-hour drops because busy shopkeepers cannot read BI charts or type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solution spans all three mandates of Track 1: automated churn win-back and dead-hour footfall to grow business, predictive supplier restocking to manage operations, and instant queue-delay recovery to serve customers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how a merchant experiences VyaparVoice in 60 seconds at 8:30 PM. Everything on this slide is already built and running in our live FastAPI + SQLite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architecture separates probabilistic AI from financial execution: Sarvam AI and SLMs handle vernacular voice, while a deterministic Python guardrail engine and Redis atomic counters guarantee zero budget overruns or hallucinations.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biggest USP is combining zero-typing vernacular Soundbox interaction with Paytm's QR repeat-payer graph, deterministic financial guardrails, and true 80/20 causal holdout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merchants, VyaparVoice delivers a 5.8x verified return in under 60 seconds a day. For Paytm, it slashes Soundbox churn, boosts QR GMV share, and expands high-margin merchant credit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Paytm already bills 1.57 crore device merchants monthly, our CAC is near zero. Even a conservative 5% adoption yields ₹243 Crore in high-margin ARR across SaaS, performance fees, and partner credit origination.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you! Our working MVP is already live today with real SQLite cohort analytics, Kannada/Hindi/English Soundbox voice briefings, deterministic guardrails, and causal ROI proof. We're excited to build this live in Bengaluru!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01000" y="685800"/>
            <a:ext cx="3703320" cy="5440680"/>
          </a:xfrm>
          <a:prstGeom prst="roundRect">
            <a:avLst>
              <a:gd name="adj" fmla="val 4000"/>
            </a:avLst>
          </a:prstGeom>
          <a:solidFill>
            <a:srgbClr val="002970"/>
          </a:solidFill>
          <a:ln w="1905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731520"/>
            <a:ext cx="6720840" cy="384048"/>
          </a:xfrm>
          <a:prstGeom prst="roundRect">
            <a:avLst>
              <a:gd name="adj" fmla="val 4000"/>
            </a:avLst>
          </a:prstGeom>
          <a:solidFill>
            <a:srgbClr val="002970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64922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0BAF2"/>
                </a:solidFill>
                <a:latin typeface="Liberation Sans"/>
              </a:rPr>
              <a:t>PAYTM BUILD FOR INDIA AI HACKATHON · BENGALURU EDITION  | 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694944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Liberation Sans"/>
              </a:rPr>
              <a:t>PaytmAI VyaparVoice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94944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850" b="1" i="0">
                <a:solidFill>
                  <a:srgbClr val="00BAF2"/>
                </a:solidFill>
                <a:latin typeface="Liberation Sans"/>
              </a:rPr>
              <a:t>The Proactive Voice Growth, Operations &amp; Retention Autopilot for Every Paytm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685800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80" b="0" i="0">
                <a:solidFill>
                  <a:srgbClr val="CBD5E1"/>
                </a:solidFill>
                <a:latin typeface="Liberation Sans"/>
              </a:rPr>
              <a:t>Transforming 1.57 Crore Paytm Soundboxes from passive payment speakers into active vernacular business partners — turning UPI history into verified repeat sales, smarter stock prep, and happier customers in 60 seconds a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77639"/>
            <a:ext cx="2194560" cy="987552"/>
          </a:xfrm>
          <a:prstGeom prst="roundRect">
            <a:avLst>
              <a:gd name="adj" fmla="val 4000"/>
            </a:avLst>
          </a:prstGeom>
          <a:solidFill>
            <a:srgbClr val="002970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069080"/>
            <a:ext cx="1975104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Liberation Sans"/>
              </a:rPr>
              <a:t>01 · Vernacular Voice-First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370832"/>
            <a:ext cx="1975104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BAE6FD"/>
                </a:solidFill>
                <a:latin typeface="Liberation Sans"/>
              </a:rPr>
              <a:t>Kannada, Hindi &amp; English closing pitch; zero typing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3977639"/>
            <a:ext cx="2194560" cy="987552"/>
          </a:xfrm>
          <a:prstGeom prst="roundRect">
            <a:avLst>
              <a:gd name="adj" fmla="val 4000"/>
            </a:avLst>
          </a:prstGeom>
          <a:solidFill>
            <a:srgbClr val="002970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4069080"/>
            <a:ext cx="1975104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Liberation Sans"/>
              </a:rPr>
              <a:t>02 · Guardrailed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4370832"/>
            <a:ext cx="1975104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BAE6FD"/>
                </a:solidFill>
                <a:latin typeface="Liberation Sans"/>
              </a:rPr>
              <a:t>DPDP consent, ₹300 hard cap &amp; ≤22% margin floor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3977639"/>
            <a:ext cx="2194560" cy="987552"/>
          </a:xfrm>
          <a:prstGeom prst="roundRect">
            <a:avLst>
              <a:gd name="adj" fmla="val 4000"/>
            </a:avLst>
          </a:prstGeom>
          <a:solidFill>
            <a:srgbClr val="002970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8968" y="4069080"/>
            <a:ext cx="1975104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Liberation Sans"/>
              </a:rPr>
              <a:t>03 · Causal Holdout ROI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8968" y="4370832"/>
            <a:ext cx="1975104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BAE6FD"/>
                </a:solidFill>
                <a:latin typeface="Liberation Sans"/>
              </a:rPr>
              <a:t>Built-in 80/20 control split proving 5.8x net ₹ lift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57800"/>
            <a:ext cx="6903720" cy="868680"/>
          </a:xfrm>
          <a:prstGeom prst="roundRect">
            <a:avLst>
              <a:gd name="adj" fmla="val 4000"/>
            </a:avLst>
          </a:prstGeom>
          <a:solidFill>
            <a:srgbClr val="001235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58384"/>
            <a:ext cx="32918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Liberation Sans"/>
              </a:rPr>
              <a:t>TEAM: SemiTechnical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87568"/>
            <a:ext cx="4389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00BAF2"/>
                </a:solidFill>
                <a:latin typeface="Liberation Sans"/>
              </a:rPr>
              <a:t>Builder: Kevin Joseph  ·  Bengaluru, India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5413248"/>
            <a:ext cx="274320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 i="0">
                <a:solidFill>
                  <a:srgbClr val="6EE7B7"/>
                </a:solidFill>
                <a:latin typeface="Liberation Sans"/>
              </a:rPr>
              <a:t>Track 1: Merchant Growth AI</a:t>
            </a:r>
          </a:p>
          <a:p>
            <a:pPr algn="r">
              <a:spcAft>
                <a:spcPts val="200"/>
              </a:spcAft>
            </a:pPr>
            <a:r>
              <a:rPr sz="1050" b="1" i="0">
                <a:solidFill>
                  <a:srgbClr val="6EE7B7"/>
                </a:solidFill>
                <a:latin typeface="Liberation Sans"/>
              </a:rPr>
              <a:t>Working MVP Prototype Included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932688"/>
            <a:ext cx="31546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0BAF2"/>
                </a:solidFill>
                <a:latin typeface="Liberation Sans"/>
              </a:rPr>
              <a:t>PAYTM AI SOUNDBOX · 8:30 PM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1325880"/>
            <a:ext cx="3154680" cy="1143000"/>
          </a:xfrm>
          <a:prstGeom prst="roundRect">
            <a:avLst>
              <a:gd name="adj" fmla="val 4000"/>
            </a:avLst>
          </a:prstGeom>
          <a:solidFill>
            <a:srgbClr val="051126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417320"/>
            <a:ext cx="28803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0BAF2"/>
                </a:solidFill>
                <a:latin typeface="Liberation Sans"/>
              </a:rPr>
              <a:t>LCD · SRI KRISHNA DARSHINI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691640"/>
            <a:ext cx="288036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4D399"/>
                </a:solidFill>
                <a:latin typeface="Liberation Sans"/>
              </a:rPr>
              <a:t>+₹1,740 Net Sales Lift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084831"/>
            <a:ext cx="28803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94A3B8"/>
                </a:solidFill>
                <a:latin typeface="Liberation Sans"/>
              </a:rPr>
              <a:t>40 Regulars Eligible · ₹300 Max Cap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2670048"/>
            <a:ext cx="3154680" cy="1965960"/>
          </a:xfrm>
          <a:prstGeom prst="roundRect">
            <a:avLst>
              <a:gd name="adj" fmla="val 4000"/>
            </a:avLst>
          </a:prstGeom>
          <a:solidFill>
            <a:srgbClr val="07225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779776"/>
            <a:ext cx="28803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0BAF2"/>
                </a:solidFill>
                <a:latin typeface="Liberation Sans"/>
              </a:rPr>
              <a:t>▸ EVENING KANNADA / EN BRIEF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063240"/>
            <a:ext cx="2880360" cy="1463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 i="1">
                <a:solidFill>
                  <a:srgbClr val="FFFFFF"/>
                </a:solidFill>
                <a:latin typeface="Liberation Sans"/>
              </a:rPr>
              <a:t>"Namaskara Ramesh avare! 40 regular evening buyers haven't visited in 18 days. Send ₹25 UPI cashback on ₹150+ bill? Max spend locked at ₹300."</a:t>
            </a:r>
          </a:p>
          <a:p>
            <a:pPr algn="l">
              <a:spcAft>
                <a:spcPts val="200"/>
              </a:spcAft>
            </a:pPr>
            <a:r>
              <a:rPr sz="1030" b="0" i="1">
                <a:solidFill>
                  <a:srgbClr val="FFFFFF"/>
                </a:solidFill>
                <a:latin typeface="Liberation Sans"/>
              </a:rPr>
              <a:t>▸ Merchant Reply: "Haudu, kaluhisi!"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4846320"/>
            <a:ext cx="3154680" cy="100584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956048"/>
            <a:ext cx="28803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059669"/>
                </a:solidFill>
                <a:latin typeface="Liberation Sans"/>
              </a:rPr>
              <a:t>✔ WORKING PROTOTYPE BUILT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248656"/>
            <a:ext cx="2880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Liberation Sans"/>
              </a:rPr>
              <a:t>FastAPI + SQLite + Indic Voice +</a:t>
            </a:r>
          </a:p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Liberation Sans"/>
              </a:rPr>
              <a:t>5-Rule Guardrails + Holdout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322576" cy="292608"/>
          </a:xfrm>
          <a:prstGeom prst="roundRect">
            <a:avLst>
              <a:gd name="adj" fmla="val 45000"/>
            </a:avLst>
          </a:prstGeom>
          <a:solidFill>
            <a:srgbClr val="E0F7FE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01752"/>
            <a:ext cx="223113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002970"/>
                </a:solidFill>
                <a:latin typeface="Liberation Sans"/>
              </a:rPr>
              <a:t>01 ·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83464"/>
            <a:ext cx="2697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475569"/>
                </a:solidFill>
                <a:latin typeface="Liberation Sans"/>
              </a:rPr>
              <a:t>PaytmAI VyaparVoice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64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250" b="1" i="0">
                <a:solidFill>
                  <a:srgbClr val="0F172A"/>
                </a:solidFill>
                <a:latin typeface="Liberation Sans"/>
              </a:rPr>
              <a:t>1.57 Cr Merchants Accept Digital Payments — Yet Run Blind on Retention &amp; 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10642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475569"/>
                </a:solidFill>
                <a:latin typeface="Liberation Sans"/>
              </a:rPr>
              <a:t>Paytm digitized payment collection across India, but small shopkeepers still lose 25–35% of repeat buyers silently.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1672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777240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475569"/>
                </a:solidFill>
                <a:latin typeface="Liberation Sans"/>
              </a:rPr>
              <a:t>Paytm Build for India AI Hackathon – Bengaluru Edition  |  Team SemiTechnical (Kevin Joseph)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24712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Slide 2 /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08760"/>
            <a:ext cx="5806440" cy="14081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508760"/>
            <a:ext cx="91440" cy="14081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636776"/>
            <a:ext cx="54406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2970"/>
                </a:solidFill>
                <a:latin typeface="Liberation Sans"/>
              </a:rPr>
              <a:t>1. Silent Repeat-Customer Churn (28–35% Annual Attrition)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1984248"/>
            <a:ext cx="544068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30" b="0" i="0">
                <a:solidFill>
                  <a:srgbClr val="475569"/>
                </a:solidFill>
                <a:latin typeface="Liberation Sans"/>
              </a:rPr>
              <a:t>A busy shop processes 150–300 UPI scans daily, but treats every QR payment as an isolated alert. Merchants never notice when loyal ₹2,000/month regulars quietly stop visiting until monthly cashflow drops.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81528"/>
            <a:ext cx="5806440" cy="14081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81528"/>
            <a:ext cx="91440" cy="1408176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209544"/>
            <a:ext cx="54406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2970"/>
                </a:solidFill>
                <a:latin typeface="Liberation Sans"/>
              </a:rPr>
              <a:t>2. Zero Time or Literacy for BI Dashboards &amp; Chat Prompts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557016"/>
            <a:ext cx="544068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30" b="0" i="0">
                <a:solidFill>
                  <a:srgbClr val="475569"/>
                </a:solidFill>
                <a:latin typeface="Liberation Sans"/>
              </a:rPr>
              <a:t>Kirana, darshini, and pharmacy owners stand at busy counters 12+ hours/day. Existing 'analytics apps' fail (&lt;8% WAU) because merchants won't type prompts, export CSVs, or configure CRM rules.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54296"/>
            <a:ext cx="5806440" cy="14081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654296"/>
            <a:ext cx="91440" cy="14081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782312"/>
            <a:ext cx="54406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2970"/>
                </a:solidFill>
                <a:latin typeface="Liberation Sans"/>
              </a:rPr>
              <a:t>3. Predictable Dead Hours &amp; Unplanned Rush Stockouts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129783"/>
            <a:ext cx="544068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30" b="0" i="0">
                <a:solidFill>
                  <a:srgbClr val="475569"/>
                </a:solidFill>
                <a:latin typeface="Liberation Sans"/>
              </a:rPr>
              <a:t>Stores suffer a 60–70% footfall drop every afternoon (3–5 PM) causing perishable waste, yet run out of high-velocity staples (milk, batter) on payday weekends due to guesswork ordering.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1508760"/>
            <a:ext cx="5102352" cy="2907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art_hourly_trou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1591056"/>
            <a:ext cx="4937760" cy="2424793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537960" y="4572000"/>
            <a:ext cx="5102352" cy="1673352"/>
          </a:xfrm>
          <a:prstGeom prst="roundRect">
            <a:avLst>
              <a:gd name="adj" fmla="val 4000"/>
            </a:avLst>
          </a:prstGeom>
          <a:solidFill>
            <a:srgbClr val="001B4D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700016"/>
            <a:ext cx="4754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0BAF2"/>
                </a:solidFill>
                <a:latin typeface="Liberation Sans"/>
              </a:rPr>
              <a:t>GROUND REALITY · BENGALURU MERCHANT PERSONA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992624"/>
            <a:ext cx="475488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Liberation Sans"/>
              </a:rPr>
              <a:t>Ramesh Rao · Sri Krishna Darshini &amp; Provisions (Indiranagar)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Liberation Sans"/>
              </a:rPr>
              <a:t>Processes ~917 Paytm UPI scans/month (₹1.75L GMV), yet had 48 regular evening buyers go silent for 18+ days without realizing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687568"/>
            <a:ext cx="1508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00BAF2"/>
                </a:solidFill>
                <a:latin typeface="Liberation Sans"/>
              </a:rPr>
              <a:t>1.57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94360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CBD5E1"/>
                </a:solidFill>
                <a:latin typeface="Liberation Sans"/>
              </a:rPr>
              <a:t>Paytm Device Shops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5687568"/>
            <a:ext cx="1508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00BAF2"/>
                </a:solidFill>
                <a:latin typeface="Liberation Sans"/>
              </a:rPr>
              <a:t>₹7.1L Cr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3" y="594360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CBD5E1"/>
                </a:solidFill>
                <a:latin typeface="Liberation Sans"/>
              </a:rPr>
              <a:t>Quarterly Merchant GMV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9528" y="5687568"/>
            <a:ext cx="1508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00BAF2"/>
                </a:solidFill>
                <a:latin typeface="Liberation Sans"/>
              </a:rPr>
              <a:t>&lt; 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594360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CBD5E1"/>
                </a:solidFill>
                <a:latin typeface="Liberation Sans"/>
              </a:rPr>
              <a:t>Current Loan Penetration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322576" cy="292608"/>
          </a:xfrm>
          <a:prstGeom prst="roundRect">
            <a:avLst>
              <a:gd name="adj" fmla="val 45000"/>
            </a:avLst>
          </a:prstGeom>
          <a:solidFill>
            <a:srgbClr val="E0F7FE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01752"/>
            <a:ext cx="223113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002970"/>
                </a:solidFill>
                <a:latin typeface="Liberation Sans"/>
              </a:rPr>
              <a:t>02 ·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83464"/>
            <a:ext cx="2697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475569"/>
                </a:solidFill>
                <a:latin typeface="Liberation Sans"/>
              </a:rPr>
              <a:t>PaytmAI VyaparVoice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64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250" b="1" i="0">
                <a:solidFill>
                  <a:srgbClr val="0F172A"/>
                </a:solidFill>
                <a:latin typeface="Liberation Sans"/>
              </a:rPr>
              <a:t>PaytmAI VyaparVoice: Proactive Voice Partner on Every Counter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10642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475569"/>
                </a:solidFill>
                <a:latin typeface="Liberation Sans"/>
              </a:rPr>
              <a:t>Directly engineered around all 3 pillars of Track 1 — Grow Business, Manage Operations, and Serve Customers Better.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1672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777240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475569"/>
                </a:solidFill>
                <a:latin typeface="Liberation Sans"/>
              </a:rPr>
              <a:t>Paytm Build for India AI Hackathon – Bengaluru Edition  |  Team SemiTechnical (Kevin Joseph)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24712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Slide 3 /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36192"/>
            <a:ext cx="3547872" cy="3584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536192"/>
            <a:ext cx="3547872" cy="9144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719072"/>
            <a:ext cx="3218688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 i="0">
                <a:solidFill>
                  <a:srgbClr val="002970"/>
                </a:solidFill>
                <a:latin typeface="Liberation Sans"/>
              </a:rPr>
              <a:t>PILLAR 1 · GROW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1956816"/>
            <a:ext cx="321868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0F172A"/>
                </a:solidFill>
                <a:latin typeface="Liberation Sans"/>
              </a:rPr>
              <a:t>Win-Back &amp; Dead-Hour Autopilot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359152"/>
            <a:ext cx="3255264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Silent Churn Radar: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Flags high-frequency UPI payers inactive for 15–30 days automatically.</a:t>
            </a:r>
          </a:p>
          <a:p>
            <a:pPr>
              <a:spcAft>
                <a:spcPts val="7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Dead-Hour Flash Boost: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Fills 3–5 PM slow slots with hyperlocal combo nudges to afternoon buyers.</a:t>
            </a:r>
          </a:p>
          <a:p>
            <a:pPr>
              <a:spcAft>
                <a:spcPts val="7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1-Tap UPI Cashback Pass: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Auto-redeemed on next Paytm QR scan — zero paper coupons or cashier friction.</a:t>
            </a:r>
          </a:p>
          <a:p>
            <a:pPr>
              <a:spcAft>
                <a:spcPts val="7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Causal Holdout Proof: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Holds 20% silent control group to prove exact net incremental ₹ earned.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1536192"/>
            <a:ext cx="3547872" cy="3584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1536192"/>
            <a:ext cx="3547872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1719072"/>
            <a:ext cx="3218688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 i="0">
                <a:solidFill>
                  <a:srgbClr val="0284C7"/>
                </a:solidFill>
                <a:latin typeface="Liberation Sans"/>
              </a:rPr>
              <a:t>PILLAR 2 · MANAGE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1956816"/>
            <a:ext cx="321868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0F172A"/>
                </a:solidFill>
                <a:latin typeface="Liberation Sans"/>
              </a:rPr>
              <a:t>Predictive Rush &amp; Supplier Copilot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359152"/>
            <a:ext cx="3255264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Payday &amp; Weekend Forecasting: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Detects +28% end-of-month &amp; weather spikes from historical scan velocity.</a:t>
            </a:r>
          </a:p>
          <a:p>
            <a:pPr>
              <a:spcAft>
                <a:spcPts val="7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1-Command Supplier PO: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Sends pre-filled WhatsApp restock orders (milk, batter, staples) to local vendors.</a:t>
            </a:r>
          </a:p>
          <a:p>
            <a:pPr>
              <a:spcAft>
                <a:spcPts val="7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Perishable Margin Guard: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Triggers evening clearance bundles on slow-moving fresh stock before closing.</a:t>
            </a:r>
          </a:p>
          <a:p>
            <a:pPr>
              <a:spcAft>
                <a:spcPts val="7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Working-Capital Readiness: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Tracks cashflow &amp; EDI coverage to unlock pre-approved Paytm partner credit.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3296" y="1536192"/>
            <a:ext cx="3547872" cy="3584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1536192"/>
            <a:ext cx="354787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1719072"/>
            <a:ext cx="3218688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 i="0">
                <a:solidFill>
                  <a:srgbClr val="059669"/>
                </a:solidFill>
                <a:latin typeface="Liberation Sans"/>
              </a:rPr>
              <a:t>PILLAR 3 · SERVE 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1956816"/>
            <a:ext cx="321868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0F172A"/>
                </a:solidFill>
                <a:latin typeface="Liberation Sans"/>
              </a:rPr>
              <a:t>Vernacular Post-Visit Delight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359152"/>
            <a:ext cx="3255264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Queue-Delay Detection: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Spots unusually slow peak-hour clusters &amp; 3-star Paytm payment feedback tags.</a:t>
            </a:r>
          </a:p>
          <a:p>
            <a:pPr>
              <a:spcAft>
                <a:spcPts val="7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Instant Goodwill Recovery: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Dispatches merchant-signed Kannada/Hindi apology + ₹30 coffee pass in 1 tap.</a:t>
            </a:r>
          </a:p>
          <a:p>
            <a:pPr>
              <a:spcAft>
                <a:spcPts val="7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Zero-App Loyalty Milestones: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Automatically celebrates a regular's 10th UPI scan on Soundbox audio.</a:t>
            </a:r>
          </a:p>
          <a:p>
            <a:pPr>
              <a:spcAft>
                <a:spcPts val="7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DPDP-Compliant Privacy: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Strictly honors customer opt-in &amp; enforces 14-day anti-spam cooldowns.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03520"/>
            <a:ext cx="11091672" cy="969264"/>
          </a:xfrm>
          <a:prstGeom prst="roundRect">
            <a:avLst>
              <a:gd name="adj" fmla="val 4000"/>
            </a:avLst>
          </a:prstGeom>
          <a:solidFill>
            <a:srgbClr val="001B4D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413248"/>
            <a:ext cx="106070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0BAF2"/>
                </a:solidFill>
                <a:latin typeface="Liberation Sans"/>
              </a:rPr>
              <a:t>CORE DESIGN PRINCIPLE: "ONE EVENING VOICE ACTION — NEVER ANOTHER DASHBOARD"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724144"/>
            <a:ext cx="106070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FFFFFF"/>
                </a:solidFill>
                <a:latin typeface="Liberation Sans"/>
              </a:rPr>
              <a:t>Instead of expecting shopkeepers to analyze graphs, VyaparVoice speaks ONE high-confidence recommendation at 8:30 PM closing time in Kannada, Hindi, or English. The merchant simply says "Haudu / Haan, bhej do" — and AI executes end-to-end.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3973068" cy="292608"/>
          </a:xfrm>
          <a:prstGeom prst="roundRect">
            <a:avLst>
              <a:gd name="adj" fmla="val 45000"/>
            </a:avLst>
          </a:prstGeom>
          <a:solidFill>
            <a:srgbClr val="E0F7FE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01752"/>
            <a:ext cx="3881628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002970"/>
                </a:solidFill>
                <a:latin typeface="Liberation Sans"/>
              </a:rPr>
              <a:t>02B · CLOSED-LOOP USER JOURNEY &amp; LIVE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83464"/>
            <a:ext cx="2697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475569"/>
                </a:solidFill>
                <a:latin typeface="Liberation Sans"/>
              </a:rPr>
              <a:t>PaytmAI VyaparVoice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64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250" b="1" i="0">
                <a:solidFill>
                  <a:srgbClr val="0F172A"/>
                </a:solidFill>
                <a:latin typeface="Liberation Sans"/>
              </a:rPr>
              <a:t>60 Seconds at Closing Time: From UPI Signal to Verified ₹1,740 Net Lift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10642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475569"/>
                </a:solidFill>
                <a:latin typeface="Liberation Sans"/>
              </a:rPr>
              <a:t>End-to-end workflow already running in our Working MVP Prototype (Sri Krishna Darshini, Indiranagar dataset).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1672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777240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475569"/>
                </a:solidFill>
                <a:latin typeface="Liberation Sans"/>
              </a:rPr>
              <a:t>Paytm Build for India AI Hackathon – Bengaluru Edition  |  Team SemiTechnical (Kevin Joseph)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24712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Slide 4 /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36192"/>
            <a:ext cx="2633472" cy="2304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536192"/>
            <a:ext cx="2633472" cy="329184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581912"/>
            <a:ext cx="241401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STEP 1 · 8:25 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956816"/>
            <a:ext cx="23774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F172A"/>
                </a:solidFill>
                <a:latin typeface="Liberation Sans"/>
              </a:rPr>
              <a:t>Zero-Entry UPI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2304288"/>
            <a:ext cx="2377440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80" b="0" i="0">
                <a:solidFill>
                  <a:srgbClr val="475569"/>
                </a:solidFill>
                <a:latin typeface="Liberation Sans"/>
              </a:rPr>
              <a:t>SQLite/Postgres RFM engine scans 1,613 Paytm QR txns across 240 payers. Flags 48 evening regulars silent for 16–28 days.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1256" y="2487168"/>
            <a:ext cx="18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0284C7"/>
                </a:solidFill>
                <a:latin typeface="Liberation Sans"/>
              </a:rP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536192"/>
            <a:ext cx="2633472" cy="2304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64992" y="1536192"/>
            <a:ext cx="2633472" cy="32918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1581912"/>
            <a:ext cx="241401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STEP 2 · 8:29 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1956816"/>
            <a:ext cx="23774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F172A"/>
                </a:solidFill>
                <a:latin typeface="Liberation Sans"/>
              </a:rPr>
              <a:t>5-Rule Policy Guardrail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2304288"/>
            <a:ext cx="2377440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80" b="0" i="0">
                <a:solidFill>
                  <a:srgbClr val="475569"/>
                </a:solidFill>
                <a:latin typeface="Liberation Sans"/>
              </a:rPr>
              <a:t>Filters to 40 DPDP-consented &amp; cooldown-clear users. Verifies ₹25 off ₹150+ (16.7% ≤ 22% margin cap) &amp; locks ₹300 max spend.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8" y="2487168"/>
            <a:ext cx="18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0284C7"/>
                </a:solidFill>
                <a:latin typeface="Liberation Sans"/>
              </a:rPr>
              <a:t>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1536192"/>
            <a:ext cx="2633472" cy="2304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1344" y="1536192"/>
            <a:ext cx="2633472" cy="3291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1581912"/>
            <a:ext cx="241401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STEP 3 · 8:30 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1956816"/>
            <a:ext cx="23774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F172A"/>
                </a:solidFill>
                <a:latin typeface="Liberation Sans"/>
              </a:rPr>
              <a:t>Vernacular Voice Pitch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304288"/>
            <a:ext cx="2377440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80" b="0" i="0">
                <a:solidFill>
                  <a:srgbClr val="475569"/>
                </a:solidFill>
                <a:latin typeface="Liberation Sans"/>
              </a:rPr>
              <a:t>Soundbox speaks pitch in Kannada/Hindi/English. Merchant replies "Haudu, approve!" (or 1-tap). 32 nudged; 8 held in silent Control.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487168"/>
            <a:ext cx="18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0284C7"/>
                </a:solidFill>
                <a:latin typeface="Liberation Sans"/>
              </a:rPr>
              <a:t>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97696" y="1536192"/>
            <a:ext cx="2633472" cy="2304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97696" y="1536192"/>
            <a:ext cx="2633472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581912"/>
            <a:ext cx="241401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STEP 4 · +48 HOURS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5712" y="1956816"/>
            <a:ext cx="23774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F172A"/>
                </a:solidFill>
                <a:latin typeface="Liberation Sans"/>
              </a:rPr>
              <a:t>Causal ROI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2304288"/>
            <a:ext cx="2377440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80" b="0" i="0">
                <a:solidFill>
                  <a:srgbClr val="475569"/>
                </a:solidFill>
                <a:latin typeface="Liberation Sans"/>
              </a:rPr>
              <a:t>12/32 nudged regulars scan &amp; pay (37.5%) vs 1/8 Control (12.5%). Soundbox reports +₹1,740 net new sales on ₹300 spend (5.8x ROI).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059936"/>
            <a:ext cx="1109167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059936"/>
            <a:ext cx="11091672" cy="36576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114800"/>
            <a:ext cx="10698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0BAF2"/>
                </a:solidFill>
                <a:latin typeface="Liberation Sans"/>
              </a:rPr>
              <a:t>LIVE WORKING PROTOTYPE INCLUDED  ·  REAL FASTAPI + SQLITE COMPUTATION (ZERO HARDCODED MOCK NUMBERS)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553712"/>
            <a:ext cx="3456432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02970"/>
                </a:solidFill>
                <a:latin typeface="Liberation Sans"/>
              </a:rPr>
              <a:t>01 · Interactive AI Soundbox Simulator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882896"/>
            <a:ext cx="3456432" cy="12618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75569"/>
                </a:solidFill>
                <a:latin typeface="Liberation Sans"/>
              </a:rPr>
              <a:t>• Live switch between English, Kannada (KN), and Hindi (HI) evening voice briefings.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75569"/>
                </a:solidFill>
                <a:latin typeface="Liberation Sans"/>
              </a:rPr>
              <a:t>• Browser SpeechSynthesis + Microphone voice intent recognition ('Haudu / Haan, approve!').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75569"/>
                </a:solidFill>
                <a:latin typeface="Liberation Sans"/>
              </a:rPr>
              <a:t>• Animated Soundbox LED + real-time LCD status readout.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4553712"/>
            <a:ext cx="3456432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02970"/>
                </a:solidFill>
                <a:latin typeface="Liberation Sans"/>
              </a:rPr>
              <a:t>02 · Deterministic Policy Inspector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2" y="4882896"/>
            <a:ext cx="3456432" cy="12618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75569"/>
                </a:solidFill>
                <a:latin typeface="Liberation Sans"/>
              </a:rPr>
              <a:t>• Displays exact pass/fail counts on every campaign card before merchant approval.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75569"/>
                </a:solidFill>
                <a:latin typeface="Liberation Sans"/>
              </a:rPr>
              <a:t>• Enforces DPDP opt-in (43/48), 14d cooldown (40/43), ≤22% discount floor, and ₹300 hard liability cutoff.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4" y="4553712"/>
            <a:ext cx="3456432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02970"/>
                </a:solidFill>
                <a:latin typeface="Liberation Sans"/>
              </a:rPr>
              <a:t>03 · 48-Hr Time-Travel &amp; Ops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0144" y="4882896"/>
            <a:ext cx="3456432" cy="12618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75569"/>
                </a:solidFill>
                <a:latin typeface="Liberation Sans"/>
              </a:rPr>
              <a:t>• 1-click simulation inserts redemption UPI scans into SQLite &amp; computes causal lift vs 20% holdout.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75569"/>
                </a:solidFill>
                <a:latin typeface="Liberation Sans"/>
              </a:rPr>
              <a:t>• Includes Weekend Dairy Supplier WhatsApp PO (+18L milk) &amp; Queue-Delay Goodwill Recovery.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3278124" cy="292608"/>
          </a:xfrm>
          <a:prstGeom prst="roundRect">
            <a:avLst>
              <a:gd name="adj" fmla="val 45000"/>
            </a:avLst>
          </a:prstGeom>
          <a:solidFill>
            <a:srgbClr val="E0F7FE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01752"/>
            <a:ext cx="3186684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002970"/>
                </a:solidFill>
                <a:latin typeface="Liberation Sans"/>
              </a:rPr>
              <a:t>03 · TECHNOLOGY &amp; TECH STACK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83464"/>
            <a:ext cx="2697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475569"/>
                </a:solidFill>
                <a:latin typeface="Liberation Sans"/>
              </a:rPr>
              <a:t>PaytmAI VyaparVoice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64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250" b="1" i="0">
                <a:solidFill>
                  <a:srgbClr val="0F172A"/>
                </a:solidFill>
                <a:latin typeface="Liberation Sans"/>
              </a:rPr>
              <a:t>Low-Latency, Guardrailed Agentic Architecture Built for Vernacular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10642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475569"/>
                </a:solidFill>
                <a:latin typeface="Liberation Sans"/>
              </a:rPr>
              <a:t>LLMs handle natural vernacular conversation; deterministic Python engines govern money, consent, and math.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1672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777240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475569"/>
                </a:solidFill>
                <a:latin typeface="Liberation Sans"/>
              </a:rPr>
              <a:t>Paytm Build for India AI Hackathon – Bengaluru Edition  |  Team SemiTechnical (Kevin Joseph)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24712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Slide 5 /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481328"/>
            <a:ext cx="2514600" cy="1078992"/>
          </a:xfrm>
          <a:prstGeom prst="rect">
            <a:avLst/>
          </a:prstGeom>
          <a:solidFill>
            <a:srgbClr val="00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700784"/>
            <a:ext cx="2267712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Liberation Sans"/>
              </a:rPr>
              <a:t>LAYER 1 · MERCHANT &amp; CUSTOMER TOUCHPOINTS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8688" y="1591056"/>
            <a:ext cx="2651760" cy="85953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016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1645920"/>
            <a:ext cx="2468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Paytm AI Soundbox 4G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1901952"/>
            <a:ext cx="24688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i="0">
                <a:solidFill>
                  <a:srgbClr val="475569"/>
                </a:solidFill>
                <a:latin typeface="Liberation Sans"/>
              </a:rPr>
              <a:t>Scheduled evening audio briefing + single-button / voice confirmation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8464" y="1591056"/>
            <a:ext cx="2651760" cy="85953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016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1645920"/>
            <a:ext cx="2468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Paytm for Business PWA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1901952"/>
            <a:ext cx="24688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i="0">
                <a:solidFill>
                  <a:srgbClr val="475569"/>
                </a:solidFill>
                <a:latin typeface="Liberation Sans"/>
              </a:rPr>
              <a:t>Lightweight React/HTML5 visual companion card &amp; live ROI tracker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591056"/>
            <a:ext cx="2651760" cy="85953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016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645920"/>
            <a:ext cx="2468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Paytm App &amp; WhatsApp 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901952"/>
            <a:ext cx="24688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i="0">
                <a:solidFill>
                  <a:srgbClr val="475569"/>
                </a:solidFill>
                <a:latin typeface="Liberation Sans"/>
              </a:rPr>
              <a:t>Instant UPI Cashback Pass delivery &amp; 1-tap supplier WhatsApp POs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688336"/>
            <a:ext cx="2514600" cy="1078992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2907792"/>
            <a:ext cx="2267712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Liberation Sans"/>
              </a:rPr>
              <a:t>LAYER 2 · INDIC VOICE &amp; AGENTIC INTELLIGENCE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18688" y="2798064"/>
            <a:ext cx="2651760" cy="85953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016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2852928"/>
            <a:ext cx="2468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Sarvam AI + Web Speech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3108960"/>
            <a:ext cx="24688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i="0">
                <a:solidFill>
                  <a:srgbClr val="475569"/>
                </a:solidFill>
                <a:latin typeface="Liberation Sans"/>
              </a:rPr>
              <a:t>Natural Kannada, Hindi, Tamil &amp; Indian-English ASR + TTS (&lt;400ms latency)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98464" y="2798064"/>
            <a:ext cx="2651760" cy="85953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016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9904" y="2852928"/>
            <a:ext cx="2468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SLM / LLM Intent Router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9904" y="3108960"/>
            <a:ext cx="24688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i="0">
                <a:solidFill>
                  <a:srgbClr val="475569"/>
                </a:solidFill>
                <a:latin typeface="Liberation Sans"/>
              </a:rPr>
              <a:t>Llama-3.3 / Qwen structured tool-calling via Groq for ultra-low inference cost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2798064"/>
            <a:ext cx="2651760" cy="85953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016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2852928"/>
            <a:ext cx="2468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Semantic Store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108960"/>
            <a:ext cx="24688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i="0">
                <a:solidFill>
                  <a:srgbClr val="475569"/>
                </a:solidFill>
                <a:latin typeface="Liberation Sans"/>
              </a:rPr>
              <a:t>Cognee / Vector store retaining merchant margin preferences &amp; local calendar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3895344"/>
            <a:ext cx="2514600" cy="107899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114800"/>
            <a:ext cx="2267712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Liberation Sans"/>
              </a:rPr>
              <a:t>LAYER 3 · DETERMINISTIC POLICY, RFM &amp; CAUSAL ENGINE (CORE)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18688" y="4005072"/>
            <a:ext cx="2651760" cy="85953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016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10128" y="4059935"/>
            <a:ext cx="2468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Python FastAPI 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10128" y="4315968"/>
            <a:ext cx="24688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i="0">
                <a:solidFill>
                  <a:srgbClr val="475569"/>
                </a:solidFill>
                <a:latin typeface="Liberation Sans"/>
              </a:rPr>
              <a:t>Async microservices computing RFM cohorts &amp; hourly velocity troughs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98464" y="4005072"/>
            <a:ext cx="2651760" cy="85953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016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9904" y="4059935"/>
            <a:ext cx="2468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5-Rule Policy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9904" y="4315968"/>
            <a:ext cx="24688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i="0">
                <a:solidFill>
                  <a:srgbClr val="475569"/>
                </a:solidFill>
                <a:latin typeface="Liberation Sans"/>
              </a:rPr>
              <a:t>Hard deterministic checks: DPDP consent, 14d cooldown, margin floor &amp; ₹ cap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0" y="4005072"/>
            <a:ext cx="2651760" cy="85953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016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0" y="4059935"/>
            <a:ext cx="2468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80/20 Holdout Attribution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4315968"/>
            <a:ext cx="24688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i="0">
                <a:solidFill>
                  <a:srgbClr val="475569"/>
                </a:solidFill>
                <a:latin typeface="Liberation Sans"/>
              </a:rPr>
              <a:t>Randomized control split &amp; redemption matcher calculating true incremental ₹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102352"/>
            <a:ext cx="11091672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102352"/>
            <a:ext cx="2514600" cy="10789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321808"/>
            <a:ext cx="2267712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Liberation Sans"/>
              </a:rPr>
              <a:t>LAYER 4 · TRANSACTION DATA &amp; EVENT ORCHESTRATION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18688" y="5212080"/>
            <a:ext cx="2651760" cy="85953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016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10128" y="5266944"/>
            <a:ext cx="2468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PostgreSQL / SQLite Ledger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0128" y="5522976"/>
            <a:ext cx="24688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i="0">
                <a:solidFill>
                  <a:srgbClr val="475569"/>
                </a:solidFill>
                <a:latin typeface="Liberation Sans"/>
              </a:rPr>
              <a:t>Paytm QR UPI scan stream, customer consent state &amp; immutable audit trail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98464" y="5212080"/>
            <a:ext cx="2651760" cy="85953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016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9904" y="5266944"/>
            <a:ext cx="2468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Redis Coupon Counter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9904" y="5522976"/>
            <a:ext cx="24688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i="0">
                <a:solidFill>
                  <a:srgbClr val="475569"/>
                </a:solidFill>
                <a:latin typeface="Liberation Sans"/>
              </a:rPr>
              <a:t>Sub-millisecond atomic redemption counter enforcing instant ₹300 budget cutoff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778240" y="5212080"/>
            <a:ext cx="2651760" cy="85953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016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0" y="5266944"/>
            <a:ext cx="2468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2970"/>
                </a:solidFill>
                <a:latin typeface="Liberation Sans"/>
              </a:rPr>
              <a:t>n8n Workflow Automation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522976"/>
            <a:ext cx="24688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i="0">
                <a:solidFill>
                  <a:srgbClr val="475569"/>
                </a:solidFill>
                <a:latin typeface="Liberation Sans"/>
              </a:rPr>
              <a:t>8:30 PM closing cron triggers, 48h ROI report callbacks &amp; supplier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3625596" cy="292608"/>
          </a:xfrm>
          <a:prstGeom prst="roundRect">
            <a:avLst>
              <a:gd name="adj" fmla="val 45000"/>
            </a:avLst>
          </a:prstGeom>
          <a:solidFill>
            <a:srgbClr val="E0F7FE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01752"/>
            <a:ext cx="353415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002970"/>
                </a:solidFill>
                <a:latin typeface="Liberation Sans"/>
              </a:rPr>
              <a:t>04 · UNIQUE SELLING PROPOSITION (USP)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83464"/>
            <a:ext cx="2697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475569"/>
                </a:solidFill>
                <a:latin typeface="Liberation Sans"/>
              </a:rPr>
              <a:t>PaytmAI VyaparVoice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64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250" b="1" i="0">
                <a:solidFill>
                  <a:srgbClr val="0F172A"/>
                </a:solidFill>
                <a:latin typeface="Liberation Sans"/>
              </a:rPr>
              <a:t>Why VyaparVoice Wins Where Dashboards &amp; Generic AI Chatbots Fail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10642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475569"/>
                </a:solidFill>
                <a:latin typeface="Liberation Sans"/>
              </a:rPr>
              <a:t>Purpose-built around Paytm's unfair hardware + UPI network moat and Indian shopkeeper behavior.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1672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777240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475569"/>
                </a:solidFill>
                <a:latin typeface="Liberation Sans"/>
              </a:rPr>
              <a:t>Paytm Build for India AI Hackathon – Bengaluru Edition  |  Team SemiTechnical (Kevin Joseph)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24712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Slide 6 / 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36192"/>
          <a:ext cx="1109167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651760"/>
                <a:gridCol w="2651760"/>
                <a:gridCol w="3639312"/>
              </a:tblGrid>
              <a:tr h="5562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Dimension</a:t>
                      </a:r>
                    </a:p>
                  </a:txBody>
                  <a:tcPr anchor="ctr">
                    <a:solidFill>
                      <a:srgbClr val="001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Traditional BI / Khata Apps</a:t>
                      </a:r>
                    </a:p>
                  </a:txBody>
                  <a:tcPr anchor="ctr">
                    <a:solidFill>
                      <a:srgbClr val="001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Generic 'Chat-With-Data' AI</a:t>
                      </a:r>
                    </a:p>
                  </a:txBody>
                  <a:tcPr anchor="ctr">
                    <a:solidFill>
                      <a:srgbClr val="001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PaytmAI VyaparVoice (Ours)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Merchant Effort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75569"/>
                          </a:solidFill>
                          <a:latin typeface="Liberation Sans"/>
                        </a:defRPr>
                      </a:pPr>
                      <a:r>
                        <a:t>Manual entry + complex charts (&lt;8% weekly active usage)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75569"/>
                          </a:solidFill>
                          <a:latin typeface="Liberation Sans"/>
                        </a:defRPr>
                      </a:pPr>
                      <a:r>
                        <a:t>Requires typing prompts &amp; asking the right business question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Proactive 20-sec Kannada/Hindi Soundbox briefing + 'Haan' voice approval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Customer Data Source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75569"/>
                          </a:solidFill>
                          <a:latin typeface="Liberation Sans"/>
                        </a:defRPr>
                      </a:pPr>
                      <a:r>
                        <a:t>Manual phonebook / incomplete paper bills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75569"/>
                          </a:solidFill>
                          <a:latin typeface="Liberation Sans"/>
                        </a:defRPr>
                      </a:pPr>
                      <a:r>
                        <a:t>Disconnected from real payment identity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Zero-entry Paytm QR repeat-payer graph across 1.57 Cr storefronts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Financial &amp; Legal Safety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75569"/>
                          </a:solidFill>
                          <a:latin typeface="Liberation Sans"/>
                        </a:defRPr>
                      </a:pPr>
                      <a:r>
                        <a:t>Static rules; manual coupon abuse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75569"/>
                          </a:solidFill>
                          <a:latin typeface="Liberation Sans"/>
                        </a:defRPr>
                      </a:pPr>
                      <a:r>
                        <a:t>LLM hallucination risk on discounts &amp; spam violations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Deterministic 5-rule policy engine (DPDP opt-in, margin cap, ₹300 cutoff)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Action Execution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75569"/>
                          </a:solidFill>
                          <a:latin typeface="Liberation Sans"/>
                        </a:defRPr>
                      </a:pPr>
                      <a:r>
                        <a:t>Passive insights only — merchant must act alone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75569"/>
                          </a:solidFill>
                          <a:latin typeface="Liberation Sans"/>
                        </a:defRPr>
                      </a:pPr>
                      <a:r>
                        <a:t>Text suggestions only; no payment rail hook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Closed-loop Paytm UPI Cashback Pass + 1-tap WhatsApp Supplier PO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Proof of ROI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75569"/>
                          </a:solidFill>
                          <a:latin typeface="Liberation Sans"/>
                        </a:defRPr>
                      </a:pPr>
                      <a:r>
                        <a:t>Vanity SMS sent / message open counts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75569"/>
                          </a:solidFill>
                          <a:latin typeface="Liberation Sans"/>
                        </a:defRPr>
                      </a:pPr>
                      <a:r>
                        <a:t>No causal measurement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Liberation Sans"/>
                        </a:defRPr>
                      </a:pPr>
                      <a:r>
                        <a:t>Built-in 80/20 Holdout Control Split proving true net incremental ₹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5065776"/>
            <a:ext cx="3547872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5175504"/>
            <a:ext cx="3255264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02970"/>
                </a:solidFill>
                <a:latin typeface="Liberation Sans"/>
              </a:rPr>
              <a:t>1. Hardware Distribution Moat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5468112"/>
            <a:ext cx="3255264" cy="6766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 i="0">
                <a:solidFill>
                  <a:srgbClr val="475569"/>
                </a:solidFill>
                <a:latin typeface="Liberation Sans"/>
              </a:rPr>
              <a:t>Rides on Paytm's deployed 1.57 Cr Soundboxes — zero extra hardware capex or new app install.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5065776"/>
            <a:ext cx="3547872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5175504"/>
            <a:ext cx="3255264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02970"/>
                </a:solidFill>
                <a:latin typeface="Liberation Sans"/>
              </a:rPr>
              <a:t>2. Zero-Friction Redemption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5468112"/>
            <a:ext cx="3255264" cy="6766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 i="0">
                <a:solidFill>
                  <a:srgbClr val="475569"/>
                </a:solidFill>
                <a:latin typeface="Liberation Sans"/>
              </a:rPr>
              <a:t>Cashback unlocks automatically when the customer scans the merchant's Paytm QR — zero cashier training.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5065776"/>
            <a:ext cx="3547872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5175504"/>
            <a:ext cx="3255264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02970"/>
                </a:solidFill>
                <a:latin typeface="Liberation Sans"/>
              </a:rPr>
              <a:t>3. Trust Through Honest Math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468112"/>
            <a:ext cx="3255264" cy="6766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 i="0">
                <a:solidFill>
                  <a:srgbClr val="475569"/>
                </a:solidFill>
                <a:latin typeface="Liberation Sans"/>
              </a:rPr>
              <a:t>Showing holdout-verified net ₹ lift builds lasting merchant trust to renew SaaS every month.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322576" cy="292608"/>
          </a:xfrm>
          <a:prstGeom prst="roundRect">
            <a:avLst>
              <a:gd name="adj" fmla="val 45000"/>
            </a:avLst>
          </a:prstGeom>
          <a:solidFill>
            <a:srgbClr val="E0F7FE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01752"/>
            <a:ext cx="223113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002970"/>
                </a:solidFill>
                <a:latin typeface="Liberation Sans"/>
              </a:rPr>
              <a:t>05 · IMPACT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83464"/>
            <a:ext cx="2697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475569"/>
                </a:solidFill>
                <a:latin typeface="Liberation Sans"/>
              </a:rPr>
              <a:t>PaytmAI VyaparVoice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64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250" b="1" i="0">
                <a:solidFill>
                  <a:srgbClr val="0F172A"/>
                </a:solidFill>
                <a:latin typeface="Liberation Sans"/>
              </a:rPr>
              <a:t>Win-Win Flywheel: Verified Rupee Profit for Shops &amp; Stickiness for Paytm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10642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475569"/>
                </a:solidFill>
                <a:latin typeface="Liberation Sans"/>
              </a:rPr>
              <a:t>Every incremental repeat visit grows merchant income while compounding Paytm's GMV, device ARPU, and credit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1672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777240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475569"/>
                </a:solidFill>
                <a:latin typeface="Liberation Sans"/>
              </a:rPr>
              <a:t>Paytm Build for India AI Hackathon – Bengaluru Edition  |  Team SemiTechnical (Kevin Joseph)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24712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Slide 7 /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36192"/>
            <a:ext cx="5897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536192"/>
            <a:ext cx="91440" cy="228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645920"/>
            <a:ext cx="54864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59669"/>
                </a:solidFill>
                <a:latin typeface="Liberation Sans"/>
              </a:rPr>
              <a:t>FOR PAYTM MERCHANTS (1.57 CR SMBs)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1975104"/>
            <a:ext cx="553212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+14% to +22% Repeat Visits: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Recovers silent churned regulars before they switch permanently to competitors.</a:t>
            </a:r>
          </a:p>
          <a:p>
            <a:pPr>
              <a:spcAft>
                <a:spcPts val="5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5.8x Verified Campaign ROI: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+₹1,740 net incremental sales on ₹300 capped spend in 48h MVP simulation.</a:t>
            </a:r>
          </a:p>
          <a:p>
            <a:pPr>
              <a:spcAft>
                <a:spcPts val="5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&lt; 60 Seconds Daily Effort: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100% hands-free Kannada/Hindi voice workflow while closing the shutter.</a:t>
            </a:r>
          </a:p>
          <a:p>
            <a:pPr>
              <a:spcAft>
                <a:spcPts val="5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-18% Dead-Hour &amp; Stock Loss: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Afternoon combo nudges + predictive weekend dairy/staple POs protect margins.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68496"/>
            <a:ext cx="5897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68496"/>
            <a:ext cx="91440" cy="22860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078224"/>
            <a:ext cx="54864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02970"/>
                </a:solidFill>
                <a:latin typeface="Liberation Sans"/>
              </a:rPr>
              <a:t>FOR PAYTM ECOSYSTEM (STRATEGIC FLYWHEEL)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407408"/>
            <a:ext cx="553212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-35% Soundbox Churn: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Transforms Soundbox from a ₹100/mo cost center into a visible profit-generating partner.</a:t>
            </a:r>
          </a:p>
          <a:p>
            <a:pPr>
              <a:spcAft>
                <a:spcPts val="5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+12–15% Store QR GMV: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Cashback passes require payment via Paytm UPI QR, capturing greater counter share.</a:t>
            </a:r>
          </a:p>
          <a:p>
            <a:pPr>
              <a:spcAft>
                <a:spcPts val="5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7% → 15% Lending Funnel: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Verified retention stability &amp; cashflow curves unlock low-risk merchant loan distribution.</a:t>
            </a:r>
          </a:p>
          <a:p>
            <a:pPr>
              <a:spcAft>
                <a:spcPts val="500"/>
              </a:spcAft>
            </a:pPr>
            <a:r>
              <a:rPr sz="1080" b="1">
                <a:solidFill>
                  <a:srgbClr val="002970"/>
                </a:solidFill>
                <a:latin typeface="Liberation Sans"/>
              </a:rPr>
              <a:t>▸ Consumer App Stickiness: </a:t>
            </a:r>
            <a:r>
              <a:rPr sz="1080" b="0">
                <a:solidFill>
                  <a:srgbClr val="475569"/>
                </a:solidFill>
                <a:latin typeface="Liberation Sans"/>
              </a:rPr>
              <a:t>Hyperlocal rewards from neighborhood darshinis &amp; kiranas boost daily Paytm app opens.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1536192"/>
            <a:ext cx="5010912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art_holdout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1609344"/>
            <a:ext cx="4846320" cy="260604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629400" y="4645152"/>
            <a:ext cx="1572768" cy="1609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4901184"/>
            <a:ext cx="1426464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059669"/>
                </a:solidFill>
                <a:latin typeface="Liberation Sans"/>
              </a:rPr>
              <a:t>5.8x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5504688"/>
            <a:ext cx="1426464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475569"/>
                </a:solidFill>
                <a:latin typeface="Liberation Sans"/>
              </a:rPr>
              <a:t>Avg Net Campaign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48471" y="4645152"/>
            <a:ext cx="1572768" cy="1609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1624" y="4901184"/>
            <a:ext cx="1426464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002970"/>
                </a:solidFill>
                <a:latin typeface="Liberation Sans"/>
              </a:rPr>
              <a:t>+79%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5504688"/>
            <a:ext cx="1426464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475569"/>
                </a:solidFill>
                <a:latin typeface="Liberation Sans"/>
              </a:rPr>
              <a:t>Soundbox ARPU Lift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67544" y="4645152"/>
            <a:ext cx="1572768" cy="1609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0696" y="4901184"/>
            <a:ext cx="1426464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0284C7"/>
                </a:solidFill>
                <a:latin typeface="Liberation Sans"/>
              </a:rPr>
              <a:t>&lt; ₹2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0696" y="5504688"/>
            <a:ext cx="1426464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475569"/>
                </a:solidFill>
                <a:latin typeface="Liberation Sans"/>
              </a:rPr>
              <a:t>Monthly AI Cost / Shop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103120" cy="292608"/>
          </a:xfrm>
          <a:prstGeom prst="roundRect">
            <a:avLst>
              <a:gd name="adj" fmla="val 45000"/>
            </a:avLst>
          </a:prstGeom>
          <a:solidFill>
            <a:srgbClr val="E0F7FE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01752"/>
            <a:ext cx="2011679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002970"/>
                </a:solidFill>
                <a:latin typeface="Liberation Sans"/>
              </a:rPr>
              <a:t>06 ·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83464"/>
            <a:ext cx="2697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475569"/>
                </a:solidFill>
                <a:latin typeface="Liberation Sans"/>
              </a:rPr>
              <a:t>PaytmAI VyaparVoice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642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250" b="1" i="0">
                <a:solidFill>
                  <a:srgbClr val="0F172A"/>
                </a:solidFill>
                <a:latin typeface="Liberation Sans"/>
              </a:rPr>
              <a:t>Zero-CAC SaaS + Pay-for-Success Take-Rate Scaling to ₹243 Cr+ ARR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10642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475569"/>
                </a:solidFill>
                <a:latin typeface="Liberation Sans"/>
              </a:rPr>
              <a:t>Monetizes Paytm's existing 1.57 Cr merchant billing rail with &gt;78% software gross margins.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1672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777240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475569"/>
                </a:solidFill>
                <a:latin typeface="Liberation Sans"/>
              </a:rPr>
              <a:t>Paytm Build for India AI Hackathon – Bengaluru Edition  |  Team SemiTechnical (Kevin Joseph)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24712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80" b="1" i="0">
                <a:solidFill>
                  <a:srgbClr val="002970"/>
                </a:solidFill>
                <a:latin typeface="Liberation Sans"/>
              </a:rPr>
              <a:t>Slide 8 /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36192"/>
            <a:ext cx="580644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536192"/>
            <a:ext cx="91440" cy="109728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645919"/>
            <a:ext cx="5468112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20" b="1" i="0">
                <a:solidFill>
                  <a:srgbClr val="002970"/>
                </a:solidFill>
                <a:latin typeface="Liberation Sans"/>
              </a:rPr>
              <a:t>1. Soundbox 'Growth Pro' SaaS Add-On — ₹79 /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38528"/>
            <a:ext cx="5468112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0" i="0">
                <a:solidFill>
                  <a:srgbClr val="475569"/>
                </a:solidFill>
                <a:latin typeface="Liberation Sans"/>
              </a:rPr>
              <a:t>Bundled onto existing ₹100/mo Soundbox subscription (+79% device ARPU uplift) with near-zero customer acquisition cost. First 2 win-back campaigns free to prove ROI before billing.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61488"/>
            <a:ext cx="580644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61488"/>
            <a:ext cx="91440" cy="1097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871216"/>
            <a:ext cx="5468112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20" b="1" i="0">
                <a:solidFill>
                  <a:srgbClr val="0284C7"/>
                </a:solidFill>
                <a:latin typeface="Liberation Sans"/>
              </a:rPr>
              <a:t>2. Pay-for-Success Redemption Micro-Fee — 5% of Attributed Promo Bill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163824"/>
            <a:ext cx="5468112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0" i="0">
                <a:solidFill>
                  <a:srgbClr val="475569"/>
                </a:solidFill>
                <a:latin typeface="Liberation Sans"/>
              </a:rPr>
              <a:t>Charged ONLY when a nudged customer scans &amp; pays at the counter (e.g., ~₹9.50 fee on a ₹190 recovered bill). 100% risk-free alignment for small shopkeepers.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86784"/>
            <a:ext cx="580644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86784"/>
            <a:ext cx="91440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096512"/>
            <a:ext cx="5468112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20" b="1" i="0">
                <a:solidFill>
                  <a:srgbClr val="059669"/>
                </a:solidFill>
                <a:latin typeface="Liberation Sans"/>
              </a:rPr>
              <a:t>3. Merchant Lending Origination Uplift — 1.5% to 2.5% Partner Fee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389120"/>
            <a:ext cx="5468112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0" i="0">
                <a:solidFill>
                  <a:srgbClr val="475569"/>
                </a:solidFill>
                <a:latin typeface="Liberation Sans"/>
              </a:rPr>
              <a:t>High-retention merchants growing GMV via VyaparVoice pre-qualify for Paytm's asset-light NBFC/bank working-capital loans, expanding Paytm's highest-margin revenue engine.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48656"/>
            <a:ext cx="5806440" cy="1005840"/>
          </a:xfrm>
          <a:prstGeom prst="roundRect">
            <a:avLst>
              <a:gd name="adj" fmla="val 4000"/>
            </a:avLst>
          </a:prstGeom>
          <a:solidFill>
            <a:srgbClr val="001B4D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40096"/>
            <a:ext cx="5440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0BAF2"/>
                </a:solidFill>
                <a:latin typeface="Liberation Sans"/>
              </a:rPr>
              <a:t>UNIT ECONOMICS PER ACTIVE MERCHANT / MONTH (~81% GROSS MARGIN)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14416"/>
            <a:ext cx="5440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 i="0">
                <a:solidFill>
                  <a:srgbClr val="FFFFFF"/>
                </a:solidFill>
                <a:latin typeface="Liberation Sans"/>
              </a:rPr>
              <a:t>Blended Monthly ARPU: ₹258/shop (₹79 SaaS + ₹102 Promo Fee + ₹77 Credit Uplift)</a:t>
            </a:r>
          </a:p>
          <a:p>
            <a:pPr algn="l">
              <a:spcAft>
                <a:spcPts val="200"/>
              </a:spcAft>
            </a:pPr>
            <a:r>
              <a:rPr sz="1030" b="0" i="0">
                <a:solidFill>
                  <a:srgbClr val="FFFFFF"/>
                </a:solidFill>
                <a:latin typeface="Liberation Sans"/>
              </a:rPr>
              <a:t>Monthly COGS: ~₹48/shop (SLM inference ₹1.80 + Cached Indic TTS ₹3.20 + WhatsApp/Push ₹43)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1536192"/>
            <a:ext cx="5102352" cy="3127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art_arr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1609344"/>
            <a:ext cx="4937760" cy="2693324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537960" y="4809744"/>
            <a:ext cx="5102352" cy="1444752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919472"/>
            <a:ext cx="4754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59669"/>
                </a:solidFill>
                <a:latin typeface="Liberation Sans"/>
              </a:rPr>
              <a:t>BASE CASE AT JUST 5% DEVICE ADOPTION (7.85 LAKH SHOPS)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230368"/>
            <a:ext cx="4754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950" b="1" i="0">
                <a:solidFill>
                  <a:srgbClr val="0F172A"/>
                </a:solidFill>
                <a:latin typeface="Liberation Sans"/>
              </a:rPr>
              <a:t>₹243 Crore High-Margin ARR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650992"/>
            <a:ext cx="4754880" cy="4937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 i="0">
                <a:solidFill>
                  <a:srgbClr val="475569"/>
                </a:solidFill>
                <a:latin typeface="Liberation Sans"/>
              </a:rPr>
              <a:t>Directly supports Paytm's AI commerce &amp; cloud monetization roadmap with zero balance-sheet credit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3291840" cy="310896"/>
          </a:xfrm>
          <a:prstGeom prst="roundRect">
            <a:avLst>
              <a:gd name="adj" fmla="val 4000"/>
            </a:avLst>
          </a:prstGeom>
          <a:solidFill>
            <a:srgbClr val="002970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310896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80" b="1" i="0">
                <a:solidFill>
                  <a:srgbClr val="00BAF2"/>
                </a:solidFill>
                <a:latin typeface="Liberation Sans"/>
              </a:rPr>
              <a:t>07 · EXECUTION ROADMAP &amp;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Liberation Sans"/>
              </a:rPr>
              <a:t>Built Today, Engineered to Scale to Millions of Storefronts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16736"/>
            <a:ext cx="109728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BAE6FD"/>
                </a:solidFill>
                <a:latin typeface="Liberation Sans"/>
              </a:rPr>
              <a:t>From working Bengaluru hackathon vertical slice to pan-India 11-language Soundbox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520440" cy="2971800"/>
          </a:xfrm>
          <a:prstGeom prst="roundRect">
            <a:avLst>
              <a:gd name="adj" fmla="val 4000"/>
            </a:avLst>
          </a:prstGeom>
          <a:solidFill>
            <a:srgbClr val="002970"/>
          </a:solidFill>
          <a:ln w="1651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93392"/>
            <a:ext cx="3200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0BAF2"/>
                </a:solidFill>
                <a:latin typeface="Liberation Sans"/>
              </a:rPr>
              <a:t>PHASE 1 · BUILT TODAY (MVP)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67712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Liberation Sans"/>
              </a:rPr>
              <a:t>Working Vertical Slice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706624"/>
            <a:ext cx="320040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E2E8F0"/>
                </a:solidFill>
                <a:latin typeface="Liberation Sans"/>
              </a:rPr>
              <a:t>✔  Real SQLite UPI ledger (240 payers, 1,613 scans) + FastAPI RFM &amp; hourly trough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364991"/>
            <a:ext cx="320040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E2E8F0"/>
                </a:solidFill>
                <a:latin typeface="Liberation Sans"/>
              </a:rPr>
              <a:t>✔  Kannada, Hindi &amp; English AI Soundbox voice simulator + speech command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023360"/>
            <a:ext cx="320040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E2E8F0"/>
                </a:solidFill>
                <a:latin typeface="Liberation Sans"/>
              </a:rPr>
              <a:t>✔  5-rule deterministic guardrail engine + 48h causal holdout ROI simulator (5.8x ROI)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47088"/>
            <a:ext cx="3520440" cy="2971800"/>
          </a:xfrm>
          <a:prstGeom prst="roundRect">
            <a:avLst>
              <a:gd name="adj" fmla="val 4000"/>
            </a:avLst>
          </a:prstGeom>
          <a:solidFill>
            <a:srgbClr val="002970"/>
          </a:solidFill>
          <a:ln w="1651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993392"/>
            <a:ext cx="3200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8BDF8"/>
                </a:solidFill>
                <a:latin typeface="Liberation Sans"/>
              </a:rPr>
              <a:t>PHASE 2 · DAYS 1–45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267712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Liberation Sans"/>
              </a:rPr>
              <a:t>Bengaluru 1,000-Store Live Beta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706624"/>
            <a:ext cx="320040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E2E8F0"/>
                </a:solidFill>
                <a:latin typeface="Liberation Sans"/>
              </a:rPr>
              <a:t>✔  Deploy across 1,000 F&amp;B, kirana &amp; pharmacy Soundbox merchants in Bengaluru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364991"/>
            <a:ext cx="320040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E2E8F0"/>
                </a:solidFill>
                <a:latin typeface="Liberation Sans"/>
              </a:rPr>
              <a:t>✔  Integrate live Sarvam AI streaming audio + Paytm UPI Dynamic Offer Ledger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023360"/>
            <a:ext cx="320040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E2E8F0"/>
                </a:solidFill>
                <a:latin typeface="Liberation Sans"/>
              </a:rPr>
              <a:t>✔  Validate 30-day repeat GMV lift, coupon auto-cutoff &amp; merchant renewal conversion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847088"/>
            <a:ext cx="3520440" cy="2971800"/>
          </a:xfrm>
          <a:prstGeom prst="roundRect">
            <a:avLst>
              <a:gd name="adj" fmla="val 4000"/>
            </a:avLst>
          </a:prstGeom>
          <a:solidFill>
            <a:srgbClr val="002970"/>
          </a:solidFill>
          <a:ln w="165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1993392"/>
            <a:ext cx="3200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4D399"/>
                </a:solidFill>
                <a:latin typeface="Liberation Sans"/>
              </a:rPr>
              <a:t>PHASE 3 · DAYS 45–120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267712"/>
            <a:ext cx="320040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Liberation Sans"/>
              </a:rPr>
              <a:t>Pan-India 11-Language Rollout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706624"/>
            <a:ext cx="320040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E2E8F0"/>
                </a:solidFill>
                <a:latin typeface="Liberation Sans"/>
              </a:rPr>
              <a:t>✔  Expand across all 11 Soundbox languages on Paytm's 1.57 Cr merchant device fleet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364991"/>
            <a:ext cx="320040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E2E8F0"/>
                </a:solidFill>
                <a:latin typeface="Liberation Sans"/>
              </a:rPr>
              <a:t>✔  Launch hyperlocal distributor B2B restock marketplace &amp; FMCG brand-funded offers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4023360"/>
            <a:ext cx="320040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E2E8F0"/>
                </a:solidFill>
                <a:latin typeface="Liberation Sans"/>
              </a:rPr>
              <a:t>✔  Feed verified retention scores into Paytm Intelligence (Pi) credit distribution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102352"/>
            <a:ext cx="11018520" cy="1207008"/>
          </a:xfrm>
          <a:prstGeom prst="roundRect">
            <a:avLst>
              <a:gd name="adj" fmla="val 4000"/>
            </a:avLst>
          </a:prstGeom>
          <a:solidFill>
            <a:srgbClr val="001133"/>
          </a:solidFill>
          <a:ln w="1778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266944"/>
            <a:ext cx="694944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Liberation Sans"/>
              </a:rPr>
              <a:t>PaytmAI VyaparVoice · Every Merchant's AI Growth Partner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87568"/>
            <a:ext cx="69494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0BAF2"/>
                </a:solidFill>
                <a:latin typeface="Liberation Sans"/>
              </a:rPr>
              <a:t>Paytm Build for India AI Hackathon – Bengaluru Edition  |  Track 1: Merchant Growth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5248656"/>
            <a:ext cx="3566160" cy="8778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180" b="1" i="0">
                <a:solidFill>
                  <a:srgbClr val="6EE7B7"/>
                </a:solidFill>
                <a:latin typeface="Liberation Sans"/>
              </a:rPr>
              <a:t>Team: SemiTechnical</a:t>
            </a:r>
          </a:p>
          <a:p>
            <a:pPr algn="r">
              <a:spcAft>
                <a:spcPts val="200"/>
              </a:spcAft>
            </a:pPr>
            <a:r>
              <a:rPr sz="1180" b="1" i="0">
                <a:solidFill>
                  <a:srgbClr val="6EE7B7"/>
                </a:solidFill>
                <a:latin typeface="Liberation Sans"/>
              </a:rPr>
              <a:t>Builder: Kevin Joseph</a:t>
            </a:r>
          </a:p>
          <a:p>
            <a:pPr algn="r">
              <a:spcAft>
                <a:spcPts val="200"/>
              </a:spcAft>
            </a:pPr>
            <a:r>
              <a:rPr sz="1180" b="1" i="0">
                <a:solidFill>
                  <a:srgbClr val="6EE7B7"/>
                </a:solidFill>
                <a:latin typeface="Liberation Sans"/>
              </a:rPr>
              <a:t>Status: Pitch + Live MVP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