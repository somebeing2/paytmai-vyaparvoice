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Kevin Joseph from Team SemiTechnical, presenting PaytmAI VyaparVoice for Track 1, Merchant Growth AI. Per One97 Communications Q1 FY27 disclosures from July 2026, Paytm has 1.57 crore merchant device subscriptions processing Rs 7.1 lakh crore in quarterly GMV. However, small shopkeepers still have no automated retention system: we estimate 25 to 35 percent annual repeat-buyer churn, and dashboard tools fail because counter operators do not type prompts during a 12-hour shift. In our synthetic Bengaluru darshini dataset, afternoon scans between 3 and 5 PM also drop 70 percent below morning peak.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asking merchants to read charts, VyaparVoice speaks one actionable recommendation at 8:30 PM closing time. In our live MVP demo, which runs on a synthetic dataset of 240 payers and 1,613 UPI scans for Sri Krishna Darshini in Indiranagar, the SQL engine detects 48 regulars silent for at least 16 days, with a median gap of 19 days. Before pitching, a 5-rule deterministic Python engine filters out 5 unconsented payers and 3 payers inside a 14-day anti-spam cooldown, leaving 40 eligible customers split 32 treatment and 8 silent control. The merchant approves by button or voice, locking a Rs 25 cashback on bills of Rs 150 or more within a Rs 300 budget cap.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strictly separate what is built and running today from our production integration plan. Built today in our FastAPI and SQLite MVP are live SQL cohort segmentation, the 5-rule deterministic policy engine, the 80/20 holdout calculator, an immutable audit log, and a browser-based Soundbox companion UI with 21 passing automated checks. Sarvam AI voice synthesis and speech recognition are wired via keyless adapters and marked pending until verified during tomorrow's sponsor build window. Integration into Paytm's live QR coupon settlement rail, 4G Soundbox push firmware, WhatsApp Business Cloud, and Redis/Postgres are scoped for the production phase.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report our holdout simulation with full statistical and accounting transparency. In our simulated 48-hour run, 12 of 32 nudged regulars return versus 1 of 8 in control. With N equals 40, Fisher's exact two-sided p-value is 0.24, and the 95 percent Wilson intervals overlap, so this single wave is directional only; reaching 80 percent power requires roughly 46 customers per arm across 4 weekly waves. On accounting: 8 net incremental buyers spending an assumed Rs 217.50 generate Rs 1,740 in incremental sales, so 5.8x is gross sales per rupee of cashback, while 4 organic returners absorb Rs 100 of cashback. At a 30 percent gross margin assumption, incremental gross profit is Rs 522, leaving Rs 222 net profit before fees, or Rs 91.50 net profit after a 5 percent Paytm fee on all redeemed bills.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Paytm already bills 1.57 crore device merchants monthly, distribution rides an existing rail. Rather than relying on a single optimistic projection, we model three cases at 5 percent adoption, or 7.85 lakh shops: a conservative SaaS-only case at Rs 79 per month yielding Rs 74.4 crore ARR; a core product case adding a 5 percent fee on redeemed promo bills yielding Rs 170.5 crore ARR; and a full ecosystem case adding partner lending origination yielding Rs 243.0 crore ARR. Unit COGS is Rs 48 per month assuming 88 percent TTS phrase caching for an 81.4 percent gross margin, or Rs 71.80 per month uncached for a 72.2 percent margin. Next is a 45-day, 50-store Bengaluru pilot powered to validate true causal lift.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A1 preserves the original title slide layout with all unverified claims removed and 5.8x clarified as simulated incremental sales per rupee of cashback.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A2 provides full source citations for Paytm's Q1 FY27 and Q4 FY26 disclosures and explicitly distinguishes assumed SMB churn rates from our synthetic store dataset.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A3 maps each capability across Track 1's three mandates and labels whether each feature is built in SQL today, simulated in the MVP, or planned for production.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A4 replaces the old 'zero mock numbers' banner with an explicit disclosure of our synthetic seed and explains wave-based commitment accounting so merchant spend never exceeds Rs 300.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A5 tags every single technology box as Built in MVP (green), Pending Sponsor Verification or Optional (amber), or Production Plan (grey). Unmeasured latency claims have been removed.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A6 contrasts VyaparVoice against manual BI dashboards and generic LLM chatbots, highlighting deterministic financial guardrails, DPDP privacy, and holdout-based profit accounting.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A7 replaces unvalidated impact claims with explicit Pilot Target labels and fixes the AI cost tile from under Rs 2 to the consistent Rs 5.00 cached figure, or Rs 28.80 uncached.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A8 reconciles every rupee of ARPU, COGS, Sarvam Bulbul v3 versus v2 pricing, cache-hit assumptions, and the three ARR cases.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A9 outlines the concrete validation steps from today's synthetic vertical slice to a statistically powered 50-store Bengaluru pilot and production integration.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410712"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319272"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1 / 5 : PROBLEM &amp; OPPORTUNITY</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1.57 Cr Storefronts Accept QR Payments; Retention Stays Manual</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1 / 5 (Slide 1 / 14)</a:t>
            </a:r>
          </a:p>
        </p:txBody>
      </p:sp>
      <p:sp>
        <p:nvSpPr>
          <p:cNvPr id="10" name="Rounded Rectangle 9"/>
          <p:cNvSpPr/>
          <p:nvPr/>
        </p:nvSpPr>
        <p:spPr>
          <a:xfrm>
            <a:off x="502920" y="1188720"/>
            <a:ext cx="6629400" cy="507492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53312"/>
            <a:ext cx="6309360" cy="4754880"/>
          </a:xfrm>
          <a:prstGeom prst="rect">
            <a:avLst/>
          </a:prstGeom>
          <a:noFill/>
        </p:spPr>
        <p:txBody>
          <a:bodyPr wrap="square" lIns="45720" rIns="45720" tIns="27432" bIns="27432">
            <a:spAutoFit/>
          </a:bodyPr>
          <a:lstStyle/>
          <a:p>
            <a:pPr>
              <a:spcAft>
                <a:spcPts val="1400"/>
              </a:spcAft>
            </a:pPr>
            <a:r>
              <a:rPr sz="1820" b="1">
                <a:solidFill>
                  <a:srgbClr val="002970"/>
                </a:solidFill>
                <a:latin typeface="Liberation Sans"/>
              </a:rPr>
              <a:t>* Verified Paytm Scale: </a:t>
            </a:r>
            <a:r>
              <a:rPr sz="1820" b="0">
                <a:solidFill>
                  <a:srgbClr val="0F172A"/>
                </a:solidFill>
                <a:latin typeface="Liberation Sans"/>
              </a:rPr>
              <a:t>1.57 Cr merchant device subscribers and Rs 7.1L Cr quarterly GMV (Paytm Q1 FY27, Jul 2026).</a:t>
            </a:r>
          </a:p>
          <a:p>
            <a:pPr>
              <a:spcAft>
                <a:spcPts val="1400"/>
              </a:spcAft>
            </a:pPr>
            <a:r>
              <a:rPr sz="1820" b="1">
                <a:solidFill>
                  <a:srgbClr val="002970"/>
                </a:solidFill>
                <a:latin typeface="Liberation Sans"/>
              </a:rPr>
              <a:t>* Silent Repeat Churn: </a:t>
            </a:r>
            <a:r>
              <a:rPr sz="1820" b="0">
                <a:solidFill>
                  <a:srgbClr val="0F172A"/>
                </a:solidFill>
                <a:latin typeface="Liberation Sans"/>
              </a:rPr>
              <a:t>Small shops lose an estimated 25% to 35% of repeat buyers yearly without alerts (Assumption).</a:t>
            </a:r>
          </a:p>
          <a:p>
            <a:pPr>
              <a:spcAft>
                <a:spcPts val="1400"/>
              </a:spcAft>
            </a:pPr>
            <a:r>
              <a:rPr sz="1820" b="1">
                <a:solidFill>
                  <a:srgbClr val="002970"/>
                </a:solidFill>
                <a:latin typeface="Liberation Sans"/>
              </a:rPr>
              <a:t>* No Time for Dashboards: </a:t>
            </a:r>
            <a:r>
              <a:rPr sz="1820" b="0">
                <a:solidFill>
                  <a:srgbClr val="0F172A"/>
                </a:solidFill>
                <a:latin typeface="Liberation Sans"/>
              </a:rPr>
              <a:t>Counter operators work 12+ hr days; SMB BI apps see &lt;8% weekly active usage (Assumption).</a:t>
            </a:r>
          </a:p>
          <a:p>
            <a:pPr>
              <a:spcAft>
                <a:spcPts val="1400"/>
              </a:spcAft>
            </a:pPr>
            <a:r>
              <a:rPr sz="1820" b="1">
                <a:solidFill>
                  <a:srgbClr val="002970"/>
                </a:solidFill>
                <a:latin typeface="Liberation Sans"/>
              </a:rPr>
              <a:t>* Dead-Hour &amp; Prep Gaps: </a:t>
            </a:r>
            <a:r>
              <a:rPr sz="1820" b="0">
                <a:solidFill>
                  <a:srgbClr val="0F172A"/>
                </a:solidFill>
                <a:latin typeface="Liberation Sans"/>
              </a:rPr>
              <a:t>Afternoon scans (3 to 5 PM) drop 70% vs peak in our synthetic store, hurting daily margins.</a:t>
            </a:r>
          </a:p>
        </p:txBody>
      </p:sp>
      <p:sp>
        <p:nvSpPr>
          <p:cNvPr id="12" name="Rounded Rectangle 11"/>
          <p:cNvSpPr/>
          <p:nvPr/>
        </p:nvSpPr>
        <p:spPr>
          <a:xfrm>
            <a:off x="7315200" y="1188720"/>
            <a:ext cx="4370832" cy="342900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1_hourly_synthetic.png"/>
          <p:cNvPicPr>
            <a:picLocks noChangeAspect="1"/>
          </p:cNvPicPr>
          <p:nvPr/>
        </p:nvPicPr>
        <p:blipFill>
          <a:blip r:embed="rId2"/>
          <a:stretch>
            <a:fillRect/>
          </a:stretch>
        </p:blipFill>
        <p:spPr>
          <a:xfrm>
            <a:off x="7388352" y="1280160"/>
            <a:ext cx="4224528" cy="2982020"/>
          </a:xfrm>
          <a:prstGeom prst="rect">
            <a:avLst/>
          </a:prstGeom>
        </p:spPr>
      </p:pic>
      <p:sp>
        <p:nvSpPr>
          <p:cNvPr id="14" name="Rounded Rectangle 13"/>
          <p:cNvSpPr/>
          <p:nvPr/>
        </p:nvSpPr>
        <p:spPr>
          <a:xfrm>
            <a:off x="7315200" y="4754880"/>
            <a:ext cx="4370832" cy="1508760"/>
          </a:xfrm>
          <a:prstGeom prst="roundRect">
            <a:avLst>
              <a:gd name="adj" fmla="val 3000"/>
            </a:avLst>
          </a:prstGeom>
          <a:solidFill>
            <a:srgbClr val="001B4D"/>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79792" y="4864608"/>
            <a:ext cx="4041648" cy="1298448"/>
          </a:xfrm>
          <a:prstGeom prst="rect">
            <a:avLst/>
          </a:prstGeom>
          <a:noFill/>
        </p:spPr>
        <p:txBody>
          <a:bodyPr wrap="square" lIns="36576" rIns="36576" tIns="18288" bIns="18288">
            <a:spAutoFit/>
          </a:bodyPr>
          <a:lstStyle/>
          <a:p>
            <a:pPr algn="l">
              <a:spcAft>
                <a:spcPts val="300"/>
              </a:spcAft>
            </a:pPr>
            <a:r>
              <a:rPr sz="1350" b="1" i="0">
                <a:solidFill>
                  <a:srgbClr val="FFFFFF"/>
                </a:solidFill>
                <a:latin typeface="Liberation Sans"/>
              </a:rPr>
              <a:t>PaytmAI VyaparVoice (Track 1)</a:t>
            </a:r>
          </a:p>
          <a:p>
            <a:pPr algn="l">
              <a:spcAft>
                <a:spcPts val="300"/>
              </a:spcAft>
            </a:pPr>
            <a:r>
              <a:rPr sz="1350" b="1" i="0">
                <a:solidFill>
                  <a:srgbClr val="FFFFFF"/>
                </a:solidFill>
                <a:latin typeface="Liberation Sans"/>
              </a:rPr>
              <a:t>Proactive closing-time voice copilot for Paytm Soundbox &amp; Business App.</a:t>
            </a:r>
          </a:p>
          <a:p>
            <a:pPr algn="l">
              <a:spcAft>
                <a:spcPts val="300"/>
              </a:spcAft>
            </a:pPr>
            <a:r>
              <a:rPr sz="1350" b="1" i="0">
                <a:solidFill>
                  <a:srgbClr val="FFFFFF"/>
                </a:solidFill>
                <a:latin typeface="Liberation Sans"/>
              </a:rPr>
              <a:t>Team SemiTechnical | Kevin Joseph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323844"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232404"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2 / 5 : SOLUTION &amp; LIVE DEMO</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One Closing-Time Voice Action, Governed by Deterministic Rules</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2 / 5 (Slide 2 / 14)</a:t>
            </a:r>
          </a:p>
        </p:txBody>
      </p:sp>
      <p:sp>
        <p:nvSpPr>
          <p:cNvPr id="10" name="Rounded Rectangle 9"/>
          <p:cNvSpPr/>
          <p:nvPr/>
        </p:nvSpPr>
        <p:spPr>
          <a:xfrm>
            <a:off x="502920" y="1188720"/>
            <a:ext cx="11183112" cy="507492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371600"/>
            <a:ext cx="10744200" cy="4709160"/>
          </a:xfrm>
          <a:prstGeom prst="rect">
            <a:avLst/>
          </a:prstGeom>
          <a:noFill/>
        </p:spPr>
        <p:txBody>
          <a:bodyPr wrap="square" lIns="45720" rIns="45720" tIns="27432" bIns="27432">
            <a:spAutoFit/>
          </a:bodyPr>
          <a:lstStyle/>
          <a:p>
            <a:pPr>
              <a:spcAft>
                <a:spcPts val="1300"/>
              </a:spcAft>
            </a:pPr>
            <a:r>
              <a:rPr sz="1820" b="1">
                <a:solidFill>
                  <a:srgbClr val="002970"/>
                </a:solidFill>
                <a:latin typeface="Liberation Sans"/>
              </a:rPr>
              <a:t>* 8:30 PM Voice Pitch: </a:t>
            </a:r>
            <a:r>
              <a:rPr sz="1820" b="0">
                <a:solidFill>
                  <a:srgbClr val="0F172A"/>
                </a:solidFill>
                <a:latin typeface="Liberation Sans"/>
              </a:rPr>
              <a:t>Speaks one concrete action in Kannada, Hindi, or English (draft strings; native review pending).</a:t>
            </a:r>
          </a:p>
          <a:p>
            <a:pPr>
              <a:spcAft>
                <a:spcPts val="1300"/>
              </a:spcAft>
            </a:pPr>
            <a:r>
              <a:rPr sz="1820" b="1">
                <a:solidFill>
                  <a:srgbClr val="002970"/>
                </a:solidFill>
                <a:latin typeface="Liberation Sans"/>
              </a:rPr>
              <a:t>* Synthetic Store Demo: </a:t>
            </a:r>
            <a:r>
              <a:rPr sz="1820" b="0">
                <a:solidFill>
                  <a:srgbClr val="0F172A"/>
                </a:solidFill>
                <a:latin typeface="Liberation Sans"/>
              </a:rPr>
              <a:t>Sri Krishna Darshini (240 payers, 1,613 UPI scans); detects 48 regulars silent 16+ days (median 19d).</a:t>
            </a:r>
          </a:p>
          <a:p>
            <a:pPr>
              <a:spcAft>
                <a:spcPts val="1300"/>
              </a:spcAft>
            </a:pPr>
            <a:r>
              <a:rPr sz="1820" b="1">
                <a:solidFill>
                  <a:srgbClr val="002970"/>
                </a:solidFill>
                <a:latin typeface="Liberation Sans"/>
              </a:rPr>
              <a:t>* 5-Rule Policy Engine: </a:t>
            </a:r>
            <a:r>
              <a:rPr sz="1820" b="0">
                <a:solidFill>
                  <a:srgbClr val="0F172A"/>
                </a:solidFill>
                <a:latin typeface="Liberation Sans"/>
              </a:rPr>
              <a:t>Excludes 5 unconsented (DPDP) and 3 on 14d cooldown; splits 40 eligible into 32 nudged / 8 control.</a:t>
            </a:r>
          </a:p>
          <a:p>
            <a:pPr>
              <a:spcAft>
                <a:spcPts val="1300"/>
              </a:spcAft>
            </a:pPr>
            <a:r>
              <a:rPr sz="1820" b="1">
                <a:solidFill>
                  <a:srgbClr val="002970"/>
                </a:solidFill>
                <a:latin typeface="Liberation Sans"/>
              </a:rPr>
              <a:t>* Money Guardrails: </a:t>
            </a:r>
            <a:r>
              <a:rPr sz="1820" b="0">
                <a:solidFill>
                  <a:srgbClr val="0F172A"/>
                </a:solidFill>
                <a:latin typeface="Liberation Sans"/>
              </a:rPr>
              <a:t>Rs 25 cashback on Rs 150+ scan (16.7% &lt;= 22% floor), Rs 300 cap; no LLM ever writes numbers or caps.</a:t>
            </a:r>
          </a:p>
          <a:p>
            <a:pPr>
              <a:spcAft>
                <a:spcPts val="1300"/>
              </a:spcAft>
            </a:pPr>
            <a:r>
              <a:rPr sz="1820" b="1">
                <a:solidFill>
                  <a:srgbClr val="002970"/>
                </a:solidFill>
                <a:latin typeface="Liberation Sans"/>
              </a:rPr>
              <a:t>* Ops &amp; Care Actions: </a:t>
            </a:r>
            <a:r>
              <a:rPr sz="1820" b="0">
                <a:solidFill>
                  <a:srgbClr val="0F172A"/>
                </a:solidFill>
                <a:latin typeface="Liberation Sans"/>
              </a:rPr>
              <a:t>Same 1-tap flow triggers simulated weekend dairy restock POs and queue-delay customer recovery.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4279392"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4187952"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3 / 5 : ARCHITECTURE (BUILT VS PLANNED)</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Deterministic Core Built Today; Ecosystem Integrations Scoped</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3 / 5 (Slide 3 / 14)</a:t>
            </a:r>
          </a:p>
        </p:txBody>
      </p:sp>
      <p:sp>
        <p:nvSpPr>
          <p:cNvPr id="10" name="Rounded Rectangle 9"/>
          <p:cNvSpPr/>
          <p:nvPr/>
        </p:nvSpPr>
        <p:spPr>
          <a:xfrm>
            <a:off x="502920" y="1188720"/>
            <a:ext cx="11183112" cy="507492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371600"/>
            <a:ext cx="10744200" cy="4709160"/>
          </a:xfrm>
          <a:prstGeom prst="rect">
            <a:avLst/>
          </a:prstGeom>
          <a:noFill/>
        </p:spPr>
        <p:txBody>
          <a:bodyPr wrap="square" lIns="45720" rIns="45720" tIns="27432" bIns="27432">
            <a:spAutoFit/>
          </a:bodyPr>
          <a:lstStyle/>
          <a:p>
            <a:pPr>
              <a:spcAft>
                <a:spcPts val="1500"/>
              </a:spcAft>
            </a:pPr>
            <a:r>
              <a:rPr sz="1820" b="1">
                <a:solidFill>
                  <a:srgbClr val="002970"/>
                </a:solidFill>
                <a:latin typeface="Liberation Sans"/>
              </a:rPr>
              <a:t>* [BUILT IN MVP] FastAPI + SQLite Core: </a:t>
            </a:r>
            <a:r>
              <a:rPr sz="1820" b="0">
                <a:solidFill>
                  <a:srgbClr val="0F172A"/>
                </a:solidFill>
                <a:latin typeface="Liberation Sans"/>
              </a:rPr>
              <a:t>Live SQL cohort queries, 5-rule policy checks, 80/20 holdout math, audit log, 21/21 QA tests.</a:t>
            </a:r>
          </a:p>
          <a:p>
            <a:pPr>
              <a:spcAft>
                <a:spcPts val="1500"/>
              </a:spcAft>
            </a:pPr>
            <a:r>
              <a:rPr sz="1820" b="1">
                <a:solidFill>
                  <a:srgbClr val="002970"/>
                </a:solidFill>
                <a:latin typeface="Liberation Sans"/>
              </a:rPr>
              <a:t>* [BUILT IN MVP] Companion PWA + Audio: </a:t>
            </a:r>
            <a:r>
              <a:rPr sz="1820" b="0">
                <a:solidFill>
                  <a:srgbClr val="0F172A"/>
                </a:solidFill>
                <a:latin typeface="Liberation Sans"/>
              </a:rPr>
              <a:t>Paytm Soundbox simulator UI using browser speech synthesis + 1-tap button fallback (offline-safe).</a:t>
            </a:r>
          </a:p>
          <a:p>
            <a:pPr>
              <a:spcAft>
                <a:spcPts val="1500"/>
              </a:spcAft>
            </a:pPr>
            <a:r>
              <a:rPr sz="1820" b="1">
                <a:solidFill>
                  <a:srgbClr val="002970"/>
                </a:solidFill>
                <a:latin typeface="Liberation Sans"/>
              </a:rPr>
              <a:t>* [PENDING VERIFICATION] Sponsor Voice &amp; Q&amp;A: </a:t>
            </a:r>
            <a:r>
              <a:rPr sz="1820" b="0">
                <a:solidFill>
                  <a:srgbClr val="0F172A"/>
                </a:solidFill>
                <a:latin typeface="Liberation Sans"/>
              </a:rPr>
              <a:t>Keyless adapters for Sarvam TTS/ASR (Saturday window) and free-tier Groq grounded English Q&amp;A.</a:t>
            </a:r>
          </a:p>
          <a:p>
            <a:pPr>
              <a:spcAft>
                <a:spcPts val="1500"/>
              </a:spcAft>
            </a:pPr>
            <a:r>
              <a:rPr sz="1820" b="1">
                <a:solidFill>
                  <a:srgbClr val="002970"/>
                </a:solidFill>
                <a:latin typeface="Liberation Sans"/>
              </a:rPr>
              <a:t>* [PRODUCTION PLAN] Paytm Rail Hooks: </a:t>
            </a:r>
            <a:r>
              <a:rPr sz="1820" b="0">
                <a:solidFill>
                  <a:srgbClr val="0F172A"/>
                </a:solidFill>
                <a:latin typeface="Liberation Sans"/>
              </a:rPr>
              <a:t>Paytm QR dynamic coupon ledger, Soundbox 4G push audio, WhatsApp Cloud POs, Postgres/Redis.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4192524"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4101084"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4 / 5 : SIMULATED PROOF &amp; HONEST STATS</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Simulated Holdout Lift &amp; Profit Math (To Validate in Pilot)</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4 / 5 (Slide 4 / 14)</a:t>
            </a:r>
          </a:p>
        </p:txBody>
      </p:sp>
      <p:sp>
        <p:nvSpPr>
          <p:cNvPr id="10" name="Rounded Rectangle 9"/>
          <p:cNvSpPr/>
          <p:nvPr/>
        </p:nvSpPr>
        <p:spPr>
          <a:xfrm>
            <a:off x="502920" y="1188720"/>
            <a:ext cx="6629400" cy="507492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16736"/>
            <a:ext cx="6327648" cy="4846320"/>
          </a:xfrm>
          <a:prstGeom prst="rect">
            <a:avLst/>
          </a:prstGeom>
          <a:noFill/>
        </p:spPr>
        <p:txBody>
          <a:bodyPr wrap="square" lIns="45720" rIns="45720" tIns="27432" bIns="27432">
            <a:spAutoFit/>
          </a:bodyPr>
          <a:lstStyle/>
          <a:p>
            <a:pPr>
              <a:spcAft>
                <a:spcPts val="1000"/>
              </a:spcAft>
            </a:pPr>
            <a:r>
              <a:rPr sz="1800" b="1">
                <a:solidFill>
                  <a:srgbClr val="002970"/>
                </a:solidFill>
                <a:latin typeface="Liberation Sans"/>
              </a:rPr>
              <a:t>* Simulated 48h Return: </a:t>
            </a:r>
            <a:r>
              <a:rPr sz="1800" b="0">
                <a:solidFill>
                  <a:srgbClr val="0F172A"/>
                </a:solidFill>
                <a:latin typeface="Liberation Sans"/>
              </a:rPr>
              <a:t>12/32 nudged (37.5%) vs 1/8 control (12.5%); Fisher exact p = 0.24 (not significant).</a:t>
            </a:r>
          </a:p>
          <a:p>
            <a:pPr>
              <a:spcAft>
                <a:spcPts val="1000"/>
              </a:spcAft>
            </a:pPr>
            <a:r>
              <a:rPr sz="1800" b="1">
                <a:solidFill>
                  <a:srgbClr val="002970"/>
                </a:solidFill>
                <a:latin typeface="Liberation Sans"/>
              </a:rPr>
              <a:t>* Pilot Sample Target: </a:t>
            </a:r>
            <a:r>
              <a:rPr sz="1800" b="0">
                <a:solidFill>
                  <a:srgbClr val="0F172A"/>
                </a:solidFill>
                <a:latin typeface="Liberation Sans"/>
              </a:rPr>
              <a:t>80% power at alpha = 0.05 needs ~46 payers/arm (~4 weekly store waves).</a:t>
            </a:r>
          </a:p>
          <a:p>
            <a:pPr>
              <a:spcAft>
                <a:spcPts val="1000"/>
              </a:spcAft>
            </a:pPr>
            <a:r>
              <a:rPr sz="1800" b="1">
                <a:solidFill>
                  <a:srgbClr val="002970"/>
                </a:solidFill>
                <a:latin typeface="Liberation Sans"/>
              </a:rPr>
              <a:t>* Sales Multiple (5.8x): </a:t>
            </a:r>
            <a:r>
              <a:rPr sz="1800" b="0">
                <a:solidFill>
                  <a:srgbClr val="0F172A"/>
                </a:solidFill>
                <a:latin typeface="Liberation Sans"/>
              </a:rPr>
              <a:t>8 net visits x Rs 217.50 assumed bill = Rs 1,740 incremental sales on Rs 300 spend.</a:t>
            </a:r>
          </a:p>
          <a:p>
            <a:pPr>
              <a:spcAft>
                <a:spcPts val="1000"/>
              </a:spcAft>
            </a:pPr>
            <a:r>
              <a:rPr sz="1800" b="1">
                <a:solidFill>
                  <a:srgbClr val="002970"/>
                </a:solidFill>
                <a:latin typeface="Liberation Sans"/>
              </a:rPr>
              <a:t>* Organic Subsidy: </a:t>
            </a:r>
            <a:r>
              <a:rPr sz="1800" b="0">
                <a:solidFill>
                  <a:srgbClr val="0F172A"/>
                </a:solidFill>
                <a:latin typeface="Liberation Sans"/>
              </a:rPr>
              <a:t>4 of 12 redeemers (12.5% baseline) would visit anyway, absorbing Rs 100 cashback.</a:t>
            </a:r>
          </a:p>
          <a:p>
            <a:pPr>
              <a:spcAft>
                <a:spcPts val="1000"/>
              </a:spcAft>
            </a:pPr>
            <a:r>
              <a:rPr sz="1800" b="1">
                <a:solidFill>
                  <a:srgbClr val="002970"/>
                </a:solidFill>
                <a:latin typeface="Liberation Sans"/>
              </a:rPr>
              <a:t>* Profit ROI (30% Margin): </a:t>
            </a:r>
            <a:r>
              <a:rPr sz="1800" b="0">
                <a:solidFill>
                  <a:srgbClr val="0F172A"/>
                </a:solidFill>
                <a:latin typeface="Liberation Sans"/>
              </a:rPr>
              <a:t>Rs 522 gross profit (1.74x); +Rs 222 net pre-fee (+74% ROI), +Rs 91.50 post 5% fee.</a:t>
            </a:r>
          </a:p>
        </p:txBody>
      </p:sp>
      <p:sp>
        <p:nvSpPr>
          <p:cNvPr id="12" name="Rounded Rectangle 11"/>
          <p:cNvSpPr/>
          <p:nvPr/>
        </p:nvSpPr>
        <p:spPr>
          <a:xfrm>
            <a:off x="7315200" y="1188720"/>
            <a:ext cx="4370832" cy="35204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2_honest_holdout.png"/>
          <p:cNvPicPr>
            <a:picLocks noChangeAspect="1"/>
          </p:cNvPicPr>
          <p:nvPr/>
        </p:nvPicPr>
        <p:blipFill>
          <a:blip r:embed="rId2"/>
          <a:stretch>
            <a:fillRect/>
          </a:stretch>
        </p:blipFill>
        <p:spPr>
          <a:xfrm>
            <a:off x="7388352" y="1280160"/>
            <a:ext cx="4224528" cy="2982020"/>
          </a:xfrm>
          <a:prstGeom prst="rect">
            <a:avLst/>
          </a:prstGeom>
        </p:spPr>
      </p:pic>
      <p:sp>
        <p:nvSpPr>
          <p:cNvPr id="14" name="Rounded Rectangle 13"/>
          <p:cNvSpPr/>
          <p:nvPr/>
        </p:nvSpPr>
        <p:spPr>
          <a:xfrm>
            <a:off x="7315200" y="4846320"/>
            <a:ext cx="4370832" cy="1417320"/>
          </a:xfrm>
          <a:prstGeom prst="roundRect">
            <a:avLst>
              <a:gd name="adj" fmla="val 3000"/>
            </a:avLst>
          </a:prstGeom>
          <a:solidFill>
            <a:srgbClr val="FFFBEB"/>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1504" y="4956048"/>
            <a:ext cx="4078224" cy="1188720"/>
          </a:xfrm>
          <a:prstGeom prst="rect">
            <a:avLst/>
          </a:prstGeom>
          <a:noFill/>
        </p:spPr>
        <p:txBody>
          <a:bodyPr wrap="square" lIns="36576" rIns="36576" tIns="18288" bIns="18288">
            <a:spAutoFit/>
          </a:bodyPr>
          <a:lstStyle/>
          <a:p>
            <a:pPr algn="l">
              <a:spcAft>
                <a:spcPts val="300"/>
              </a:spcAft>
            </a:pPr>
            <a:r>
              <a:rPr sz="1250" b="1" i="0">
                <a:solidFill>
                  <a:srgbClr val="0F172A"/>
                </a:solidFill>
                <a:latin typeface="Liberation Sans"/>
              </a:rPr>
              <a:t>EVIDENCE DISCLOSURE (SIMULATED)</a:t>
            </a:r>
          </a:p>
          <a:p>
            <a:pPr algn="l">
              <a:spcAft>
                <a:spcPts val="300"/>
              </a:spcAft>
            </a:pPr>
            <a:r>
              <a:rPr sz="1250" b="1" i="0">
                <a:solidFill>
                  <a:srgbClr val="0F172A"/>
                </a:solidFill>
                <a:latin typeface="Liberation Sans"/>
              </a:rPr>
              <a:t>Redemptions come from our deterministic 48h simulator. Break-even store gross margin is 17.2% pre-fee (24.7% after 5% Paytm promo fee).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931920" cy="292608"/>
          </a:xfrm>
          <a:prstGeom prst="roundRect">
            <a:avLst>
              <a:gd name="adj" fmla="val 3000"/>
            </a:avLst>
          </a:prstGeom>
          <a:solidFill>
            <a:srgbClr val="E0F7FE"/>
          </a:solidFill>
          <a:ln w="1270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840480" cy="237744"/>
          </a:xfrm>
          <a:prstGeom prst="rect">
            <a:avLst/>
          </a:prstGeom>
          <a:noFill/>
        </p:spPr>
        <p:txBody>
          <a:bodyPr wrap="square" lIns="36576" rIns="36576" tIns="18288" bIns="18288">
            <a:spAutoFit/>
          </a:bodyPr>
          <a:lstStyle/>
          <a:p>
            <a:pPr algn="ctr">
              <a:spcAft>
                <a:spcPts val="300"/>
              </a:spcAft>
            </a:pPr>
            <a:r>
              <a:rPr sz="950" b="1" i="0">
                <a:solidFill>
                  <a:srgbClr val="002970"/>
                </a:solidFill>
                <a:latin typeface="Liberation Sans"/>
              </a:rPr>
              <a:t>MAIN 5 / 5 : BUSINESS MODEL &amp; PILOT PLAN</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Three Modelled Revenue Cases (5% Base) &amp; 45-Day Pilot Plan</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Main 5 / 5 (Slide 5 / 14)</a:t>
            </a:r>
          </a:p>
        </p:txBody>
      </p:sp>
      <p:sp>
        <p:nvSpPr>
          <p:cNvPr id="10" name="Rounded Rectangle 9"/>
          <p:cNvSpPr/>
          <p:nvPr/>
        </p:nvSpPr>
        <p:spPr>
          <a:xfrm>
            <a:off x="502920" y="1188720"/>
            <a:ext cx="6629400" cy="507492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16736"/>
            <a:ext cx="6327648" cy="4846320"/>
          </a:xfrm>
          <a:prstGeom prst="rect">
            <a:avLst/>
          </a:prstGeom>
          <a:noFill/>
        </p:spPr>
        <p:txBody>
          <a:bodyPr wrap="square" lIns="45720" rIns="45720" tIns="27432" bIns="27432">
            <a:spAutoFit/>
          </a:bodyPr>
          <a:lstStyle/>
          <a:p>
            <a:pPr>
              <a:spcAft>
                <a:spcPts val="1000"/>
              </a:spcAft>
            </a:pPr>
            <a:r>
              <a:rPr sz="1800" b="1">
                <a:solidFill>
                  <a:srgbClr val="002970"/>
                </a:solidFill>
                <a:latin typeface="Liberation Sans"/>
              </a:rPr>
              <a:t>* Case C (SaaS Only): </a:t>
            </a:r>
            <a:r>
              <a:rPr sz="1800" b="0">
                <a:solidFill>
                  <a:srgbClr val="0F172A"/>
                </a:solidFill>
                <a:latin typeface="Liberation Sans"/>
              </a:rPr>
              <a:t>Rs 79/mo Soundbox add-on x 7.85L shops (5% base) = Rs 74.4 Cr ARR (Modelled).</a:t>
            </a:r>
          </a:p>
          <a:p>
            <a:pPr>
              <a:spcAft>
                <a:spcPts val="1000"/>
              </a:spcAft>
            </a:pPr>
            <a:r>
              <a:rPr sz="1800" b="1">
                <a:solidFill>
                  <a:srgbClr val="002970"/>
                </a:solidFill>
                <a:latin typeface="Liberation Sans"/>
              </a:rPr>
              <a:t>* Case B (Excl. Credit): </a:t>
            </a:r>
            <a:r>
              <a:rPr sz="1800" b="0">
                <a:solidFill>
                  <a:srgbClr val="0F172A"/>
                </a:solidFill>
                <a:latin typeface="Liberation Sans"/>
              </a:rPr>
              <a:t>Adding 5% fee on redeemed bills (+Rs 102/mo) = Rs 170.5 Cr ARR (Modelled).</a:t>
            </a:r>
          </a:p>
          <a:p>
            <a:pPr>
              <a:spcAft>
                <a:spcPts val="1000"/>
              </a:spcAft>
            </a:pPr>
            <a:r>
              <a:rPr sz="1800" b="1">
                <a:solidFill>
                  <a:srgbClr val="002970"/>
                </a:solidFill>
                <a:latin typeface="Liberation Sans"/>
              </a:rPr>
              <a:t>* Case A (Full Base): </a:t>
            </a:r>
            <a:r>
              <a:rPr sz="1800" b="0">
                <a:solidFill>
                  <a:srgbClr val="0F172A"/>
                </a:solidFill>
                <a:latin typeface="Liberation Sans"/>
              </a:rPr>
              <a:t>Adding partner loan referral (+Rs 77/mo; Paytm pen. ~7%, Q4 FY26) = Rs 243.0 Cr ARR.</a:t>
            </a:r>
          </a:p>
          <a:p>
            <a:pPr>
              <a:spcAft>
                <a:spcPts val="1000"/>
              </a:spcAft>
            </a:pPr>
            <a:r>
              <a:rPr sz="1800" b="1">
                <a:solidFill>
                  <a:srgbClr val="002970"/>
                </a:solidFill>
                <a:latin typeface="Liberation Sans"/>
              </a:rPr>
              <a:t>* Consistent Unit COGS: </a:t>
            </a:r>
            <a:r>
              <a:rPr sz="1800" b="0">
                <a:solidFill>
                  <a:srgbClr val="0F172A"/>
                </a:solidFill>
                <a:latin typeface="Liberation Sans"/>
              </a:rPr>
              <a:t>Rs 48/mo cached (Rs 5 AI + Rs 43 msg; 81.4% margin) or Rs 71.80 uncached TTS (72.2%).</a:t>
            </a:r>
          </a:p>
          <a:p>
            <a:pPr>
              <a:spcAft>
                <a:spcPts val="1000"/>
              </a:spcAft>
            </a:pPr>
            <a:r>
              <a:rPr sz="1800" b="1">
                <a:solidFill>
                  <a:srgbClr val="002970"/>
                </a:solidFill>
                <a:latin typeface="Liberation Sans"/>
              </a:rPr>
              <a:t>* 45-Day Bengaluru Pilot: </a:t>
            </a:r>
            <a:r>
              <a:rPr sz="1800" b="0">
                <a:solidFill>
                  <a:srgbClr val="0F172A"/>
                </a:solidFill>
                <a:latin typeface="Liberation Sans"/>
              </a:rPr>
              <a:t>50 kirana/F&amp;B shops, &gt;=50 payers/arm pooled holdout, native Kannada/Hindi sign-off.</a:t>
            </a:r>
          </a:p>
        </p:txBody>
      </p:sp>
      <p:sp>
        <p:nvSpPr>
          <p:cNvPr id="12" name="Rounded Rectangle 11"/>
          <p:cNvSpPr/>
          <p:nvPr/>
        </p:nvSpPr>
        <p:spPr>
          <a:xfrm>
            <a:off x="7315200" y="1188720"/>
            <a:ext cx="4370832" cy="35204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3_three_revenue_cases.png"/>
          <p:cNvPicPr>
            <a:picLocks noChangeAspect="1"/>
          </p:cNvPicPr>
          <p:nvPr/>
        </p:nvPicPr>
        <p:blipFill>
          <a:blip r:embed="rId2"/>
          <a:stretch>
            <a:fillRect/>
          </a:stretch>
        </p:blipFill>
        <p:spPr>
          <a:xfrm>
            <a:off x="7388352" y="1280160"/>
            <a:ext cx="4224528" cy="2982020"/>
          </a:xfrm>
          <a:prstGeom prst="rect">
            <a:avLst/>
          </a:prstGeom>
        </p:spPr>
      </p:pic>
      <p:sp>
        <p:nvSpPr>
          <p:cNvPr id="14" name="Rounded Rectangle 13"/>
          <p:cNvSpPr/>
          <p:nvPr/>
        </p:nvSpPr>
        <p:spPr>
          <a:xfrm>
            <a:off x="7315200" y="4846320"/>
            <a:ext cx="4370832" cy="1417320"/>
          </a:xfrm>
          <a:prstGeom prst="roundRect">
            <a:avLst>
              <a:gd name="adj" fmla="val 3000"/>
            </a:avLst>
          </a:prstGeom>
          <a:solidFill>
            <a:srgbClr val="ECFDF5"/>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1504" y="4956048"/>
            <a:ext cx="4078224" cy="1188720"/>
          </a:xfrm>
          <a:prstGeom prst="rect">
            <a:avLst/>
          </a:prstGeom>
          <a:noFill/>
        </p:spPr>
        <p:txBody>
          <a:bodyPr wrap="square" lIns="36576" rIns="36576" tIns="18288" bIns="18288">
            <a:spAutoFit/>
          </a:bodyPr>
          <a:lstStyle/>
          <a:p>
            <a:pPr algn="l">
              <a:spcAft>
                <a:spcPts val="300"/>
              </a:spcAft>
            </a:pPr>
            <a:r>
              <a:rPr sz="1220" b="1" i="0">
                <a:solidFill>
                  <a:srgbClr val="0F172A"/>
                </a:solidFill>
                <a:latin typeface="Liberation Sans"/>
              </a:rPr>
              <a:t>TTS CACHE ASSUMPTION</a:t>
            </a:r>
          </a:p>
          <a:p>
            <a:pPr algn="l">
              <a:spcAft>
                <a:spcPts val="300"/>
              </a:spcAft>
            </a:pPr>
            <a:r>
              <a:rPr sz="1220" b="1" i="0">
                <a:solidFill>
                  <a:srgbClr val="0F172A"/>
                </a:solidFill>
                <a:latin typeface="Liberation Sans"/>
              </a:rPr>
              <a:t>Bulbul v3 lists Rs 30 / 10k chars (~Rs 27/mo uncached at 300 chars/day). Achieving Rs 3.20/mo TTS requires ~88% template caching (or v2 pricing).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1B4D"/>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6949440" cy="384048"/>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75488"/>
            <a:ext cx="6675120" cy="256032"/>
          </a:xfrm>
          <a:prstGeom prst="rect">
            <a:avLst/>
          </a:prstGeom>
          <a:noFill/>
        </p:spPr>
        <p:txBody>
          <a:bodyPr wrap="square" lIns="36576" rIns="36576" tIns="18288" bIns="18288">
            <a:spAutoFit/>
          </a:bodyPr>
          <a:lstStyle/>
          <a:p>
            <a:pPr algn="l">
              <a:spcAft>
                <a:spcPts val="300"/>
              </a:spcAft>
            </a:pPr>
            <a:r>
              <a:rPr sz="1000" b="1" i="0">
                <a:solidFill>
                  <a:srgbClr val="00BAF2"/>
                </a:solidFill>
                <a:latin typeface="Liberation Sans"/>
              </a:rPr>
              <a:t>APPENDIX A1 (CORRECTED ORIGINAL SLIDE 1) | TRACK 1: MERCHANT GROWTH AI</a:t>
            </a:r>
          </a:p>
        </p:txBody>
      </p:sp>
      <p:sp>
        <p:nvSpPr>
          <p:cNvPr id="5" name="TextBox 4"/>
          <p:cNvSpPr txBox="1"/>
          <p:nvPr/>
        </p:nvSpPr>
        <p:spPr>
          <a:xfrm>
            <a:off x="594360" y="1143000"/>
            <a:ext cx="6949440" cy="731520"/>
          </a:xfrm>
          <a:prstGeom prst="rect">
            <a:avLst/>
          </a:prstGeom>
          <a:noFill/>
        </p:spPr>
        <p:txBody>
          <a:bodyPr wrap="square" lIns="36576" rIns="36576" tIns="18288" bIns="18288">
            <a:spAutoFit/>
          </a:bodyPr>
          <a:lstStyle/>
          <a:p>
            <a:pPr algn="l">
              <a:spcAft>
                <a:spcPts val="300"/>
              </a:spcAft>
            </a:pPr>
            <a:r>
              <a:rPr sz="4000" b="1" i="0">
                <a:solidFill>
                  <a:srgbClr val="FFFFFF"/>
                </a:solidFill>
                <a:latin typeface="Liberation Sans"/>
              </a:rPr>
              <a:t>PaytmAI VyaparVoice</a:t>
            </a:r>
          </a:p>
        </p:txBody>
      </p:sp>
      <p:sp>
        <p:nvSpPr>
          <p:cNvPr id="6" name="TextBox 5"/>
          <p:cNvSpPr txBox="1"/>
          <p:nvPr/>
        </p:nvSpPr>
        <p:spPr>
          <a:xfrm>
            <a:off x="594360" y="1920240"/>
            <a:ext cx="6949440" cy="640080"/>
          </a:xfrm>
          <a:prstGeom prst="rect">
            <a:avLst/>
          </a:prstGeom>
          <a:noFill/>
        </p:spPr>
        <p:txBody>
          <a:bodyPr wrap="square" lIns="36576" rIns="36576" tIns="18288" bIns="18288">
            <a:spAutoFit/>
          </a:bodyPr>
          <a:lstStyle/>
          <a:p>
            <a:pPr algn="l">
              <a:spcAft>
                <a:spcPts val="300"/>
              </a:spcAft>
            </a:pPr>
            <a:r>
              <a:rPr sz="1750" b="1" i="0">
                <a:solidFill>
                  <a:srgbClr val="00BAF2"/>
                </a:solidFill>
                <a:latin typeface="Liberation Sans"/>
              </a:rPr>
              <a:t>Proactive Voice Growth, Operations &amp; Retention Copilot for Paytm Merchants</a:t>
            </a:r>
          </a:p>
        </p:txBody>
      </p:sp>
      <p:sp>
        <p:nvSpPr>
          <p:cNvPr id="7" name="TextBox 6"/>
          <p:cNvSpPr txBox="1"/>
          <p:nvPr/>
        </p:nvSpPr>
        <p:spPr>
          <a:xfrm>
            <a:off x="594360" y="2697480"/>
            <a:ext cx="6858000" cy="822960"/>
          </a:xfrm>
          <a:prstGeom prst="rect">
            <a:avLst/>
          </a:prstGeom>
          <a:noFill/>
        </p:spPr>
        <p:txBody>
          <a:bodyPr wrap="square" lIns="36576" rIns="36576" tIns="18288" bIns="18288">
            <a:spAutoFit/>
          </a:bodyPr>
          <a:lstStyle/>
          <a:p>
            <a:pPr algn="l">
              <a:spcAft>
                <a:spcPts val="300"/>
              </a:spcAft>
            </a:pPr>
            <a:r>
              <a:rPr sz="1300" b="0" i="0">
                <a:solidFill>
                  <a:srgbClr val="CBD5E1"/>
                </a:solidFill>
                <a:latin typeface="Liberation Sans"/>
              </a:rPr>
              <a:t>Designed for Paytm's 1.57 Cr merchant device base (Q1 FY27). Combines deterministic SQL cohort rules and budget guardrails with closing-time voice briefings (synthetic MVP built; live pilot pending).</a:t>
            </a:r>
          </a:p>
        </p:txBody>
      </p:sp>
      <p:sp>
        <p:nvSpPr>
          <p:cNvPr id="8" name="Rounded Rectangle 7"/>
          <p:cNvSpPr/>
          <p:nvPr/>
        </p:nvSpPr>
        <p:spPr>
          <a:xfrm>
            <a:off x="594360" y="3794760"/>
            <a:ext cx="2194560" cy="1051560"/>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3886200"/>
            <a:ext cx="1975104" cy="274320"/>
          </a:xfrm>
          <a:prstGeom prst="rect">
            <a:avLst/>
          </a:prstGeom>
          <a:noFill/>
        </p:spPr>
        <p:txBody>
          <a:bodyPr wrap="square" lIns="36576" rIns="36576" tIns="18288" bIns="18288">
            <a:spAutoFit/>
          </a:bodyPr>
          <a:lstStyle/>
          <a:p>
            <a:pPr algn="l">
              <a:spcAft>
                <a:spcPts val="300"/>
              </a:spcAft>
            </a:pPr>
            <a:r>
              <a:rPr sz="1080" b="1" i="0">
                <a:solidFill>
                  <a:srgbClr val="FFFFFF"/>
                </a:solidFill>
                <a:latin typeface="Liberation Sans"/>
              </a:rPr>
              <a:t>01 : Voice + Button Flow</a:t>
            </a:r>
          </a:p>
        </p:txBody>
      </p:sp>
      <p:sp>
        <p:nvSpPr>
          <p:cNvPr id="10" name="TextBox 9"/>
          <p:cNvSpPr txBox="1"/>
          <p:nvPr/>
        </p:nvSpPr>
        <p:spPr>
          <a:xfrm>
            <a:off x="704088" y="4187952"/>
            <a:ext cx="1975104" cy="548640"/>
          </a:xfrm>
          <a:prstGeom prst="rect">
            <a:avLst/>
          </a:prstGeom>
          <a:noFill/>
        </p:spPr>
        <p:txBody>
          <a:bodyPr wrap="square" lIns="36576" rIns="36576" tIns="18288" bIns="18288">
            <a:spAutoFit/>
          </a:bodyPr>
          <a:lstStyle/>
          <a:p>
            <a:pPr algn="l">
              <a:spcAft>
                <a:spcPts val="300"/>
              </a:spcAft>
            </a:pPr>
            <a:r>
              <a:rPr sz="980" b="0" i="0">
                <a:solidFill>
                  <a:srgbClr val="BAE6FD"/>
                </a:solidFill>
                <a:latin typeface="Liberation Sans"/>
              </a:rPr>
              <a:t>English, Kannada &amp; Hindi draft scripts; 1-tap button fallback</a:t>
            </a:r>
          </a:p>
        </p:txBody>
      </p:sp>
      <p:sp>
        <p:nvSpPr>
          <p:cNvPr id="11" name="Rounded Rectangle 10"/>
          <p:cNvSpPr/>
          <p:nvPr/>
        </p:nvSpPr>
        <p:spPr>
          <a:xfrm>
            <a:off x="2926079" y="3794760"/>
            <a:ext cx="2194560" cy="1051560"/>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35808" y="3886200"/>
            <a:ext cx="1975104" cy="274320"/>
          </a:xfrm>
          <a:prstGeom prst="rect">
            <a:avLst/>
          </a:prstGeom>
          <a:noFill/>
        </p:spPr>
        <p:txBody>
          <a:bodyPr wrap="square" lIns="36576" rIns="36576" tIns="18288" bIns="18288">
            <a:spAutoFit/>
          </a:bodyPr>
          <a:lstStyle/>
          <a:p>
            <a:pPr algn="l">
              <a:spcAft>
                <a:spcPts val="300"/>
              </a:spcAft>
            </a:pPr>
            <a:r>
              <a:rPr sz="1080" b="1" i="0">
                <a:solidFill>
                  <a:srgbClr val="FFFFFF"/>
                </a:solidFill>
                <a:latin typeface="Liberation Sans"/>
              </a:rPr>
              <a:t>02 : 5-Rule Policy Engine</a:t>
            </a:r>
          </a:p>
        </p:txBody>
      </p:sp>
      <p:sp>
        <p:nvSpPr>
          <p:cNvPr id="13" name="TextBox 12"/>
          <p:cNvSpPr txBox="1"/>
          <p:nvPr/>
        </p:nvSpPr>
        <p:spPr>
          <a:xfrm>
            <a:off x="3035808" y="4187952"/>
            <a:ext cx="1975104" cy="548640"/>
          </a:xfrm>
          <a:prstGeom prst="rect">
            <a:avLst/>
          </a:prstGeom>
          <a:noFill/>
        </p:spPr>
        <p:txBody>
          <a:bodyPr wrap="square" lIns="36576" rIns="36576" tIns="18288" bIns="18288">
            <a:spAutoFit/>
          </a:bodyPr>
          <a:lstStyle/>
          <a:p>
            <a:pPr algn="l">
              <a:spcAft>
                <a:spcPts val="300"/>
              </a:spcAft>
            </a:pPr>
            <a:r>
              <a:rPr sz="980" b="0" i="0">
                <a:solidFill>
                  <a:srgbClr val="BAE6FD"/>
                </a:solidFill>
                <a:latin typeface="Liberation Sans"/>
              </a:rPr>
              <a:t>DPDP opt-in, 14d cooldown, &lt;=22% floor &amp; Rs 300 cap</a:t>
            </a:r>
          </a:p>
        </p:txBody>
      </p:sp>
      <p:sp>
        <p:nvSpPr>
          <p:cNvPr id="14" name="Rounded Rectangle 13"/>
          <p:cNvSpPr/>
          <p:nvPr/>
        </p:nvSpPr>
        <p:spPr>
          <a:xfrm>
            <a:off x="5257800" y="3794760"/>
            <a:ext cx="2194560" cy="1051560"/>
          </a:xfrm>
          <a:prstGeom prst="roundRect">
            <a:avLst>
              <a:gd name="adj" fmla="val 3000"/>
            </a:avLst>
          </a:prstGeom>
          <a:solidFill>
            <a:srgbClr val="002970"/>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67528" y="3886200"/>
            <a:ext cx="1975104" cy="274320"/>
          </a:xfrm>
          <a:prstGeom prst="rect">
            <a:avLst/>
          </a:prstGeom>
          <a:noFill/>
        </p:spPr>
        <p:txBody>
          <a:bodyPr wrap="square" lIns="36576" rIns="36576" tIns="18288" bIns="18288">
            <a:spAutoFit/>
          </a:bodyPr>
          <a:lstStyle/>
          <a:p>
            <a:pPr algn="l">
              <a:spcAft>
                <a:spcPts val="300"/>
              </a:spcAft>
            </a:pPr>
            <a:r>
              <a:rPr sz="1080" b="1" i="0">
                <a:solidFill>
                  <a:srgbClr val="FFFFFF"/>
                </a:solidFill>
                <a:latin typeface="Liberation Sans"/>
              </a:rPr>
              <a:t>03 : Simulated Holdout</a:t>
            </a:r>
          </a:p>
        </p:txBody>
      </p:sp>
      <p:sp>
        <p:nvSpPr>
          <p:cNvPr id="16" name="TextBox 15"/>
          <p:cNvSpPr txBox="1"/>
          <p:nvPr/>
        </p:nvSpPr>
        <p:spPr>
          <a:xfrm>
            <a:off x="5367528" y="4187952"/>
            <a:ext cx="1975104" cy="548640"/>
          </a:xfrm>
          <a:prstGeom prst="rect">
            <a:avLst/>
          </a:prstGeom>
          <a:noFill/>
        </p:spPr>
        <p:txBody>
          <a:bodyPr wrap="square" lIns="36576" rIns="36576" tIns="18288" bIns="18288">
            <a:spAutoFit/>
          </a:bodyPr>
          <a:lstStyle/>
          <a:p>
            <a:pPr algn="l">
              <a:spcAft>
                <a:spcPts val="300"/>
              </a:spcAft>
            </a:pPr>
            <a:r>
              <a:rPr sz="980" b="0" i="0">
                <a:solidFill>
                  <a:srgbClr val="BAE6FD"/>
                </a:solidFill>
                <a:latin typeface="Liberation Sans"/>
              </a:rPr>
              <a:t>80/20 control split; 5.8x sales/promo (1.74x gross profit)</a:t>
            </a:r>
          </a:p>
        </p:txBody>
      </p:sp>
      <p:sp>
        <p:nvSpPr>
          <p:cNvPr id="17" name="Rounded Rectangle 16"/>
          <p:cNvSpPr/>
          <p:nvPr/>
        </p:nvSpPr>
        <p:spPr>
          <a:xfrm>
            <a:off x="594360" y="5166360"/>
            <a:ext cx="10972800" cy="1005840"/>
          </a:xfrm>
          <a:prstGeom prst="roundRect">
            <a:avLst>
              <a:gd name="adj" fmla="val 3000"/>
            </a:avLst>
          </a:prstGeom>
          <a:solidFill>
            <a:srgbClr val="001235"/>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303520"/>
            <a:ext cx="5486400" cy="320040"/>
          </a:xfrm>
          <a:prstGeom prst="rect">
            <a:avLst/>
          </a:prstGeom>
          <a:noFill/>
        </p:spPr>
        <p:txBody>
          <a:bodyPr wrap="square" lIns="36576" rIns="36576" tIns="18288" bIns="18288">
            <a:spAutoFit/>
          </a:bodyPr>
          <a:lstStyle/>
          <a:p>
            <a:pPr algn="l">
              <a:spcAft>
                <a:spcPts val="300"/>
              </a:spcAft>
            </a:pPr>
            <a:r>
              <a:rPr sz="1400" b="1" i="0">
                <a:solidFill>
                  <a:srgbClr val="FFFFFF"/>
                </a:solidFill>
                <a:latin typeface="Liberation Sans"/>
              </a:rPr>
              <a:t>TEAM: SemiTechnical | Builder: Kevin Joseph (Bengaluru)</a:t>
            </a:r>
          </a:p>
        </p:txBody>
      </p:sp>
      <p:sp>
        <p:nvSpPr>
          <p:cNvPr id="19" name="TextBox 18"/>
          <p:cNvSpPr txBox="1"/>
          <p:nvPr/>
        </p:nvSpPr>
        <p:spPr>
          <a:xfrm>
            <a:off x="777240" y="5669280"/>
            <a:ext cx="10424160" cy="320040"/>
          </a:xfrm>
          <a:prstGeom prst="rect">
            <a:avLst/>
          </a:prstGeom>
          <a:noFill/>
        </p:spPr>
        <p:txBody>
          <a:bodyPr wrap="square" lIns="36576" rIns="36576" tIns="18288" bIns="18288">
            <a:spAutoFit/>
          </a:bodyPr>
          <a:lstStyle/>
          <a:p>
            <a:pPr algn="l">
              <a:spcAft>
                <a:spcPts val="300"/>
              </a:spcAft>
            </a:pPr>
            <a:r>
              <a:rPr sz="1150" b="0" i="0">
                <a:solidFill>
                  <a:srgbClr val="00BAF2"/>
                </a:solidFill>
                <a:latin typeface="Liberation Sans"/>
              </a:rPr>
              <a:t>Appendix Status: Corrected from AUDIT.md (all synthetic, simulated, and pending items explicitly labelled).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063240"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2971800"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A2 : DETAILED PROBLEM</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Problem Details, Dated Market Sources &amp; Synthetic Persona</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A2 (Slide 7 / 14)</a:t>
            </a:r>
          </a:p>
        </p:txBody>
      </p:sp>
      <p:sp>
        <p:nvSpPr>
          <p:cNvPr id="10" name="Rounded Rectangle 9"/>
          <p:cNvSpPr/>
          <p:nvPr/>
        </p:nvSpPr>
        <p:spPr>
          <a:xfrm>
            <a:off x="502920" y="1280160"/>
            <a:ext cx="5897880" cy="14630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408176"/>
            <a:ext cx="5532120" cy="310896"/>
          </a:xfrm>
          <a:prstGeom prst="rect">
            <a:avLst/>
          </a:prstGeom>
          <a:noFill/>
        </p:spPr>
        <p:txBody>
          <a:bodyPr wrap="square" lIns="36576" rIns="36576" tIns="18288" bIns="18288">
            <a:spAutoFit/>
          </a:bodyPr>
          <a:lstStyle/>
          <a:p>
            <a:pPr algn="l">
              <a:spcAft>
                <a:spcPts val="300"/>
              </a:spcAft>
            </a:pPr>
            <a:r>
              <a:rPr sz="1300" b="1" i="0">
                <a:solidFill>
                  <a:srgbClr val="002970"/>
                </a:solidFill>
                <a:latin typeface="Liberation Sans"/>
              </a:rPr>
              <a:t>1. Silent Repeat Churn (25% to 35% Yearly - ASSUMPTION)</a:t>
            </a:r>
          </a:p>
        </p:txBody>
      </p:sp>
      <p:sp>
        <p:nvSpPr>
          <p:cNvPr id="12" name="TextBox 11"/>
          <p:cNvSpPr txBox="1"/>
          <p:nvPr/>
        </p:nvSpPr>
        <p:spPr>
          <a:xfrm>
            <a:off x="685800" y="1755648"/>
            <a:ext cx="5532120" cy="868680"/>
          </a:xfrm>
          <a:prstGeom prst="rect">
            <a:avLst/>
          </a:prstGeom>
          <a:noFill/>
        </p:spPr>
        <p:txBody>
          <a:bodyPr wrap="square" lIns="36576" rIns="36576" tIns="18288" bIns="18288">
            <a:spAutoFit/>
          </a:bodyPr>
          <a:lstStyle/>
          <a:p>
            <a:pPr algn="l">
              <a:spcAft>
                <a:spcPts val="300"/>
              </a:spcAft>
            </a:pPr>
            <a:r>
              <a:rPr sz="1150" b="0" i="0">
                <a:solidFill>
                  <a:srgbClr val="334155"/>
                </a:solidFill>
                <a:latin typeface="Liberation Sans"/>
              </a:rPr>
              <a:t>Merchants receive isolated payment alerts without customer-level retention tracking, losing repeat buyers before cashflow drops are noticed.</a:t>
            </a:r>
          </a:p>
        </p:txBody>
      </p:sp>
      <p:sp>
        <p:nvSpPr>
          <p:cNvPr id="13" name="Rounded Rectangle 12"/>
          <p:cNvSpPr/>
          <p:nvPr/>
        </p:nvSpPr>
        <p:spPr>
          <a:xfrm>
            <a:off x="502920" y="2907791"/>
            <a:ext cx="5897880" cy="14630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035808"/>
            <a:ext cx="5532120" cy="310896"/>
          </a:xfrm>
          <a:prstGeom prst="rect">
            <a:avLst/>
          </a:prstGeom>
          <a:noFill/>
        </p:spPr>
        <p:txBody>
          <a:bodyPr wrap="square" lIns="36576" rIns="36576" tIns="18288" bIns="18288">
            <a:spAutoFit/>
          </a:bodyPr>
          <a:lstStyle/>
          <a:p>
            <a:pPr algn="l">
              <a:spcAft>
                <a:spcPts val="300"/>
              </a:spcAft>
            </a:pPr>
            <a:r>
              <a:rPr sz="1300" b="1" i="0">
                <a:solidFill>
                  <a:srgbClr val="002970"/>
                </a:solidFill>
                <a:latin typeface="Liberation Sans"/>
              </a:rPr>
              <a:t>2. Dashboard Friction (&lt;8% WAU - ASSUMPTION)</a:t>
            </a:r>
          </a:p>
        </p:txBody>
      </p:sp>
      <p:sp>
        <p:nvSpPr>
          <p:cNvPr id="15" name="TextBox 14"/>
          <p:cNvSpPr txBox="1"/>
          <p:nvPr/>
        </p:nvSpPr>
        <p:spPr>
          <a:xfrm>
            <a:off x="685800" y="3383279"/>
            <a:ext cx="5532120" cy="868680"/>
          </a:xfrm>
          <a:prstGeom prst="rect">
            <a:avLst/>
          </a:prstGeom>
          <a:noFill/>
        </p:spPr>
        <p:txBody>
          <a:bodyPr wrap="square" lIns="36576" rIns="36576" tIns="18288" bIns="18288">
            <a:spAutoFit/>
          </a:bodyPr>
          <a:lstStyle/>
          <a:p>
            <a:pPr algn="l">
              <a:spcAft>
                <a:spcPts val="300"/>
              </a:spcAft>
            </a:pPr>
            <a:r>
              <a:rPr sz="1150" b="0" i="0">
                <a:solidFill>
                  <a:srgbClr val="334155"/>
                </a:solidFill>
                <a:latin typeface="Liberation Sans"/>
              </a:rPr>
              <a:t>Counter-operated kirana, darshini, and pharmacy shops lack time or training to write prompts, export CSVs, or configure CRM rules.</a:t>
            </a:r>
          </a:p>
        </p:txBody>
      </p:sp>
      <p:sp>
        <p:nvSpPr>
          <p:cNvPr id="16" name="Rounded Rectangle 15"/>
          <p:cNvSpPr/>
          <p:nvPr/>
        </p:nvSpPr>
        <p:spPr>
          <a:xfrm>
            <a:off x="502920" y="4535424"/>
            <a:ext cx="5897880" cy="14630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663440"/>
            <a:ext cx="5532120" cy="310896"/>
          </a:xfrm>
          <a:prstGeom prst="rect">
            <a:avLst/>
          </a:prstGeom>
          <a:noFill/>
        </p:spPr>
        <p:txBody>
          <a:bodyPr wrap="square" lIns="36576" rIns="36576" tIns="18288" bIns="18288">
            <a:spAutoFit/>
          </a:bodyPr>
          <a:lstStyle/>
          <a:p>
            <a:pPr algn="l">
              <a:spcAft>
                <a:spcPts val="300"/>
              </a:spcAft>
            </a:pPr>
            <a:r>
              <a:rPr sz="1300" b="1" i="0">
                <a:solidFill>
                  <a:srgbClr val="002970"/>
                </a:solidFill>
                <a:latin typeface="Liberation Sans"/>
              </a:rPr>
              <a:t>3. Dead Hours &amp; Rush Prep (SYNTHETIC STORE)</a:t>
            </a:r>
          </a:p>
        </p:txBody>
      </p:sp>
      <p:sp>
        <p:nvSpPr>
          <p:cNvPr id="18" name="TextBox 17"/>
          <p:cNvSpPr txBox="1"/>
          <p:nvPr/>
        </p:nvSpPr>
        <p:spPr>
          <a:xfrm>
            <a:off x="685800" y="5010912"/>
            <a:ext cx="5532120" cy="868680"/>
          </a:xfrm>
          <a:prstGeom prst="rect">
            <a:avLst/>
          </a:prstGeom>
          <a:noFill/>
        </p:spPr>
        <p:txBody>
          <a:bodyPr wrap="square" lIns="36576" rIns="36576" tIns="18288" bIns="18288">
            <a:spAutoFit/>
          </a:bodyPr>
          <a:lstStyle/>
          <a:p>
            <a:pPr algn="l">
              <a:spcAft>
                <a:spcPts val="300"/>
              </a:spcAft>
            </a:pPr>
            <a:r>
              <a:rPr sz="1150" b="0" i="0">
                <a:solidFill>
                  <a:srgbClr val="334155"/>
                </a:solidFill>
                <a:latin typeface="Liberation Sans"/>
              </a:rPr>
              <a:t>In our 60-day synthetic Indiranagar ledger, 3 to 5 PM scans fall 70% below peak while weekend morning rushes risk staple stockouts.</a:t>
            </a:r>
          </a:p>
        </p:txBody>
      </p:sp>
      <p:sp>
        <p:nvSpPr>
          <p:cNvPr id="19" name="Rounded Rectangle 18"/>
          <p:cNvSpPr/>
          <p:nvPr/>
        </p:nvSpPr>
        <p:spPr>
          <a:xfrm>
            <a:off x="6583680" y="1280160"/>
            <a:ext cx="5102352" cy="32918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1_hourly_synthetic.png"/>
          <p:cNvPicPr>
            <a:picLocks noChangeAspect="1"/>
          </p:cNvPicPr>
          <p:nvPr/>
        </p:nvPicPr>
        <p:blipFill>
          <a:blip r:embed="rId2"/>
          <a:stretch>
            <a:fillRect/>
          </a:stretch>
        </p:blipFill>
        <p:spPr>
          <a:xfrm>
            <a:off x="6894576" y="1335024"/>
            <a:ext cx="4480560" cy="3162748"/>
          </a:xfrm>
          <a:prstGeom prst="rect">
            <a:avLst/>
          </a:prstGeom>
        </p:spPr>
      </p:pic>
      <p:sp>
        <p:nvSpPr>
          <p:cNvPr id="21" name="Rounded Rectangle 20"/>
          <p:cNvSpPr/>
          <p:nvPr/>
        </p:nvSpPr>
        <p:spPr>
          <a:xfrm>
            <a:off x="6583680" y="4709160"/>
            <a:ext cx="5102352" cy="1600200"/>
          </a:xfrm>
          <a:prstGeom prst="roundRect">
            <a:avLst>
              <a:gd name="adj" fmla="val 3000"/>
            </a:avLst>
          </a:prstGeom>
          <a:solidFill>
            <a:srgbClr val="001B4D"/>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48272" y="4809744"/>
            <a:ext cx="4773168" cy="1417320"/>
          </a:xfrm>
          <a:prstGeom prst="rect">
            <a:avLst/>
          </a:prstGeom>
          <a:noFill/>
        </p:spPr>
        <p:txBody>
          <a:bodyPr wrap="square" lIns="36576" rIns="36576" tIns="18288" bIns="18288">
            <a:spAutoFit/>
          </a:bodyPr>
          <a:lstStyle/>
          <a:p>
            <a:pPr algn="l">
              <a:spcAft>
                <a:spcPts val="300"/>
              </a:spcAft>
            </a:pPr>
            <a:r>
              <a:rPr sz="1060" b="0" i="0">
                <a:solidFill>
                  <a:srgbClr val="FFFFFF"/>
                </a:solidFill>
                <a:latin typeface="Liberation Sans"/>
              </a:rPr>
              <a:t>VERIFIED PAYTM DISCLOSURES vs SYNTHETIC PERSONA</a:t>
            </a:r>
          </a:p>
          <a:p>
            <a:pPr algn="l">
              <a:spcAft>
                <a:spcPts val="300"/>
              </a:spcAft>
            </a:pPr>
            <a:r>
              <a:rPr sz="1060" b="0" i="0">
                <a:solidFill>
                  <a:srgbClr val="FFFFFF"/>
                </a:solidFill>
                <a:latin typeface="Liberation Sans"/>
              </a:rPr>
              <a:t>* Paytm Scale: 1.57 Cr device merchants, Rs 7.1L Cr GMV (Q1 FY27, Jul 2026); ~7% loan pen. (Q4 FY26, May 2026).</a:t>
            </a:r>
          </a:p>
          <a:p>
            <a:pPr algn="l">
              <a:spcAft>
                <a:spcPts val="300"/>
              </a:spcAft>
            </a:pPr>
            <a:r>
              <a:rPr sz="1060" b="0" i="0">
                <a:solidFill>
                  <a:srgbClr val="FFFFFF"/>
                </a:solidFill>
                <a:latin typeface="Liberation Sans"/>
              </a:rPr>
              <a:t>* Synthetic Persona: Ramesh Rao, Sri Krishna Darshini (917 scans/30d, Rs 1.75L GMV; 48 regulars silent 16-38d).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063240"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2971800"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A3 : 3-PILLAR MAPPING</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Track 1 Coverage: Growth, Operations, and Customer Recovery</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A3 (Slide 8 / 14)</a:t>
            </a:r>
          </a:p>
        </p:txBody>
      </p:sp>
      <p:sp>
        <p:nvSpPr>
          <p:cNvPr id="10" name="Rounded Rectangle 9"/>
          <p:cNvSpPr/>
          <p:nvPr/>
        </p:nvSpPr>
        <p:spPr>
          <a:xfrm>
            <a:off x="502920" y="1280160"/>
            <a:ext cx="3602736" cy="49834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426464"/>
            <a:ext cx="3273552" cy="256032"/>
          </a:xfrm>
          <a:prstGeom prst="rect">
            <a:avLst/>
          </a:prstGeom>
          <a:noFill/>
        </p:spPr>
        <p:txBody>
          <a:bodyPr wrap="square" lIns="36576" rIns="36576" tIns="18288" bIns="18288">
            <a:spAutoFit/>
          </a:bodyPr>
          <a:lstStyle/>
          <a:p>
            <a:pPr algn="l">
              <a:spcAft>
                <a:spcPts val="300"/>
              </a:spcAft>
            </a:pPr>
            <a:r>
              <a:rPr sz="1050" b="1" i="0">
                <a:solidFill>
                  <a:srgbClr val="002970"/>
                </a:solidFill>
                <a:latin typeface="Liberation Sans"/>
              </a:rPr>
              <a:t>PILLAR 1 : GROW BUSINESS</a:t>
            </a:r>
          </a:p>
        </p:txBody>
      </p:sp>
      <p:sp>
        <p:nvSpPr>
          <p:cNvPr id="12" name="TextBox 11"/>
          <p:cNvSpPr txBox="1"/>
          <p:nvPr/>
        </p:nvSpPr>
        <p:spPr>
          <a:xfrm>
            <a:off x="667512" y="1700784"/>
            <a:ext cx="3273552" cy="329184"/>
          </a:xfrm>
          <a:prstGeom prst="rect">
            <a:avLst/>
          </a:prstGeom>
          <a:noFill/>
        </p:spPr>
        <p:txBody>
          <a:bodyPr wrap="square" lIns="36576" rIns="36576" tIns="18288" bIns="18288">
            <a:spAutoFit/>
          </a:bodyPr>
          <a:lstStyle/>
          <a:p>
            <a:pPr algn="l">
              <a:spcAft>
                <a:spcPts val="300"/>
              </a:spcAft>
            </a:pPr>
            <a:r>
              <a:rPr sz="1450" b="1" i="0">
                <a:solidFill>
                  <a:srgbClr val="0F172A"/>
                </a:solidFill>
                <a:latin typeface="Liberation Sans"/>
              </a:rPr>
              <a:t>Retention &amp; Dead-Hour Copilot</a:t>
            </a:r>
          </a:p>
        </p:txBody>
      </p:sp>
      <p:sp>
        <p:nvSpPr>
          <p:cNvPr id="13" name="TextBox 12"/>
          <p:cNvSpPr txBox="1"/>
          <p:nvPr/>
        </p:nvSpPr>
        <p:spPr>
          <a:xfrm>
            <a:off x="630936" y="2121408"/>
            <a:ext cx="3346704" cy="3977639"/>
          </a:xfrm>
          <a:prstGeom prst="rect">
            <a:avLst/>
          </a:prstGeom>
          <a:noFill/>
        </p:spPr>
        <p:txBody>
          <a:bodyPr wrap="square" lIns="45720" rIns="45720" tIns="27432" bIns="27432">
            <a:spAutoFit/>
          </a:bodyPr>
          <a:lstStyle/>
          <a:p>
            <a:pPr>
              <a:spcAft>
                <a:spcPts val="1000"/>
              </a:spcAft>
            </a:pPr>
            <a:r>
              <a:rPr sz="1200" b="1">
                <a:solidFill>
                  <a:srgbClr val="002970"/>
                </a:solidFill>
                <a:latin typeface="Liberation Sans"/>
              </a:rPr>
              <a:t>* Churn Detection (Built): </a:t>
            </a:r>
            <a:r>
              <a:rPr sz="1200" b="0">
                <a:solidFill>
                  <a:srgbClr val="0F172A"/>
                </a:solidFill>
                <a:latin typeface="Liberation Sans"/>
              </a:rPr>
              <a:t>SQL flags regulars silent 16+ days (16-38d in synthetic DB).</a:t>
            </a:r>
          </a:p>
          <a:p>
            <a:pPr>
              <a:spcAft>
                <a:spcPts val="1000"/>
              </a:spcAft>
            </a:pPr>
            <a:r>
              <a:rPr sz="1200" b="1">
                <a:solidFill>
                  <a:srgbClr val="002970"/>
                </a:solidFill>
                <a:latin typeface="Liberation Sans"/>
              </a:rPr>
              <a:t>* Dead-Hour Cohort (Built): </a:t>
            </a:r>
            <a:r>
              <a:rPr sz="1200" b="0">
                <a:solidFill>
                  <a:srgbClr val="0F172A"/>
                </a:solidFill>
                <a:latin typeface="Liberation Sans"/>
              </a:rPr>
              <a:t>Identifies 3-5 PM snack buyers (55 detected, 34 eligible).</a:t>
            </a:r>
          </a:p>
          <a:p>
            <a:pPr>
              <a:spcAft>
                <a:spcPts val="1000"/>
              </a:spcAft>
            </a:pPr>
            <a:r>
              <a:rPr sz="1200" b="1">
                <a:solidFill>
                  <a:srgbClr val="002970"/>
                </a:solidFill>
                <a:latin typeface="Liberation Sans"/>
              </a:rPr>
              <a:t>* QR Cashback Pass (Planned): </a:t>
            </a:r>
            <a:r>
              <a:rPr sz="1200" b="0">
                <a:solidFill>
                  <a:srgbClr val="0F172A"/>
                </a:solidFill>
                <a:latin typeface="Liberation Sans"/>
              </a:rPr>
              <a:t>Production hook into Paytm QR coupon redemption rail.</a:t>
            </a:r>
          </a:p>
          <a:p>
            <a:pPr>
              <a:spcAft>
                <a:spcPts val="1000"/>
              </a:spcAft>
            </a:pPr>
            <a:r>
              <a:rPr sz="1200" b="1">
                <a:solidFill>
                  <a:srgbClr val="002970"/>
                </a:solidFill>
                <a:latin typeface="Liberation Sans"/>
              </a:rPr>
              <a:t>* Holdout Split (Built): </a:t>
            </a:r>
            <a:r>
              <a:rPr sz="1200" b="0">
                <a:solidFill>
                  <a:srgbClr val="0F172A"/>
                </a:solidFill>
                <a:latin typeface="Liberation Sans"/>
              </a:rPr>
              <a:t>Randomized 80/20 split for honest pilot measurement.</a:t>
            </a:r>
          </a:p>
        </p:txBody>
      </p:sp>
      <p:sp>
        <p:nvSpPr>
          <p:cNvPr id="14" name="Rounded Rectangle 13"/>
          <p:cNvSpPr/>
          <p:nvPr/>
        </p:nvSpPr>
        <p:spPr>
          <a:xfrm>
            <a:off x="4288536" y="1280160"/>
            <a:ext cx="3602736" cy="49834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7" y="1426464"/>
            <a:ext cx="3273552" cy="256032"/>
          </a:xfrm>
          <a:prstGeom prst="rect">
            <a:avLst/>
          </a:prstGeom>
          <a:noFill/>
        </p:spPr>
        <p:txBody>
          <a:bodyPr wrap="square" lIns="36576" rIns="36576" tIns="18288" bIns="18288">
            <a:spAutoFit/>
          </a:bodyPr>
          <a:lstStyle/>
          <a:p>
            <a:pPr algn="l">
              <a:spcAft>
                <a:spcPts val="300"/>
              </a:spcAft>
            </a:pPr>
            <a:r>
              <a:rPr sz="1050" b="1" i="0">
                <a:solidFill>
                  <a:srgbClr val="002970"/>
                </a:solidFill>
                <a:latin typeface="Liberation Sans"/>
              </a:rPr>
              <a:t>PILLAR 2 : MANAGE OPERATIONS</a:t>
            </a:r>
          </a:p>
        </p:txBody>
      </p:sp>
      <p:sp>
        <p:nvSpPr>
          <p:cNvPr id="16" name="TextBox 15"/>
          <p:cNvSpPr txBox="1"/>
          <p:nvPr/>
        </p:nvSpPr>
        <p:spPr>
          <a:xfrm>
            <a:off x="4453127" y="1700784"/>
            <a:ext cx="3273552" cy="329184"/>
          </a:xfrm>
          <a:prstGeom prst="rect">
            <a:avLst/>
          </a:prstGeom>
          <a:noFill/>
        </p:spPr>
        <p:txBody>
          <a:bodyPr wrap="square" lIns="36576" rIns="36576" tIns="18288" bIns="18288">
            <a:spAutoFit/>
          </a:bodyPr>
          <a:lstStyle/>
          <a:p>
            <a:pPr algn="l">
              <a:spcAft>
                <a:spcPts val="300"/>
              </a:spcAft>
            </a:pPr>
            <a:r>
              <a:rPr sz="1450" b="1" i="0">
                <a:solidFill>
                  <a:srgbClr val="0F172A"/>
                </a:solidFill>
                <a:latin typeface="Liberation Sans"/>
              </a:rPr>
              <a:t>Rush Prep &amp; Cashflow Signals</a:t>
            </a:r>
          </a:p>
        </p:txBody>
      </p:sp>
      <p:sp>
        <p:nvSpPr>
          <p:cNvPr id="17" name="TextBox 16"/>
          <p:cNvSpPr txBox="1"/>
          <p:nvPr/>
        </p:nvSpPr>
        <p:spPr>
          <a:xfrm>
            <a:off x="4416551" y="2121408"/>
            <a:ext cx="3346704" cy="3977639"/>
          </a:xfrm>
          <a:prstGeom prst="rect">
            <a:avLst/>
          </a:prstGeom>
          <a:noFill/>
        </p:spPr>
        <p:txBody>
          <a:bodyPr wrap="square" lIns="45720" rIns="45720" tIns="27432" bIns="27432">
            <a:spAutoFit/>
          </a:bodyPr>
          <a:lstStyle/>
          <a:p>
            <a:pPr>
              <a:spcAft>
                <a:spcPts val="1000"/>
              </a:spcAft>
            </a:pPr>
            <a:r>
              <a:rPr sz="1200" b="1">
                <a:solidFill>
                  <a:srgbClr val="002970"/>
                </a:solidFill>
                <a:latin typeface="Liberation Sans"/>
              </a:rPr>
              <a:t>* Rush Alert (Simulated): </a:t>
            </a:r>
            <a:r>
              <a:rPr sz="1200" b="0">
                <a:solidFill>
                  <a:srgbClr val="0F172A"/>
                </a:solidFill>
                <a:latin typeface="Liberation Sans"/>
              </a:rPr>
              <a:t>Flags weekend morning demand spikes from scan history.</a:t>
            </a:r>
          </a:p>
          <a:p>
            <a:pPr>
              <a:spcAft>
                <a:spcPts val="1000"/>
              </a:spcAft>
            </a:pPr>
            <a:r>
              <a:rPr sz="1200" b="1">
                <a:solidFill>
                  <a:srgbClr val="002970"/>
                </a:solidFill>
                <a:latin typeface="Liberation Sans"/>
              </a:rPr>
              <a:t>* Supplier PO (Simulated): </a:t>
            </a:r>
            <a:r>
              <a:rPr sz="1200" b="0">
                <a:solidFill>
                  <a:srgbClr val="0F172A"/>
                </a:solidFill>
                <a:latin typeface="Liberation Sans"/>
              </a:rPr>
              <a:t>Drafts pre-filled WhatsApp restock order (+18L milk, +12kg batter).</a:t>
            </a:r>
          </a:p>
          <a:p>
            <a:pPr>
              <a:spcAft>
                <a:spcPts val="1000"/>
              </a:spcAft>
            </a:pPr>
            <a:r>
              <a:rPr sz="1200" b="1">
                <a:solidFill>
                  <a:srgbClr val="002970"/>
                </a:solidFill>
                <a:latin typeface="Liberation Sans"/>
              </a:rPr>
              <a:t>* Cap Ledger (Stage 1): </a:t>
            </a:r>
            <a:r>
              <a:rPr sz="1200" b="0">
                <a:solidFill>
                  <a:srgbClr val="0F172A"/>
                </a:solidFill>
                <a:latin typeface="Liberation Sans"/>
              </a:rPr>
              <a:t>Tracks committed cashback passes separately from API credits.</a:t>
            </a:r>
          </a:p>
          <a:p>
            <a:pPr>
              <a:spcAft>
                <a:spcPts val="1000"/>
              </a:spcAft>
            </a:pPr>
            <a:r>
              <a:rPr sz="1200" b="1">
                <a:solidFill>
                  <a:srgbClr val="002970"/>
                </a:solidFill>
                <a:latin typeface="Liberation Sans"/>
              </a:rPr>
              <a:t>* Credit Signal (Planned): </a:t>
            </a:r>
            <a:r>
              <a:rPr sz="1200" b="0">
                <a:solidFill>
                  <a:srgbClr val="0F172A"/>
                </a:solidFill>
                <a:latin typeface="Liberation Sans"/>
              </a:rPr>
              <a:t>Feeds verified retention metrics to partner lending funnel.</a:t>
            </a:r>
          </a:p>
        </p:txBody>
      </p:sp>
      <p:sp>
        <p:nvSpPr>
          <p:cNvPr id="18" name="Rounded Rectangle 17"/>
          <p:cNvSpPr/>
          <p:nvPr/>
        </p:nvSpPr>
        <p:spPr>
          <a:xfrm>
            <a:off x="8074152" y="1280160"/>
            <a:ext cx="3602736" cy="49834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1426464"/>
            <a:ext cx="3273552" cy="256032"/>
          </a:xfrm>
          <a:prstGeom prst="rect">
            <a:avLst/>
          </a:prstGeom>
          <a:noFill/>
        </p:spPr>
        <p:txBody>
          <a:bodyPr wrap="square" lIns="36576" rIns="36576" tIns="18288" bIns="18288">
            <a:spAutoFit/>
          </a:bodyPr>
          <a:lstStyle/>
          <a:p>
            <a:pPr algn="l">
              <a:spcAft>
                <a:spcPts val="300"/>
              </a:spcAft>
            </a:pPr>
            <a:r>
              <a:rPr sz="1050" b="1" i="0">
                <a:solidFill>
                  <a:srgbClr val="002970"/>
                </a:solidFill>
                <a:latin typeface="Liberation Sans"/>
              </a:rPr>
              <a:t>PILLAR 3 : SERVE CUSTOMERS</a:t>
            </a:r>
          </a:p>
        </p:txBody>
      </p:sp>
      <p:sp>
        <p:nvSpPr>
          <p:cNvPr id="20" name="TextBox 19"/>
          <p:cNvSpPr txBox="1"/>
          <p:nvPr/>
        </p:nvSpPr>
        <p:spPr>
          <a:xfrm>
            <a:off x="8238744" y="1700784"/>
            <a:ext cx="3273552" cy="329184"/>
          </a:xfrm>
          <a:prstGeom prst="rect">
            <a:avLst/>
          </a:prstGeom>
          <a:noFill/>
        </p:spPr>
        <p:txBody>
          <a:bodyPr wrap="square" lIns="36576" rIns="36576" tIns="18288" bIns="18288">
            <a:spAutoFit/>
          </a:bodyPr>
          <a:lstStyle/>
          <a:p>
            <a:pPr algn="l">
              <a:spcAft>
                <a:spcPts val="300"/>
              </a:spcAft>
            </a:pPr>
            <a:r>
              <a:rPr sz="1450" b="1" i="0">
                <a:solidFill>
                  <a:srgbClr val="0F172A"/>
                </a:solidFill>
                <a:latin typeface="Liberation Sans"/>
              </a:rPr>
              <a:t>Privacy-Safe Service Recovery</a:t>
            </a:r>
          </a:p>
        </p:txBody>
      </p:sp>
      <p:sp>
        <p:nvSpPr>
          <p:cNvPr id="21" name="TextBox 20"/>
          <p:cNvSpPr txBox="1"/>
          <p:nvPr/>
        </p:nvSpPr>
        <p:spPr>
          <a:xfrm>
            <a:off x="8202168" y="2121408"/>
            <a:ext cx="3346704" cy="3977639"/>
          </a:xfrm>
          <a:prstGeom prst="rect">
            <a:avLst/>
          </a:prstGeom>
          <a:noFill/>
        </p:spPr>
        <p:txBody>
          <a:bodyPr wrap="square" lIns="45720" rIns="45720" tIns="27432" bIns="27432">
            <a:spAutoFit/>
          </a:bodyPr>
          <a:lstStyle/>
          <a:p>
            <a:pPr>
              <a:spcAft>
                <a:spcPts val="1000"/>
              </a:spcAft>
            </a:pPr>
            <a:r>
              <a:rPr sz="1200" b="1">
                <a:solidFill>
                  <a:srgbClr val="002970"/>
                </a:solidFill>
                <a:latin typeface="Liberation Sans"/>
              </a:rPr>
              <a:t>* Delay Tagging (Simulated): </a:t>
            </a:r>
            <a:r>
              <a:rPr sz="1200" b="0">
                <a:solidFill>
                  <a:srgbClr val="0F172A"/>
                </a:solidFill>
                <a:latin typeface="Liberation Sans"/>
              </a:rPr>
              <a:t>Flags peak-hour queue delays and low feedback tags.</a:t>
            </a:r>
          </a:p>
          <a:p>
            <a:pPr>
              <a:spcAft>
                <a:spcPts val="1000"/>
              </a:spcAft>
            </a:pPr>
            <a:r>
              <a:rPr sz="1200" b="1">
                <a:solidFill>
                  <a:srgbClr val="002970"/>
                </a:solidFill>
                <a:latin typeface="Liberation Sans"/>
              </a:rPr>
              <a:t>* Goodwill Pass (Simulated): </a:t>
            </a:r>
            <a:r>
              <a:rPr sz="1200" b="0">
                <a:solidFill>
                  <a:srgbClr val="0F172A"/>
                </a:solidFill>
                <a:latin typeface="Liberation Sans"/>
              </a:rPr>
              <a:t>1-tap bilingual apology + Rs 30 next-scan coffee voucher.</a:t>
            </a:r>
          </a:p>
          <a:p>
            <a:pPr>
              <a:spcAft>
                <a:spcPts val="1000"/>
              </a:spcAft>
            </a:pPr>
            <a:r>
              <a:rPr sz="1200" b="1">
                <a:solidFill>
                  <a:srgbClr val="002970"/>
                </a:solidFill>
                <a:latin typeface="Liberation Sans"/>
              </a:rPr>
              <a:t>* Zero PII Leakage (Built): </a:t>
            </a:r>
            <a:r>
              <a:rPr sz="1200" b="0">
                <a:solidFill>
                  <a:srgbClr val="0F172A"/>
                </a:solidFill>
                <a:latin typeface="Liberation Sans"/>
              </a:rPr>
              <a:t>Merchant sees cohort counts/first-name hints, never raw phone numbers.</a:t>
            </a:r>
          </a:p>
          <a:p>
            <a:pPr>
              <a:spcAft>
                <a:spcPts val="1000"/>
              </a:spcAft>
            </a:pPr>
            <a:r>
              <a:rPr sz="1200" b="1">
                <a:solidFill>
                  <a:srgbClr val="002970"/>
                </a:solidFill>
                <a:latin typeface="Liberation Sans"/>
              </a:rPr>
              <a:t>* DPDP &amp; Cooldown (Built): </a:t>
            </a:r>
            <a:r>
              <a:rPr sz="1200" b="0">
                <a:solidFill>
                  <a:srgbClr val="0F172A"/>
                </a:solidFill>
                <a:latin typeface="Liberation Sans"/>
              </a:rPr>
              <a:t>Hard opt-in filter and 14-day per-payer message cooldown.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410712"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319272"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A4 : WORKFLOW &amp; MVP SCOPE</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Closing-Time Workflow (Synthetic Dataset &amp; Deterministic Simulation)</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A4 (Slide 9 / 14)</a:t>
            </a:r>
          </a:p>
        </p:txBody>
      </p:sp>
      <p:sp>
        <p:nvSpPr>
          <p:cNvPr id="10" name="Rounded Rectangle 9"/>
          <p:cNvSpPr/>
          <p:nvPr/>
        </p:nvSpPr>
        <p:spPr>
          <a:xfrm>
            <a:off x="502920" y="1325880"/>
            <a:ext cx="2670048" cy="2834640"/>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 y="1463040"/>
            <a:ext cx="2414016" cy="329184"/>
          </a:xfrm>
          <a:prstGeom prst="rect">
            <a:avLst/>
          </a:prstGeom>
          <a:noFill/>
        </p:spPr>
        <p:txBody>
          <a:bodyPr wrap="square" lIns="36576" rIns="36576" tIns="18288" bIns="18288">
            <a:spAutoFit/>
          </a:bodyPr>
          <a:lstStyle/>
          <a:p>
            <a:pPr algn="l">
              <a:spcAft>
                <a:spcPts val="300"/>
              </a:spcAft>
            </a:pPr>
            <a:r>
              <a:rPr sz="1150" b="1" i="0">
                <a:solidFill>
                  <a:srgbClr val="002970"/>
                </a:solidFill>
                <a:latin typeface="Liberation Sans"/>
              </a:rPr>
              <a:t>STEP 1 : SQL SCAN (BUILT)</a:t>
            </a:r>
          </a:p>
        </p:txBody>
      </p:sp>
      <p:sp>
        <p:nvSpPr>
          <p:cNvPr id="12" name="TextBox 11"/>
          <p:cNvSpPr txBox="1"/>
          <p:nvPr/>
        </p:nvSpPr>
        <p:spPr>
          <a:xfrm>
            <a:off x="630936" y="1874519"/>
            <a:ext cx="2414016" cy="2148840"/>
          </a:xfrm>
          <a:prstGeom prst="rect">
            <a:avLst/>
          </a:prstGeom>
          <a:noFill/>
        </p:spPr>
        <p:txBody>
          <a:bodyPr wrap="square" lIns="36576" rIns="36576" tIns="18288" bIns="18288">
            <a:spAutoFit/>
          </a:bodyPr>
          <a:lstStyle/>
          <a:p>
            <a:pPr algn="l">
              <a:spcAft>
                <a:spcPts val="300"/>
              </a:spcAft>
            </a:pPr>
            <a:r>
              <a:rPr sz="1150" b="0" i="0">
                <a:solidFill>
                  <a:srgbClr val="0F172A"/>
                </a:solidFill>
                <a:latin typeface="Liberation Sans"/>
              </a:rPr>
              <a:t>Queries 1,613 synthetic UPI scans across 240 payers. Detects 48 evening regulars silent 16 to 38 days (median 19d).</a:t>
            </a:r>
          </a:p>
        </p:txBody>
      </p:sp>
      <p:sp>
        <p:nvSpPr>
          <p:cNvPr id="13" name="Rounded Rectangle 12"/>
          <p:cNvSpPr/>
          <p:nvPr/>
        </p:nvSpPr>
        <p:spPr>
          <a:xfrm>
            <a:off x="3337560" y="1325880"/>
            <a:ext cx="2670048" cy="2834640"/>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65576" y="1463040"/>
            <a:ext cx="2414016" cy="329184"/>
          </a:xfrm>
          <a:prstGeom prst="rect">
            <a:avLst/>
          </a:prstGeom>
          <a:noFill/>
        </p:spPr>
        <p:txBody>
          <a:bodyPr wrap="square" lIns="36576" rIns="36576" tIns="18288" bIns="18288">
            <a:spAutoFit/>
          </a:bodyPr>
          <a:lstStyle/>
          <a:p>
            <a:pPr algn="l">
              <a:spcAft>
                <a:spcPts val="300"/>
              </a:spcAft>
            </a:pPr>
            <a:r>
              <a:rPr sz="1150" b="1" i="0">
                <a:solidFill>
                  <a:srgbClr val="002970"/>
                </a:solidFill>
                <a:latin typeface="Liberation Sans"/>
              </a:rPr>
              <a:t>STEP 2 : GUARDRAILS (BUILT)</a:t>
            </a:r>
          </a:p>
        </p:txBody>
      </p:sp>
      <p:sp>
        <p:nvSpPr>
          <p:cNvPr id="15" name="TextBox 14"/>
          <p:cNvSpPr txBox="1"/>
          <p:nvPr/>
        </p:nvSpPr>
        <p:spPr>
          <a:xfrm>
            <a:off x="3465576" y="1874519"/>
            <a:ext cx="2414016" cy="2148840"/>
          </a:xfrm>
          <a:prstGeom prst="rect">
            <a:avLst/>
          </a:prstGeom>
          <a:noFill/>
        </p:spPr>
        <p:txBody>
          <a:bodyPr wrap="square" lIns="36576" rIns="36576" tIns="18288" bIns="18288">
            <a:spAutoFit/>
          </a:bodyPr>
          <a:lstStyle/>
          <a:p>
            <a:pPr algn="l">
              <a:spcAft>
                <a:spcPts val="300"/>
              </a:spcAft>
            </a:pPr>
            <a:r>
              <a:rPr sz="1150" b="0" i="0">
                <a:solidFill>
                  <a:srgbClr val="0F172A"/>
                </a:solidFill>
                <a:latin typeface="Liberation Sans"/>
              </a:rPr>
              <a:t>Excludes 5 unconsented (DPDP) &amp; 3 on 14d cooldown -&gt; 40 eligible. Checks Rs 25/Rs 150 (16.7% &lt;= 22% floor) &amp; Rs 300 cap.</a:t>
            </a:r>
          </a:p>
        </p:txBody>
      </p:sp>
      <p:sp>
        <p:nvSpPr>
          <p:cNvPr id="16" name="Rounded Rectangle 15"/>
          <p:cNvSpPr/>
          <p:nvPr/>
        </p:nvSpPr>
        <p:spPr>
          <a:xfrm>
            <a:off x="6172200" y="1325880"/>
            <a:ext cx="2670048" cy="2834640"/>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6" y="1463040"/>
            <a:ext cx="2414016" cy="329184"/>
          </a:xfrm>
          <a:prstGeom prst="rect">
            <a:avLst/>
          </a:prstGeom>
          <a:noFill/>
        </p:spPr>
        <p:txBody>
          <a:bodyPr wrap="square" lIns="36576" rIns="36576" tIns="18288" bIns="18288">
            <a:spAutoFit/>
          </a:bodyPr>
          <a:lstStyle/>
          <a:p>
            <a:pPr algn="l">
              <a:spcAft>
                <a:spcPts val="300"/>
              </a:spcAft>
            </a:pPr>
            <a:r>
              <a:rPr sz="1150" b="1" i="0">
                <a:solidFill>
                  <a:srgbClr val="002970"/>
                </a:solidFill>
                <a:latin typeface="Liberation Sans"/>
              </a:rPr>
              <a:t>STEP 3 : APPROVAL (BUILT)</a:t>
            </a:r>
          </a:p>
        </p:txBody>
      </p:sp>
      <p:sp>
        <p:nvSpPr>
          <p:cNvPr id="18" name="TextBox 17"/>
          <p:cNvSpPr txBox="1"/>
          <p:nvPr/>
        </p:nvSpPr>
        <p:spPr>
          <a:xfrm>
            <a:off x="6300216" y="1874519"/>
            <a:ext cx="2414016" cy="2148840"/>
          </a:xfrm>
          <a:prstGeom prst="rect">
            <a:avLst/>
          </a:prstGeom>
          <a:noFill/>
        </p:spPr>
        <p:txBody>
          <a:bodyPr wrap="square" lIns="36576" rIns="36576" tIns="18288" bIns="18288">
            <a:spAutoFit/>
          </a:bodyPr>
          <a:lstStyle/>
          <a:p>
            <a:pPr algn="l">
              <a:spcAft>
                <a:spcPts val="300"/>
              </a:spcAft>
            </a:pPr>
            <a:r>
              <a:rPr sz="1150" b="0" i="0">
                <a:solidFill>
                  <a:srgbClr val="0F172A"/>
                </a:solidFill>
                <a:latin typeface="Liberation Sans"/>
              </a:rPr>
              <a:t>Plays draft Kannada/Hindi/English prompt via browser TTS; merchant approves by 1-tap button or voice command (32 nudged, 8 control).</a:t>
            </a:r>
          </a:p>
        </p:txBody>
      </p:sp>
      <p:sp>
        <p:nvSpPr>
          <p:cNvPr id="19" name="Rounded Rectangle 18"/>
          <p:cNvSpPr/>
          <p:nvPr/>
        </p:nvSpPr>
        <p:spPr>
          <a:xfrm>
            <a:off x="9006840" y="1325880"/>
            <a:ext cx="2670048" cy="2834640"/>
          </a:xfrm>
          <a:prstGeom prst="roundRect">
            <a:avLst>
              <a:gd name="adj" fmla="val 3000"/>
            </a:avLst>
          </a:prstGeom>
          <a:solidFill>
            <a:srgbClr val="FFFFFF"/>
          </a:solidFill>
          <a:ln w="1524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34856" y="1463040"/>
            <a:ext cx="2414016" cy="329184"/>
          </a:xfrm>
          <a:prstGeom prst="rect">
            <a:avLst/>
          </a:prstGeom>
          <a:noFill/>
        </p:spPr>
        <p:txBody>
          <a:bodyPr wrap="square" lIns="36576" rIns="36576" tIns="18288" bIns="18288">
            <a:spAutoFit/>
          </a:bodyPr>
          <a:lstStyle/>
          <a:p>
            <a:pPr algn="l">
              <a:spcAft>
                <a:spcPts val="300"/>
              </a:spcAft>
            </a:pPr>
            <a:r>
              <a:rPr sz="1150" b="1" i="0">
                <a:solidFill>
                  <a:srgbClr val="002970"/>
                </a:solidFill>
                <a:latin typeface="Liberation Sans"/>
              </a:rPr>
              <a:t>STEP 4 : 48H SIMULATOR</a:t>
            </a:r>
          </a:p>
        </p:txBody>
      </p:sp>
      <p:sp>
        <p:nvSpPr>
          <p:cNvPr id="21" name="TextBox 20"/>
          <p:cNvSpPr txBox="1"/>
          <p:nvPr/>
        </p:nvSpPr>
        <p:spPr>
          <a:xfrm>
            <a:off x="9134856" y="1874519"/>
            <a:ext cx="2414016" cy="2148840"/>
          </a:xfrm>
          <a:prstGeom prst="rect">
            <a:avLst/>
          </a:prstGeom>
          <a:noFill/>
        </p:spPr>
        <p:txBody>
          <a:bodyPr wrap="square" lIns="36576" rIns="36576" tIns="18288" bIns="18288">
            <a:spAutoFit/>
          </a:bodyPr>
          <a:lstStyle/>
          <a:p>
            <a:pPr algn="l">
              <a:spcAft>
                <a:spcPts val="300"/>
              </a:spcAft>
            </a:pPr>
            <a:r>
              <a:rPr sz="1150" b="0" i="0">
                <a:solidFill>
                  <a:srgbClr val="0F172A"/>
                </a:solidFill>
                <a:latin typeface="Liberation Sans"/>
              </a:rPr>
              <a:t>Deterministic simulation: 12/32 vs 1/8 return (p = 0.24). Generates Rs 1,740 sales (5.8x sales/promo) or +Rs 222 pre-fee profit at 30% margin.</a:t>
            </a:r>
          </a:p>
        </p:txBody>
      </p:sp>
      <p:sp>
        <p:nvSpPr>
          <p:cNvPr id="22" name="Rounded Rectangle 21"/>
          <p:cNvSpPr/>
          <p:nvPr/>
        </p:nvSpPr>
        <p:spPr>
          <a:xfrm>
            <a:off x="502920" y="4389120"/>
            <a:ext cx="11183112" cy="1874519"/>
          </a:xfrm>
          <a:prstGeom prst="roundRect">
            <a:avLst>
              <a:gd name="adj" fmla="val 3000"/>
            </a:avLst>
          </a:prstGeom>
          <a:solidFill>
            <a:srgbClr val="FFFBEB"/>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4526280"/>
            <a:ext cx="10744200" cy="310896"/>
          </a:xfrm>
          <a:prstGeom prst="rect">
            <a:avLst/>
          </a:prstGeom>
          <a:noFill/>
        </p:spPr>
        <p:txBody>
          <a:bodyPr wrap="square" lIns="36576" rIns="36576" tIns="18288" bIns="18288">
            <a:spAutoFit/>
          </a:bodyPr>
          <a:lstStyle/>
          <a:p>
            <a:pPr algn="l">
              <a:spcAft>
                <a:spcPts val="300"/>
              </a:spcAft>
            </a:pPr>
            <a:r>
              <a:rPr sz="1250" b="1" i="0">
                <a:solidFill>
                  <a:srgbClr val="B45309"/>
                </a:solidFill>
                <a:latin typeface="Liberation Sans"/>
              </a:rPr>
              <a:t>TRANSPARENCY DISCLOSURE: SYNTHETIC DATA &amp; COMMITMENT ACCOUNTING</a:t>
            </a:r>
          </a:p>
        </p:txBody>
      </p:sp>
      <p:sp>
        <p:nvSpPr>
          <p:cNvPr id="24" name="TextBox 23"/>
          <p:cNvSpPr txBox="1"/>
          <p:nvPr/>
        </p:nvSpPr>
        <p:spPr>
          <a:xfrm>
            <a:off x="713232" y="4882896"/>
            <a:ext cx="10744200" cy="1261872"/>
          </a:xfrm>
          <a:prstGeom prst="rect">
            <a:avLst/>
          </a:prstGeom>
          <a:noFill/>
        </p:spPr>
        <p:txBody>
          <a:bodyPr wrap="square" lIns="36576" rIns="36576" tIns="18288" bIns="18288">
            <a:spAutoFit/>
          </a:bodyPr>
          <a:lstStyle/>
          <a:p>
            <a:pPr algn="l">
              <a:spcAft>
                <a:spcPts val="300"/>
              </a:spcAft>
            </a:pPr>
            <a:r>
              <a:rPr sz="1200" b="0" i="0">
                <a:solidFill>
                  <a:srgbClr val="0F172A"/>
                </a:solidFill>
                <a:latin typeface="Liberation Sans"/>
              </a:rPr>
              <a:t>1. Dataset: All 240 customers and 1,613 historical UPI transactions are synthetically seeded (random.Random(20261025)); 48h redemptions are simulated.</a:t>
            </a:r>
          </a:p>
          <a:p>
            <a:pPr algn="l">
              <a:spcAft>
                <a:spcPts val="300"/>
              </a:spcAft>
            </a:pPr>
            <a:r>
              <a:rPr sz="1200" b="0" i="0">
                <a:solidFill>
                  <a:srgbClr val="0F172A"/>
                </a:solidFill>
                <a:latin typeface="Liberation Sans"/>
              </a:rPr>
              <a:t>2. Cap Commitment Note: Issuing 32 passes of Rs 25 equals Rs 800 face exposure if capped only at scan time; strict commitment accounting caps active unredeemed passes at 12 per wave for a Rs 300 hard ceiling.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323844"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232404"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A5 : SYSTEM ARCHITECTURE</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Component Status: Built in MVP vs Pending vs Production Plan</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A5 (Slide 10 / 14)</a:t>
            </a:r>
          </a:p>
        </p:txBody>
      </p:sp>
      <p:sp>
        <p:nvSpPr>
          <p:cNvPr id="10" name="Rounded Rectangle 9"/>
          <p:cNvSpPr/>
          <p:nvPr/>
        </p:nvSpPr>
        <p:spPr>
          <a:xfrm>
            <a:off x="502920" y="1298448"/>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298448"/>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645919"/>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TOUCHPOINTS</a:t>
            </a:r>
          </a:p>
        </p:txBody>
      </p:sp>
      <p:sp>
        <p:nvSpPr>
          <p:cNvPr id="13" name="Rounded Rectangle 12"/>
          <p:cNvSpPr/>
          <p:nvPr/>
        </p:nvSpPr>
        <p:spPr>
          <a:xfrm>
            <a:off x="2670048" y="1426464"/>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9776" y="1517904"/>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Companion PWA &amp; Soundbox UI</a:t>
            </a:r>
          </a:p>
        </p:txBody>
      </p:sp>
      <p:sp>
        <p:nvSpPr>
          <p:cNvPr id="15" name="Rounded Rectangle 14"/>
          <p:cNvSpPr/>
          <p:nvPr/>
        </p:nvSpPr>
        <p:spPr>
          <a:xfrm>
            <a:off x="5641848" y="1426464"/>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51576" y="1517904"/>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1-Tap Button Fallback</a:t>
            </a:r>
          </a:p>
        </p:txBody>
      </p:sp>
      <p:sp>
        <p:nvSpPr>
          <p:cNvPr id="17" name="Rounded Rectangle 16"/>
          <p:cNvSpPr/>
          <p:nvPr/>
        </p:nvSpPr>
        <p:spPr>
          <a:xfrm>
            <a:off x="8613648" y="1426464"/>
            <a:ext cx="2834640" cy="841248"/>
          </a:xfrm>
          <a:prstGeom prst="roundRect">
            <a:avLst>
              <a:gd name="adj" fmla="val 3000"/>
            </a:avLst>
          </a:prstGeom>
          <a:solidFill>
            <a:srgbClr val="F1F5F9"/>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23376" y="1517904"/>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[PLANNED] Soundbox 4G Firmware &amp; WhatsApp Cloud</a:t>
            </a:r>
          </a:p>
        </p:txBody>
      </p:sp>
      <p:sp>
        <p:nvSpPr>
          <p:cNvPr id="19" name="Rounded Rectangle 18"/>
          <p:cNvSpPr/>
          <p:nvPr/>
        </p:nvSpPr>
        <p:spPr>
          <a:xfrm>
            <a:off x="502920" y="2542032"/>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542032"/>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2889504"/>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VOICE &amp; LLM</a:t>
            </a:r>
          </a:p>
        </p:txBody>
      </p:sp>
      <p:sp>
        <p:nvSpPr>
          <p:cNvPr id="22" name="Rounded Rectangle 21"/>
          <p:cNvSpPr/>
          <p:nvPr/>
        </p:nvSpPr>
        <p:spPr>
          <a:xfrm>
            <a:off x="2670048" y="2670048"/>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79776" y="2761488"/>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Browser Speech APIs (Draft Copy)</a:t>
            </a:r>
          </a:p>
        </p:txBody>
      </p:sp>
      <p:sp>
        <p:nvSpPr>
          <p:cNvPr id="24" name="Rounded Rectangle 23"/>
          <p:cNvSpPr/>
          <p:nvPr/>
        </p:nvSpPr>
        <p:spPr>
          <a:xfrm>
            <a:off x="5641848" y="2670048"/>
            <a:ext cx="2834640" cy="841248"/>
          </a:xfrm>
          <a:prstGeom prst="roundRect">
            <a:avLst>
              <a:gd name="adj" fmla="val 3000"/>
            </a:avLst>
          </a:prstGeom>
          <a:solidFill>
            <a:srgbClr val="FFFBEB"/>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51576" y="2761488"/>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[PENDING] Sarvam Bulbul/Saarika Adapter</a:t>
            </a:r>
          </a:p>
        </p:txBody>
      </p:sp>
      <p:sp>
        <p:nvSpPr>
          <p:cNvPr id="26" name="Rounded Rectangle 25"/>
          <p:cNvSpPr/>
          <p:nvPr/>
        </p:nvSpPr>
        <p:spPr>
          <a:xfrm>
            <a:off x="8613648" y="2670048"/>
            <a:ext cx="2834640" cy="841248"/>
          </a:xfrm>
          <a:prstGeom prst="roundRect">
            <a:avLst>
              <a:gd name="adj" fmla="val 3000"/>
            </a:avLst>
          </a:prstGeom>
          <a:solidFill>
            <a:srgbClr val="FFFBEB"/>
          </a:solidFill>
          <a:ln w="1397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23376" y="2761488"/>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[OPTIONAL] Groq Free-Tier English Grounded Q&amp;A</a:t>
            </a:r>
          </a:p>
        </p:txBody>
      </p:sp>
      <p:sp>
        <p:nvSpPr>
          <p:cNvPr id="28" name="Rounded Rectangle 27"/>
          <p:cNvSpPr/>
          <p:nvPr/>
        </p:nvSpPr>
        <p:spPr>
          <a:xfrm>
            <a:off x="502920" y="3785616"/>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3785616"/>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4133088"/>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CORE ENGINE</a:t>
            </a:r>
          </a:p>
        </p:txBody>
      </p:sp>
      <p:sp>
        <p:nvSpPr>
          <p:cNvPr id="31" name="Rounded Rectangle 30"/>
          <p:cNvSpPr/>
          <p:nvPr/>
        </p:nvSpPr>
        <p:spPr>
          <a:xfrm>
            <a:off x="2670048" y="3913632"/>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79776" y="4005072"/>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Python FastAPI + SQL RFM Engine</a:t>
            </a:r>
          </a:p>
        </p:txBody>
      </p:sp>
      <p:sp>
        <p:nvSpPr>
          <p:cNvPr id="33" name="Rounded Rectangle 32"/>
          <p:cNvSpPr/>
          <p:nvPr/>
        </p:nvSpPr>
        <p:spPr>
          <a:xfrm>
            <a:off x="5641848" y="3913632"/>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51576" y="4005072"/>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5-Rule Deterministic Policy Engine</a:t>
            </a:r>
          </a:p>
        </p:txBody>
      </p:sp>
      <p:sp>
        <p:nvSpPr>
          <p:cNvPr id="35" name="Rounded Rectangle 34"/>
          <p:cNvSpPr/>
          <p:nvPr/>
        </p:nvSpPr>
        <p:spPr>
          <a:xfrm>
            <a:off x="8613648" y="3913632"/>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23376" y="4005072"/>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80/20 Holdout &amp; Profit ROI Calculator</a:t>
            </a:r>
          </a:p>
        </p:txBody>
      </p:sp>
      <p:sp>
        <p:nvSpPr>
          <p:cNvPr id="37" name="Rounded Rectangle 36"/>
          <p:cNvSpPr/>
          <p:nvPr/>
        </p:nvSpPr>
        <p:spPr>
          <a:xfrm>
            <a:off x="502920" y="5029200"/>
            <a:ext cx="11183112" cy="1097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5029200"/>
            <a:ext cx="2011680" cy="1097280"/>
          </a:xfrm>
          <a:prstGeom prst="rect">
            <a:avLst/>
          </a:prstGeom>
          <a:solidFill>
            <a:srgbClr val="001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 y="5376672"/>
            <a:ext cx="1783080" cy="411480"/>
          </a:xfrm>
          <a:prstGeom prst="rect">
            <a:avLst/>
          </a:prstGeom>
          <a:noFill/>
        </p:spPr>
        <p:txBody>
          <a:bodyPr wrap="square" lIns="36576" rIns="36576" tIns="18288" bIns="18288">
            <a:spAutoFit/>
          </a:bodyPr>
          <a:lstStyle/>
          <a:p>
            <a:pPr algn="ctr">
              <a:spcAft>
                <a:spcPts val="300"/>
              </a:spcAft>
            </a:pPr>
            <a:r>
              <a:rPr sz="1150" b="1" i="0">
                <a:solidFill>
                  <a:srgbClr val="FFFFFF"/>
                </a:solidFill>
                <a:latin typeface="Liberation Sans"/>
              </a:rPr>
              <a:t>DATA &amp; OPS</a:t>
            </a:r>
          </a:p>
        </p:txBody>
      </p:sp>
      <p:sp>
        <p:nvSpPr>
          <p:cNvPr id="40" name="Rounded Rectangle 39"/>
          <p:cNvSpPr/>
          <p:nvPr/>
        </p:nvSpPr>
        <p:spPr>
          <a:xfrm>
            <a:off x="2670048" y="5157216"/>
            <a:ext cx="2834640" cy="841248"/>
          </a:xfrm>
          <a:prstGeom prst="roundRect">
            <a:avLst>
              <a:gd name="adj" fmla="val 3000"/>
            </a:avLst>
          </a:prstGeom>
          <a:solidFill>
            <a:srgbClr val="ECFDF5"/>
          </a:solidFill>
          <a:ln w="1397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79776" y="5248656"/>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[BUILT] SQLite Ledger &amp; Immutable Audit Log</a:t>
            </a:r>
          </a:p>
        </p:txBody>
      </p:sp>
      <p:sp>
        <p:nvSpPr>
          <p:cNvPr id="42" name="Rounded Rectangle 41"/>
          <p:cNvSpPr/>
          <p:nvPr/>
        </p:nvSpPr>
        <p:spPr>
          <a:xfrm>
            <a:off x="5641848" y="5157216"/>
            <a:ext cx="2834640" cy="841248"/>
          </a:xfrm>
          <a:prstGeom prst="roundRect">
            <a:avLst>
              <a:gd name="adj" fmla="val 3000"/>
            </a:avLst>
          </a:prstGeom>
          <a:solidFill>
            <a:srgbClr val="F1F5F9"/>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51576" y="5248656"/>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[PLANNED] Redis Atomic Redemption Counter</a:t>
            </a:r>
          </a:p>
        </p:txBody>
      </p:sp>
      <p:sp>
        <p:nvSpPr>
          <p:cNvPr id="44" name="Rounded Rectangle 43"/>
          <p:cNvSpPr/>
          <p:nvPr/>
        </p:nvSpPr>
        <p:spPr>
          <a:xfrm>
            <a:off x="8613648" y="5157216"/>
            <a:ext cx="2834640" cy="841248"/>
          </a:xfrm>
          <a:prstGeom prst="roundRect">
            <a:avLst>
              <a:gd name="adj" fmla="val 3000"/>
            </a:avLst>
          </a:prstGeom>
          <a:solidFill>
            <a:srgbClr val="F1F5F9"/>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723376" y="5248656"/>
            <a:ext cx="2615184" cy="658368"/>
          </a:xfrm>
          <a:prstGeom prst="rect">
            <a:avLst/>
          </a:prstGeom>
          <a:noFill/>
        </p:spPr>
        <p:txBody>
          <a:bodyPr wrap="square" lIns="36576" rIns="36576" tIns="18288" bIns="18288">
            <a:spAutoFit/>
          </a:bodyPr>
          <a:lstStyle/>
          <a:p>
            <a:pPr algn="l">
              <a:spcAft>
                <a:spcPts val="300"/>
              </a:spcAft>
            </a:pPr>
            <a:r>
              <a:rPr sz="1120" b="1" i="0">
                <a:solidFill>
                  <a:srgbClr val="0F172A"/>
                </a:solidFill>
                <a:latin typeface="Liberation Sans"/>
              </a:rPr>
              <a:t>[PLANNED] PostgreSQL &amp; n8n Cron Workflows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150108"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058668"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A6 : POSITIONING (USP)</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Differentiation vs Manual Khata Apps and Unconstrained Chatbots</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A6 (Slide 11 / 14)</a:t>
            </a:r>
          </a:p>
        </p:txBody>
      </p:sp>
      <p:graphicFrame>
        <p:nvGraphicFramePr>
          <p:cNvPr id="10" name="Table 9"/>
          <p:cNvGraphicFramePr>
            <a:graphicFrameLocks noGrp="1"/>
          </p:cNvGraphicFramePr>
          <p:nvPr/>
        </p:nvGraphicFramePr>
        <p:xfrm>
          <a:off x="502920" y="1298448"/>
          <a:ext cx="11183112" cy="4846320"/>
        </p:xfrm>
        <a:graphic>
          <a:graphicData uri="http://schemas.openxmlformats.org/drawingml/2006/table">
            <a:tbl>
              <a:tblPr firstRow="1" bandRow="1">
                <a:tableStyleId>{5C22544A-7EE6-4342-B048-85BDC9FD1C3A}</a:tableStyleId>
              </a:tblPr>
              <a:tblGrid>
                <a:gridCol w="2148840"/>
                <a:gridCol w="2743200"/>
                <a:gridCol w="2743200"/>
                <a:gridCol w="3547872"/>
              </a:tblGrid>
              <a:tr h="807720">
                <a:tc>
                  <a:txBody>
                    <a:bodyPr/>
                    <a:lstStyle/>
                    <a:p>
                      <a:pPr>
                        <a:defRPr sz="1200" b="1">
                          <a:solidFill>
                            <a:srgbClr val="FFFFFF"/>
                          </a:solidFill>
                          <a:latin typeface="Liberation Sans"/>
                        </a:defRPr>
                      </a:pPr>
                      <a:r>
                        <a:t>Dimension</a:t>
                      </a:r>
                    </a:p>
                  </a:txBody>
                  <a:tcPr anchor="ctr">
                    <a:solidFill>
                      <a:srgbClr val="001B4D"/>
                    </a:solidFill>
                  </a:tcPr>
                </a:tc>
                <a:tc>
                  <a:txBody>
                    <a:bodyPr/>
                    <a:lstStyle/>
                    <a:p>
                      <a:pPr>
                        <a:defRPr sz="1200" b="1">
                          <a:solidFill>
                            <a:srgbClr val="FFFFFF"/>
                          </a:solidFill>
                          <a:latin typeface="Liberation Sans"/>
                        </a:defRPr>
                      </a:pPr>
                      <a:r>
                        <a:t>Manual BI / Khata Apps</a:t>
                      </a:r>
                    </a:p>
                  </a:txBody>
                  <a:tcPr anchor="ctr">
                    <a:solidFill>
                      <a:srgbClr val="001B4D"/>
                    </a:solidFill>
                  </a:tcPr>
                </a:tc>
                <a:tc>
                  <a:txBody>
                    <a:bodyPr/>
                    <a:lstStyle/>
                    <a:p>
                      <a:pPr>
                        <a:defRPr sz="1200" b="1">
                          <a:solidFill>
                            <a:srgbClr val="FFFFFF"/>
                          </a:solidFill>
                          <a:latin typeface="Liberation Sans"/>
                        </a:defRPr>
                      </a:pPr>
                      <a:r>
                        <a:t>Generic LLM Chatbots</a:t>
                      </a:r>
                    </a:p>
                  </a:txBody>
                  <a:tcPr anchor="ctr">
                    <a:solidFill>
                      <a:srgbClr val="001B4D"/>
                    </a:solidFill>
                  </a:tcPr>
                </a:tc>
                <a:tc>
                  <a:txBody>
                    <a:bodyPr/>
                    <a:lstStyle/>
                    <a:p>
                      <a:pPr>
                        <a:defRPr sz="1200" b="1">
                          <a:solidFill>
                            <a:srgbClr val="FFFFFF"/>
                          </a:solidFill>
                          <a:latin typeface="Liberation Sans"/>
                        </a:defRPr>
                      </a:pPr>
                      <a:r>
                        <a:t>PaytmAI VyaparVoice</a:t>
                      </a:r>
                    </a:p>
                  </a:txBody>
                  <a:tcPr anchor="ctr">
                    <a:solidFill>
                      <a:srgbClr val="0284C7"/>
                    </a:solidFill>
                  </a:tcPr>
                </a:tc>
              </a:tr>
              <a:tr h="807720">
                <a:tc>
                  <a:txBody>
                    <a:bodyPr/>
                    <a:lstStyle/>
                    <a:p>
                      <a:pPr>
                        <a:defRPr sz="1120" b="1">
                          <a:solidFill>
                            <a:srgbClr val="0F172A"/>
                          </a:solidFill>
                          <a:latin typeface="Liberation Sans"/>
                        </a:defRPr>
                      </a:pPr>
                      <a:r>
                        <a:t>Merchant Interaction</a:t>
                      </a:r>
                    </a:p>
                  </a:txBody>
                  <a:tcPr anchor="ctr">
                    <a:solidFill>
                      <a:srgbClr val="FFFFFF"/>
                    </a:solidFill>
                  </a:tcPr>
                </a:tc>
                <a:tc>
                  <a:txBody>
                    <a:bodyPr/>
                    <a:lstStyle/>
                    <a:p>
                      <a:pPr>
                        <a:defRPr sz="1120" b="0">
                          <a:solidFill>
                            <a:srgbClr val="0F172A"/>
                          </a:solidFill>
                          <a:latin typeface="Liberation Sans"/>
                        </a:defRPr>
                      </a:pPr>
                      <a:r>
                        <a:t>Charts &amp; manual ledger entry</a:t>
                      </a:r>
                    </a:p>
                  </a:txBody>
                  <a:tcPr anchor="ctr">
                    <a:solidFill>
                      <a:srgbClr val="FFFFFF"/>
                    </a:solidFill>
                  </a:tcPr>
                </a:tc>
                <a:tc>
                  <a:txBody>
                    <a:bodyPr/>
                    <a:lstStyle/>
                    <a:p>
                      <a:pPr>
                        <a:defRPr sz="1120" b="0">
                          <a:solidFill>
                            <a:srgbClr val="0F172A"/>
                          </a:solidFill>
                          <a:latin typeface="Liberation Sans"/>
                        </a:defRPr>
                      </a:pPr>
                      <a:r>
                        <a:t>Requires typing business prompts</a:t>
                      </a:r>
                    </a:p>
                  </a:txBody>
                  <a:tcPr anchor="ctr">
                    <a:solidFill>
                      <a:srgbClr val="FFFFFF"/>
                    </a:solidFill>
                  </a:tcPr>
                </a:tc>
                <a:tc>
                  <a:txBody>
                    <a:bodyPr/>
                    <a:lstStyle/>
                    <a:p>
                      <a:pPr>
                        <a:defRPr sz="1120" b="1">
                          <a:solidFill>
                            <a:srgbClr val="0F172A"/>
                          </a:solidFill>
                          <a:latin typeface="Liberation Sans"/>
                        </a:defRPr>
                      </a:pPr>
                      <a:r>
                        <a:t>Proactive 8:30 PM voice brief + 1-tap button</a:t>
                      </a:r>
                    </a:p>
                  </a:txBody>
                  <a:tcPr anchor="ctr">
                    <a:solidFill>
                      <a:srgbClr val="ECFDF5"/>
                    </a:solidFill>
                  </a:tcPr>
                </a:tc>
              </a:tr>
              <a:tr h="807720">
                <a:tc>
                  <a:txBody>
                    <a:bodyPr/>
                    <a:lstStyle/>
                    <a:p>
                      <a:pPr>
                        <a:defRPr sz="1120" b="1">
                          <a:solidFill>
                            <a:srgbClr val="0F172A"/>
                          </a:solidFill>
                          <a:latin typeface="Liberation Sans"/>
                        </a:defRPr>
                      </a:pPr>
                      <a:r>
                        <a:t>Customer Graph</a:t>
                      </a:r>
                    </a:p>
                  </a:txBody>
                  <a:tcPr anchor="ctr">
                    <a:solidFill>
                      <a:srgbClr val="F1F5F9"/>
                    </a:solidFill>
                  </a:tcPr>
                </a:tc>
                <a:tc>
                  <a:txBody>
                    <a:bodyPr/>
                    <a:lstStyle/>
                    <a:p>
                      <a:pPr>
                        <a:defRPr sz="1120" b="0">
                          <a:solidFill>
                            <a:srgbClr val="0F172A"/>
                          </a:solidFill>
                          <a:latin typeface="Liberation Sans"/>
                        </a:defRPr>
                      </a:pPr>
                      <a:r>
                        <a:t>Incomplete manual phonebooks</a:t>
                      </a:r>
                    </a:p>
                  </a:txBody>
                  <a:tcPr anchor="ctr">
                    <a:solidFill>
                      <a:srgbClr val="F1F5F9"/>
                    </a:solidFill>
                  </a:tcPr>
                </a:tc>
                <a:tc>
                  <a:txBody>
                    <a:bodyPr/>
                    <a:lstStyle/>
                    <a:p>
                      <a:pPr>
                        <a:defRPr sz="1120" b="0">
                          <a:solidFill>
                            <a:srgbClr val="0F172A"/>
                          </a:solidFill>
                          <a:latin typeface="Liberation Sans"/>
                        </a:defRPr>
                      </a:pPr>
                      <a:r>
                        <a:t>No link to payment history</a:t>
                      </a:r>
                    </a:p>
                  </a:txBody>
                  <a:tcPr anchor="ctr">
                    <a:solidFill>
                      <a:srgbClr val="F1F5F9"/>
                    </a:solidFill>
                  </a:tcPr>
                </a:tc>
                <a:tc>
                  <a:txBody>
                    <a:bodyPr/>
                    <a:lstStyle/>
                    <a:p>
                      <a:pPr>
                        <a:defRPr sz="1120" b="1">
                          <a:solidFill>
                            <a:srgbClr val="0F172A"/>
                          </a:solidFill>
                          <a:latin typeface="Liberation Sans"/>
                        </a:defRPr>
                      </a:pPr>
                      <a:r>
                        <a:t>Paytm QR repeat-payer IDs (synthetic in MVP)</a:t>
                      </a:r>
                    </a:p>
                  </a:txBody>
                  <a:tcPr anchor="ctr">
                    <a:solidFill>
                      <a:srgbClr val="ECFDF5"/>
                    </a:solidFill>
                  </a:tcPr>
                </a:tc>
              </a:tr>
              <a:tr h="807720">
                <a:tc>
                  <a:txBody>
                    <a:bodyPr/>
                    <a:lstStyle/>
                    <a:p>
                      <a:pPr>
                        <a:defRPr sz="1120" b="1">
                          <a:solidFill>
                            <a:srgbClr val="0F172A"/>
                          </a:solidFill>
                          <a:latin typeface="Liberation Sans"/>
                        </a:defRPr>
                      </a:pPr>
                      <a:r>
                        <a:t>Financial Safety</a:t>
                      </a:r>
                    </a:p>
                  </a:txBody>
                  <a:tcPr anchor="ctr">
                    <a:solidFill>
                      <a:srgbClr val="FFFFFF"/>
                    </a:solidFill>
                  </a:tcPr>
                </a:tc>
                <a:tc>
                  <a:txBody>
                    <a:bodyPr/>
                    <a:lstStyle/>
                    <a:p>
                      <a:pPr>
                        <a:defRPr sz="1120" b="0">
                          <a:solidFill>
                            <a:srgbClr val="0F172A"/>
                          </a:solidFill>
                          <a:latin typeface="Liberation Sans"/>
                        </a:defRPr>
                      </a:pPr>
                      <a:r>
                        <a:t>Manual coupon rules</a:t>
                      </a:r>
                    </a:p>
                  </a:txBody>
                  <a:tcPr anchor="ctr">
                    <a:solidFill>
                      <a:srgbClr val="FFFFFF"/>
                    </a:solidFill>
                  </a:tcPr>
                </a:tc>
                <a:tc>
                  <a:txBody>
                    <a:bodyPr/>
                    <a:lstStyle/>
                    <a:p>
                      <a:pPr>
                        <a:defRPr sz="1120" b="0">
                          <a:solidFill>
                            <a:srgbClr val="0F172A"/>
                          </a:solidFill>
                          <a:latin typeface="Liberation Sans"/>
                        </a:defRPr>
                      </a:pPr>
                      <a:r>
                        <a:t>LLM can hallucinate unsafe offers</a:t>
                      </a:r>
                    </a:p>
                  </a:txBody>
                  <a:tcPr anchor="ctr">
                    <a:solidFill>
                      <a:srgbClr val="FFFFFF"/>
                    </a:solidFill>
                  </a:tcPr>
                </a:tc>
                <a:tc>
                  <a:txBody>
                    <a:bodyPr/>
                    <a:lstStyle/>
                    <a:p>
                      <a:pPr>
                        <a:defRPr sz="1120" b="1">
                          <a:solidFill>
                            <a:srgbClr val="0F172A"/>
                          </a:solidFill>
                          <a:latin typeface="Liberation Sans"/>
                        </a:defRPr>
                      </a:pPr>
                      <a:r>
                        <a:t>Deterministic 5-rule cap, floor &amp; DPDP filter</a:t>
                      </a:r>
                    </a:p>
                  </a:txBody>
                  <a:tcPr anchor="ctr">
                    <a:solidFill>
                      <a:srgbClr val="ECFDF5"/>
                    </a:solidFill>
                  </a:tcPr>
                </a:tc>
              </a:tr>
              <a:tr h="807720">
                <a:tc>
                  <a:txBody>
                    <a:bodyPr/>
                    <a:lstStyle/>
                    <a:p>
                      <a:pPr>
                        <a:defRPr sz="1120" b="1">
                          <a:solidFill>
                            <a:srgbClr val="0F172A"/>
                          </a:solidFill>
                          <a:latin typeface="Liberation Sans"/>
                        </a:defRPr>
                      </a:pPr>
                      <a:r>
                        <a:t>Privacy (DPDP)</a:t>
                      </a:r>
                    </a:p>
                  </a:txBody>
                  <a:tcPr anchor="ctr">
                    <a:solidFill>
                      <a:srgbClr val="F1F5F9"/>
                    </a:solidFill>
                  </a:tcPr>
                </a:tc>
                <a:tc>
                  <a:txBody>
                    <a:bodyPr/>
                    <a:lstStyle/>
                    <a:p>
                      <a:pPr>
                        <a:defRPr sz="1120" b="0">
                          <a:solidFill>
                            <a:srgbClr val="0F172A"/>
                          </a:solidFill>
                          <a:latin typeface="Liberation Sans"/>
                        </a:defRPr>
                      </a:pPr>
                      <a:r>
                        <a:t>Raw phone lists exposed</a:t>
                      </a:r>
                    </a:p>
                  </a:txBody>
                  <a:tcPr anchor="ctr">
                    <a:solidFill>
                      <a:srgbClr val="F1F5F9"/>
                    </a:solidFill>
                  </a:tcPr>
                </a:tc>
                <a:tc>
                  <a:txBody>
                    <a:bodyPr/>
                    <a:lstStyle/>
                    <a:p>
                      <a:pPr>
                        <a:defRPr sz="1120" b="0">
                          <a:solidFill>
                            <a:srgbClr val="0F172A"/>
                          </a:solidFill>
                          <a:latin typeface="Liberation Sans"/>
                        </a:defRPr>
                      </a:pPr>
                      <a:r>
                        <a:t>Prompt data leakage risk</a:t>
                      </a:r>
                    </a:p>
                  </a:txBody>
                  <a:tcPr anchor="ctr">
                    <a:solidFill>
                      <a:srgbClr val="F1F5F9"/>
                    </a:solidFill>
                  </a:tcPr>
                </a:tc>
                <a:tc>
                  <a:txBody>
                    <a:bodyPr/>
                    <a:lstStyle/>
                    <a:p>
                      <a:pPr>
                        <a:defRPr sz="1120" b="1">
                          <a:solidFill>
                            <a:srgbClr val="0F172A"/>
                          </a:solidFill>
                          <a:latin typeface="Liberation Sans"/>
                        </a:defRPr>
                      </a:pPr>
                      <a:r>
                        <a:t>Opt-in filter; zero raw PII sent to LLMs</a:t>
                      </a:r>
                    </a:p>
                  </a:txBody>
                  <a:tcPr anchor="ctr">
                    <a:solidFill>
                      <a:srgbClr val="ECFDF5"/>
                    </a:solidFill>
                  </a:tcPr>
                </a:tc>
              </a:tr>
              <a:tr h="807720">
                <a:tc>
                  <a:txBody>
                    <a:bodyPr/>
                    <a:lstStyle/>
                    <a:p>
                      <a:pPr>
                        <a:defRPr sz="1120" b="1">
                          <a:solidFill>
                            <a:srgbClr val="0F172A"/>
                          </a:solidFill>
                          <a:latin typeface="Liberation Sans"/>
                        </a:defRPr>
                      </a:pPr>
                      <a:r>
                        <a:t>ROI Measurement</a:t>
                      </a:r>
                    </a:p>
                  </a:txBody>
                  <a:tcPr anchor="ctr">
                    <a:solidFill>
                      <a:srgbClr val="FFFFFF"/>
                    </a:solidFill>
                  </a:tcPr>
                </a:tc>
                <a:tc>
                  <a:txBody>
                    <a:bodyPr/>
                    <a:lstStyle/>
                    <a:p>
                      <a:pPr>
                        <a:defRPr sz="1120" b="0">
                          <a:solidFill>
                            <a:srgbClr val="0F172A"/>
                          </a:solidFill>
                          <a:latin typeface="Liberation Sans"/>
                        </a:defRPr>
                      </a:pPr>
                      <a:r>
                        <a:t>Vanity message counts</a:t>
                      </a:r>
                    </a:p>
                  </a:txBody>
                  <a:tcPr anchor="ctr">
                    <a:solidFill>
                      <a:srgbClr val="FFFFFF"/>
                    </a:solidFill>
                  </a:tcPr>
                </a:tc>
                <a:tc>
                  <a:txBody>
                    <a:bodyPr/>
                    <a:lstStyle/>
                    <a:p>
                      <a:pPr>
                        <a:defRPr sz="1120" b="0">
                          <a:solidFill>
                            <a:srgbClr val="0F172A"/>
                          </a:solidFill>
                          <a:latin typeface="Liberation Sans"/>
                        </a:defRPr>
                      </a:pPr>
                      <a:r>
                        <a:t>No control group</a:t>
                      </a:r>
                    </a:p>
                  </a:txBody>
                  <a:tcPr anchor="ctr">
                    <a:solidFill>
                      <a:srgbClr val="FFFFFF"/>
                    </a:solidFill>
                  </a:tcPr>
                </a:tc>
                <a:tc>
                  <a:txBody>
                    <a:bodyPr/>
                    <a:lstStyle/>
                    <a:p>
                      <a:pPr>
                        <a:defRPr sz="1120" b="1">
                          <a:solidFill>
                            <a:srgbClr val="0F172A"/>
                          </a:solidFill>
                          <a:latin typeface="Liberation Sans"/>
                        </a:defRPr>
                      </a:pPr>
                      <a:r>
                        <a:t>80/20 holdout + profit ROI (simulated; pilot-ready)</a:t>
                      </a:r>
                    </a:p>
                  </a:txBody>
                  <a:tcPr anchor="ctr">
                    <a:solidFill>
                      <a:srgbClr val="ECFD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497580"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406140"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A7 : PILOT TARGETS &amp; STATS</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Hypothesized Pilot Targets vs Simulated MVP Metrics</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A7 (Slide 12 / 14)</a:t>
            </a:r>
          </a:p>
        </p:txBody>
      </p:sp>
      <p:sp>
        <p:nvSpPr>
          <p:cNvPr id="10" name="Rounded Rectangle 9"/>
          <p:cNvSpPr/>
          <p:nvPr/>
        </p:nvSpPr>
        <p:spPr>
          <a:xfrm>
            <a:off x="502920" y="1298448"/>
            <a:ext cx="5943600" cy="23774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408176"/>
            <a:ext cx="5577840" cy="274320"/>
          </a:xfrm>
          <a:prstGeom prst="rect">
            <a:avLst/>
          </a:prstGeom>
          <a:noFill/>
        </p:spPr>
        <p:txBody>
          <a:bodyPr wrap="square" lIns="36576" rIns="36576" tIns="18288" bIns="18288">
            <a:spAutoFit/>
          </a:bodyPr>
          <a:lstStyle/>
          <a:p>
            <a:pPr algn="l">
              <a:spcAft>
                <a:spcPts val="300"/>
              </a:spcAft>
            </a:pPr>
            <a:r>
              <a:rPr sz="1200" b="1" i="0">
                <a:solidFill>
                  <a:srgbClr val="059669"/>
                </a:solidFill>
                <a:latin typeface="Liberation Sans"/>
              </a:rPr>
              <a:t>MERCHANT METRICS (SIMULATED MVP &amp; PILOT TARGETS)</a:t>
            </a:r>
          </a:p>
        </p:txBody>
      </p:sp>
      <p:sp>
        <p:nvSpPr>
          <p:cNvPr id="12" name="TextBox 11"/>
          <p:cNvSpPr txBox="1"/>
          <p:nvPr/>
        </p:nvSpPr>
        <p:spPr>
          <a:xfrm>
            <a:off x="658368" y="1719072"/>
            <a:ext cx="5623560" cy="1874519"/>
          </a:xfrm>
          <a:prstGeom prst="rect">
            <a:avLst/>
          </a:prstGeom>
          <a:noFill/>
        </p:spPr>
        <p:txBody>
          <a:bodyPr wrap="square" lIns="45720" rIns="45720" tIns="27432" bIns="27432">
            <a:spAutoFit/>
          </a:bodyPr>
          <a:lstStyle/>
          <a:p>
            <a:pPr>
              <a:spcAft>
                <a:spcPts val="600"/>
              </a:spcAft>
            </a:pPr>
            <a:r>
              <a:rPr sz="1150" b="1">
                <a:solidFill>
                  <a:srgbClr val="002970"/>
                </a:solidFill>
                <a:latin typeface="Liberation Sans"/>
              </a:rPr>
              <a:t>* Simulated Profit ROI: </a:t>
            </a:r>
            <a:r>
              <a:rPr sz="1150" b="0">
                <a:solidFill>
                  <a:srgbClr val="0F172A"/>
                </a:solidFill>
                <a:latin typeface="Liberation Sans"/>
              </a:rPr>
              <a:t>+Rs 222 pre-fee (+74%) / +Rs 91.50 post-fee at 30% margin (5.8x sales/promo).</a:t>
            </a:r>
          </a:p>
          <a:p>
            <a:pPr>
              <a:spcAft>
                <a:spcPts val="600"/>
              </a:spcAft>
            </a:pPr>
            <a:r>
              <a:rPr sz="1150" b="1">
                <a:solidFill>
                  <a:srgbClr val="002970"/>
                </a:solidFill>
                <a:latin typeface="Liberation Sans"/>
              </a:rPr>
              <a:t>* Repeat Visit Target: </a:t>
            </a:r>
            <a:r>
              <a:rPr sz="1150" b="0">
                <a:solidFill>
                  <a:srgbClr val="0F172A"/>
                </a:solidFill>
                <a:latin typeface="Liberation Sans"/>
              </a:rPr>
              <a:t>+14% to +22% monthly repeat visits (PILOT TARGET - unvalidated).</a:t>
            </a:r>
          </a:p>
          <a:p>
            <a:pPr>
              <a:spcAft>
                <a:spcPts val="600"/>
              </a:spcAft>
            </a:pPr>
            <a:r>
              <a:rPr sz="1150" b="1">
                <a:solidFill>
                  <a:srgbClr val="002970"/>
                </a:solidFill>
                <a:latin typeface="Liberation Sans"/>
              </a:rPr>
              <a:t>* Waste Reduction Target: </a:t>
            </a:r>
            <a:r>
              <a:rPr sz="1150" b="0">
                <a:solidFill>
                  <a:srgbClr val="0F172A"/>
                </a:solidFill>
                <a:latin typeface="Liberation Sans"/>
              </a:rPr>
              <a:t>-18% afternoon perishable loss (PILOT TARGET - unvalidated).</a:t>
            </a:r>
          </a:p>
        </p:txBody>
      </p:sp>
      <p:sp>
        <p:nvSpPr>
          <p:cNvPr id="13" name="Rounded Rectangle 12"/>
          <p:cNvSpPr/>
          <p:nvPr/>
        </p:nvSpPr>
        <p:spPr>
          <a:xfrm>
            <a:off x="502920" y="3840480"/>
            <a:ext cx="5943600" cy="242316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50208"/>
            <a:ext cx="5577840" cy="274320"/>
          </a:xfrm>
          <a:prstGeom prst="rect">
            <a:avLst/>
          </a:prstGeom>
          <a:noFill/>
        </p:spPr>
        <p:txBody>
          <a:bodyPr wrap="square" lIns="36576" rIns="36576" tIns="18288" bIns="18288">
            <a:spAutoFit/>
          </a:bodyPr>
          <a:lstStyle/>
          <a:p>
            <a:pPr algn="l">
              <a:spcAft>
                <a:spcPts val="300"/>
              </a:spcAft>
            </a:pPr>
            <a:r>
              <a:rPr sz="1200" b="1" i="0">
                <a:solidFill>
                  <a:srgbClr val="002970"/>
                </a:solidFill>
                <a:latin typeface="Liberation Sans"/>
              </a:rPr>
              <a:t>PAYTM ECOSYSTEM HYPOTHESES (PILOT TARGETS)</a:t>
            </a:r>
          </a:p>
        </p:txBody>
      </p:sp>
      <p:sp>
        <p:nvSpPr>
          <p:cNvPr id="15" name="TextBox 14"/>
          <p:cNvSpPr txBox="1"/>
          <p:nvPr/>
        </p:nvSpPr>
        <p:spPr>
          <a:xfrm>
            <a:off x="658368" y="4261104"/>
            <a:ext cx="5623560" cy="1874519"/>
          </a:xfrm>
          <a:prstGeom prst="rect">
            <a:avLst/>
          </a:prstGeom>
          <a:noFill/>
        </p:spPr>
        <p:txBody>
          <a:bodyPr wrap="square" lIns="45720" rIns="45720" tIns="27432" bIns="27432">
            <a:spAutoFit/>
          </a:bodyPr>
          <a:lstStyle/>
          <a:p>
            <a:pPr>
              <a:spcAft>
                <a:spcPts val="600"/>
              </a:spcAft>
            </a:pPr>
            <a:r>
              <a:rPr sz="1150" b="1">
                <a:solidFill>
                  <a:srgbClr val="002970"/>
                </a:solidFill>
                <a:latin typeface="Liberation Sans"/>
              </a:rPr>
              <a:t>* Device Retention: </a:t>
            </a:r>
            <a:r>
              <a:rPr sz="1150" b="0">
                <a:solidFill>
                  <a:srgbClr val="0F172A"/>
                </a:solidFill>
                <a:latin typeface="Liberation Sans"/>
              </a:rPr>
              <a:t>-35% Soundbox churn reduction (PILOT TARGET - unvalidated).</a:t>
            </a:r>
          </a:p>
          <a:p>
            <a:pPr>
              <a:spcAft>
                <a:spcPts val="600"/>
              </a:spcAft>
            </a:pPr>
            <a:r>
              <a:rPr sz="1150" b="1">
                <a:solidFill>
                  <a:srgbClr val="002970"/>
                </a:solidFill>
                <a:latin typeface="Liberation Sans"/>
              </a:rPr>
              <a:t>* Store QR Share: </a:t>
            </a:r>
            <a:r>
              <a:rPr sz="1150" b="0">
                <a:solidFill>
                  <a:srgbClr val="0F172A"/>
                </a:solidFill>
                <a:latin typeface="Liberation Sans"/>
              </a:rPr>
              <a:t>+12% to +15% store Paytm QR GMV lift (PILOT TARGET - unvalidated).</a:t>
            </a:r>
          </a:p>
          <a:p>
            <a:pPr>
              <a:spcAft>
                <a:spcPts val="600"/>
              </a:spcAft>
            </a:pPr>
            <a:r>
              <a:rPr sz="1150" b="1">
                <a:solidFill>
                  <a:srgbClr val="002970"/>
                </a:solidFill>
                <a:latin typeface="Liberation Sans"/>
              </a:rPr>
              <a:t>* Credit Funnel: </a:t>
            </a:r>
            <a:r>
              <a:rPr sz="1150" b="0">
                <a:solidFill>
                  <a:srgbClr val="0F172A"/>
                </a:solidFill>
                <a:latin typeface="Liberation Sans"/>
              </a:rPr>
              <a:t>Expand ~7% loan pen. (Q4 FY26) toward 15% (LONG-TERM TARGET).</a:t>
            </a:r>
          </a:p>
        </p:txBody>
      </p:sp>
      <p:sp>
        <p:nvSpPr>
          <p:cNvPr id="16" name="Rounded Rectangle 15"/>
          <p:cNvSpPr/>
          <p:nvPr/>
        </p:nvSpPr>
        <p:spPr>
          <a:xfrm>
            <a:off x="6629400" y="1298448"/>
            <a:ext cx="5056632" cy="338328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2_honest_holdout.png"/>
          <p:cNvPicPr>
            <a:picLocks noChangeAspect="1"/>
          </p:cNvPicPr>
          <p:nvPr/>
        </p:nvPicPr>
        <p:blipFill>
          <a:blip r:embed="rId2"/>
          <a:stretch>
            <a:fillRect/>
          </a:stretch>
        </p:blipFill>
        <p:spPr>
          <a:xfrm>
            <a:off x="6912864" y="1353312"/>
            <a:ext cx="4480560" cy="3162748"/>
          </a:xfrm>
          <a:prstGeom prst="rect">
            <a:avLst/>
          </a:prstGeom>
        </p:spPr>
      </p:pic>
      <p:sp>
        <p:nvSpPr>
          <p:cNvPr id="18" name="Rounded Rectangle 17"/>
          <p:cNvSpPr/>
          <p:nvPr/>
        </p:nvSpPr>
        <p:spPr>
          <a:xfrm>
            <a:off x="6629400" y="4828032"/>
            <a:ext cx="1609344" cy="1426464"/>
          </a:xfrm>
          <a:prstGeom prst="roundRect">
            <a:avLst>
              <a:gd name="adj" fmla="val 3000"/>
            </a:avLst>
          </a:prstGeom>
          <a:solidFill>
            <a:srgbClr val="FFFFFF"/>
          </a:solidFill>
          <a:ln w="1651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84264" y="4974336"/>
            <a:ext cx="1499616" cy="438912"/>
          </a:xfrm>
          <a:prstGeom prst="rect">
            <a:avLst/>
          </a:prstGeom>
          <a:noFill/>
        </p:spPr>
        <p:txBody>
          <a:bodyPr wrap="square" lIns="36576" rIns="36576" tIns="18288" bIns="18288">
            <a:spAutoFit/>
          </a:bodyPr>
          <a:lstStyle/>
          <a:p>
            <a:pPr algn="ctr">
              <a:spcAft>
                <a:spcPts val="300"/>
              </a:spcAft>
            </a:pPr>
            <a:r>
              <a:rPr sz="1900" b="1" i="0">
                <a:solidFill>
                  <a:srgbClr val="059669"/>
                </a:solidFill>
                <a:latin typeface="Liberation Sans"/>
              </a:rPr>
              <a:t>1.74x</a:t>
            </a:r>
          </a:p>
        </p:txBody>
      </p:sp>
      <p:sp>
        <p:nvSpPr>
          <p:cNvPr id="20" name="TextBox 19"/>
          <p:cNvSpPr txBox="1"/>
          <p:nvPr/>
        </p:nvSpPr>
        <p:spPr>
          <a:xfrm>
            <a:off x="6684264" y="5468112"/>
            <a:ext cx="1499616" cy="658368"/>
          </a:xfrm>
          <a:prstGeom prst="rect">
            <a:avLst/>
          </a:prstGeom>
          <a:noFill/>
        </p:spPr>
        <p:txBody>
          <a:bodyPr wrap="square" lIns="36576" rIns="36576" tIns="18288" bIns="18288">
            <a:spAutoFit/>
          </a:bodyPr>
          <a:lstStyle/>
          <a:p>
            <a:pPr algn="ctr">
              <a:spcAft>
                <a:spcPts val="300"/>
              </a:spcAft>
            </a:pPr>
            <a:r>
              <a:rPr sz="980" b="1" i="0">
                <a:solidFill>
                  <a:srgbClr val="334155"/>
                </a:solidFill>
                <a:latin typeface="Liberation Sans"/>
              </a:rPr>
              <a:t>Gross Profit / Promo</a:t>
            </a:r>
          </a:p>
          <a:p>
            <a:pPr algn="ctr">
              <a:spcAft>
                <a:spcPts val="300"/>
              </a:spcAft>
            </a:pPr>
            <a:r>
              <a:rPr sz="980" b="1" i="0">
                <a:solidFill>
                  <a:srgbClr val="334155"/>
                </a:solidFill>
                <a:latin typeface="Liberation Sans"/>
              </a:rPr>
              <a:t>(30% Margin Sim.)</a:t>
            </a:r>
          </a:p>
        </p:txBody>
      </p:sp>
      <p:sp>
        <p:nvSpPr>
          <p:cNvPr id="21" name="Rounded Rectangle 20"/>
          <p:cNvSpPr/>
          <p:nvPr/>
        </p:nvSpPr>
        <p:spPr>
          <a:xfrm>
            <a:off x="8348471" y="4828032"/>
            <a:ext cx="1609344" cy="1426464"/>
          </a:xfrm>
          <a:prstGeom prst="roundRect">
            <a:avLst>
              <a:gd name="adj" fmla="val 3000"/>
            </a:avLst>
          </a:prstGeom>
          <a:solidFill>
            <a:srgbClr val="FFFFFF"/>
          </a:solidFill>
          <a:ln w="1651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3336" y="4974336"/>
            <a:ext cx="1499616" cy="438912"/>
          </a:xfrm>
          <a:prstGeom prst="rect">
            <a:avLst/>
          </a:prstGeom>
          <a:noFill/>
        </p:spPr>
        <p:txBody>
          <a:bodyPr wrap="square" lIns="36576" rIns="36576" tIns="18288" bIns="18288">
            <a:spAutoFit/>
          </a:bodyPr>
          <a:lstStyle/>
          <a:p>
            <a:pPr algn="ctr">
              <a:spcAft>
                <a:spcPts val="300"/>
              </a:spcAft>
            </a:pPr>
            <a:r>
              <a:rPr sz="1900" b="1" i="0">
                <a:solidFill>
                  <a:srgbClr val="B45309"/>
                </a:solidFill>
                <a:latin typeface="Liberation Sans"/>
              </a:rPr>
              <a:t>p = 0.24</a:t>
            </a:r>
          </a:p>
        </p:txBody>
      </p:sp>
      <p:sp>
        <p:nvSpPr>
          <p:cNvPr id="23" name="TextBox 22"/>
          <p:cNvSpPr txBox="1"/>
          <p:nvPr/>
        </p:nvSpPr>
        <p:spPr>
          <a:xfrm>
            <a:off x="8403336" y="5468112"/>
            <a:ext cx="1499616" cy="658368"/>
          </a:xfrm>
          <a:prstGeom prst="rect">
            <a:avLst/>
          </a:prstGeom>
          <a:noFill/>
        </p:spPr>
        <p:txBody>
          <a:bodyPr wrap="square" lIns="36576" rIns="36576" tIns="18288" bIns="18288">
            <a:spAutoFit/>
          </a:bodyPr>
          <a:lstStyle/>
          <a:p>
            <a:pPr algn="ctr">
              <a:spcAft>
                <a:spcPts val="300"/>
              </a:spcAft>
            </a:pPr>
            <a:r>
              <a:rPr sz="980" b="1" i="0">
                <a:solidFill>
                  <a:srgbClr val="334155"/>
                </a:solidFill>
                <a:latin typeface="Liberation Sans"/>
              </a:rPr>
              <a:t>Fisher Exact (N=40)</a:t>
            </a:r>
          </a:p>
          <a:p>
            <a:pPr algn="ctr">
              <a:spcAft>
                <a:spcPts val="300"/>
              </a:spcAft>
            </a:pPr>
            <a:r>
              <a:rPr sz="980" b="1" i="0">
                <a:solidFill>
                  <a:srgbClr val="334155"/>
                </a:solidFill>
                <a:latin typeface="Liberation Sans"/>
              </a:rPr>
              <a:t>Needs ~46 / Arm</a:t>
            </a:r>
          </a:p>
        </p:txBody>
      </p:sp>
      <p:sp>
        <p:nvSpPr>
          <p:cNvPr id="24" name="Rounded Rectangle 23"/>
          <p:cNvSpPr/>
          <p:nvPr/>
        </p:nvSpPr>
        <p:spPr>
          <a:xfrm>
            <a:off x="10067544" y="4828032"/>
            <a:ext cx="1609344" cy="1426464"/>
          </a:xfrm>
          <a:prstGeom prst="roundRect">
            <a:avLst>
              <a:gd name="adj" fmla="val 3000"/>
            </a:avLst>
          </a:prstGeom>
          <a:solidFill>
            <a:srgbClr val="FFFFFF"/>
          </a:solidFill>
          <a:ln w="16510">
            <a:solidFill>
              <a:srgbClr val="0029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22408" y="4974336"/>
            <a:ext cx="1499616" cy="438912"/>
          </a:xfrm>
          <a:prstGeom prst="rect">
            <a:avLst/>
          </a:prstGeom>
          <a:noFill/>
        </p:spPr>
        <p:txBody>
          <a:bodyPr wrap="square" lIns="36576" rIns="36576" tIns="18288" bIns="18288">
            <a:spAutoFit/>
          </a:bodyPr>
          <a:lstStyle/>
          <a:p>
            <a:pPr algn="ctr">
              <a:spcAft>
                <a:spcPts val="300"/>
              </a:spcAft>
            </a:pPr>
            <a:r>
              <a:rPr sz="1900" b="1" i="0">
                <a:solidFill>
                  <a:srgbClr val="002970"/>
                </a:solidFill>
                <a:latin typeface="Liberation Sans"/>
              </a:rPr>
              <a:t>Rs 5.00</a:t>
            </a:r>
          </a:p>
        </p:txBody>
      </p:sp>
      <p:sp>
        <p:nvSpPr>
          <p:cNvPr id="26" name="TextBox 25"/>
          <p:cNvSpPr txBox="1"/>
          <p:nvPr/>
        </p:nvSpPr>
        <p:spPr>
          <a:xfrm>
            <a:off x="10122408" y="5468112"/>
            <a:ext cx="1499616" cy="658368"/>
          </a:xfrm>
          <a:prstGeom prst="rect">
            <a:avLst/>
          </a:prstGeom>
          <a:noFill/>
        </p:spPr>
        <p:txBody>
          <a:bodyPr wrap="square" lIns="36576" rIns="36576" tIns="18288" bIns="18288">
            <a:spAutoFit/>
          </a:bodyPr>
          <a:lstStyle/>
          <a:p>
            <a:pPr algn="ctr">
              <a:spcAft>
                <a:spcPts val="300"/>
              </a:spcAft>
            </a:pPr>
            <a:r>
              <a:rPr sz="980" b="1" i="0">
                <a:solidFill>
                  <a:srgbClr val="334155"/>
                </a:solidFill>
                <a:latin typeface="Liberation Sans"/>
              </a:rPr>
              <a:t>Cached AI Cost/Mo</a:t>
            </a:r>
          </a:p>
          <a:p>
            <a:pPr algn="ctr">
              <a:spcAft>
                <a:spcPts val="300"/>
              </a:spcAft>
            </a:pPr>
            <a:r>
              <a:rPr sz="980" b="1" i="0">
                <a:solidFill>
                  <a:srgbClr val="334155"/>
                </a:solidFill>
                <a:latin typeface="Liberation Sans"/>
              </a:rPr>
              <a:t>(Rs 28.80 Uncached)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19456"/>
            <a:ext cx="3410712" cy="292608"/>
          </a:xfrm>
          <a:prstGeom prst="roundRect">
            <a:avLst>
              <a:gd name="adj" fmla="val 3000"/>
            </a:avLst>
          </a:prstGeom>
          <a:solidFill>
            <a:srgbClr val="FFFBEB"/>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46888"/>
            <a:ext cx="3319272" cy="237744"/>
          </a:xfrm>
          <a:prstGeom prst="rect">
            <a:avLst/>
          </a:prstGeom>
          <a:noFill/>
        </p:spPr>
        <p:txBody>
          <a:bodyPr wrap="square" lIns="36576" rIns="36576" tIns="18288" bIns="18288">
            <a:spAutoFit/>
          </a:bodyPr>
          <a:lstStyle/>
          <a:p>
            <a:pPr algn="ctr">
              <a:spcAft>
                <a:spcPts val="300"/>
              </a:spcAft>
            </a:pPr>
            <a:r>
              <a:rPr sz="950" b="1" i="0">
                <a:solidFill>
                  <a:srgbClr val="B45309"/>
                </a:solidFill>
                <a:latin typeface="Liberation Sans"/>
              </a:rPr>
              <a:t>APPENDIX A8 : UNIT ECONOMICS &amp; ARR</a:t>
            </a:r>
          </a:p>
        </p:txBody>
      </p:sp>
      <p:sp>
        <p:nvSpPr>
          <p:cNvPr id="5" name="TextBox 4"/>
          <p:cNvSpPr txBox="1"/>
          <p:nvPr/>
        </p:nvSpPr>
        <p:spPr>
          <a:xfrm>
            <a:off x="6949440" y="237744"/>
            <a:ext cx="4736592" cy="256032"/>
          </a:xfrm>
          <a:prstGeom prst="rect">
            <a:avLst/>
          </a:prstGeom>
          <a:noFill/>
        </p:spPr>
        <p:txBody>
          <a:bodyPr wrap="square" lIns="36576" rIns="36576" tIns="18288" bIns="18288">
            <a:spAutoFit/>
          </a:bodyPr>
          <a:lstStyle/>
          <a:p>
            <a:pPr algn="r">
              <a:spcAft>
                <a:spcPts val="300"/>
              </a:spcAft>
            </a:pPr>
            <a:r>
              <a:rPr sz="950" b="1" i="0">
                <a:solidFill>
                  <a:srgbClr val="334155"/>
                </a:solidFill>
                <a:latin typeface="Liberation Sans"/>
              </a:rPr>
              <a:t>PaytmAI VyaparVoice | Team SemiTechnical (Kevin Joseph)</a:t>
            </a:r>
          </a:p>
        </p:txBody>
      </p:sp>
      <p:sp>
        <p:nvSpPr>
          <p:cNvPr id="6" name="TextBox 5"/>
          <p:cNvSpPr txBox="1"/>
          <p:nvPr/>
        </p:nvSpPr>
        <p:spPr>
          <a:xfrm>
            <a:off x="502920" y="603504"/>
            <a:ext cx="11183112" cy="475488"/>
          </a:xfrm>
          <a:prstGeom prst="rect">
            <a:avLst/>
          </a:prstGeom>
          <a:noFill/>
        </p:spPr>
        <p:txBody>
          <a:bodyPr wrap="square" lIns="36576" rIns="36576" tIns="18288" bIns="18288">
            <a:spAutoFit/>
          </a:bodyPr>
          <a:lstStyle/>
          <a:p>
            <a:pPr algn="l">
              <a:spcAft>
                <a:spcPts val="300"/>
              </a:spcAft>
            </a:pPr>
            <a:r>
              <a:rPr sz="2350" b="1" i="0">
                <a:solidFill>
                  <a:srgbClr val="0F172A"/>
                </a:solidFill>
                <a:latin typeface="Liberation Sans"/>
              </a:rPr>
              <a:t>Sensitivity Across Revenue Streams and TTS Caching Rates</a:t>
            </a:r>
          </a:p>
        </p:txBody>
      </p:sp>
      <p:sp>
        <p:nvSpPr>
          <p:cNvPr id="7" name="Rectangle 6"/>
          <p:cNvSpPr/>
          <p:nvPr/>
        </p:nvSpPr>
        <p:spPr>
          <a:xfrm>
            <a:off x="502920" y="6473952"/>
            <a:ext cx="11183112"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8412480" cy="237744"/>
          </a:xfrm>
          <a:prstGeom prst="rect">
            <a:avLst/>
          </a:prstGeom>
          <a:noFill/>
        </p:spPr>
        <p:txBody>
          <a:bodyPr wrap="square" lIns="36576" rIns="36576" tIns="18288" bIns="18288">
            <a:spAutoFit/>
          </a:bodyPr>
          <a:lstStyle/>
          <a:p>
            <a:pPr algn="l">
              <a:spcAft>
                <a:spcPts val="300"/>
              </a:spcAft>
            </a:pPr>
            <a:r>
              <a:rPr sz="880" b="0" i="0">
                <a:solidFill>
                  <a:srgbClr val="334155"/>
                </a:solidFill>
                <a:latin typeface="Liberation Sans"/>
              </a:rPr>
              <a:t>Paytm Build for India AI Hackathon (Bengaluru Track 1) | Figures traced to results/slide_numbers.md</a:t>
            </a:r>
          </a:p>
        </p:txBody>
      </p:sp>
      <p:sp>
        <p:nvSpPr>
          <p:cNvPr id="9" name="TextBox 8"/>
          <p:cNvSpPr txBox="1"/>
          <p:nvPr/>
        </p:nvSpPr>
        <p:spPr>
          <a:xfrm>
            <a:off x="9692640" y="6519672"/>
            <a:ext cx="1993392" cy="237744"/>
          </a:xfrm>
          <a:prstGeom prst="rect">
            <a:avLst/>
          </a:prstGeom>
          <a:noFill/>
        </p:spPr>
        <p:txBody>
          <a:bodyPr wrap="square" lIns="36576" rIns="36576" tIns="18288" bIns="18288">
            <a:spAutoFit/>
          </a:bodyPr>
          <a:lstStyle/>
          <a:p>
            <a:pPr algn="r">
              <a:spcAft>
                <a:spcPts val="300"/>
              </a:spcAft>
            </a:pPr>
            <a:r>
              <a:rPr sz="880" b="1" i="0">
                <a:solidFill>
                  <a:srgbClr val="002970"/>
                </a:solidFill>
                <a:latin typeface="Liberation Sans"/>
              </a:rPr>
              <a:t>Appendix A8 (Slide 13 / 14)</a:t>
            </a:r>
          </a:p>
        </p:txBody>
      </p:sp>
      <p:sp>
        <p:nvSpPr>
          <p:cNvPr id="10" name="Rounded Rectangle 9"/>
          <p:cNvSpPr/>
          <p:nvPr/>
        </p:nvSpPr>
        <p:spPr>
          <a:xfrm>
            <a:off x="502920" y="1298448"/>
            <a:ext cx="5943600" cy="4956048"/>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444752"/>
            <a:ext cx="5596128" cy="4663440"/>
          </a:xfrm>
          <a:prstGeom prst="rect">
            <a:avLst/>
          </a:prstGeom>
          <a:noFill/>
        </p:spPr>
        <p:txBody>
          <a:bodyPr wrap="square" lIns="45720" rIns="45720" tIns="27432" bIns="27432">
            <a:spAutoFit/>
          </a:bodyPr>
          <a:lstStyle/>
          <a:p>
            <a:pPr>
              <a:spcAft>
                <a:spcPts val="1000"/>
              </a:spcAft>
            </a:pPr>
            <a:r>
              <a:rPr sz="1150" b="1">
                <a:solidFill>
                  <a:srgbClr val="002970"/>
                </a:solidFill>
                <a:latin typeface="Liberation Sans"/>
              </a:rPr>
              <a:t>* Stream 1 (SaaS - Rs 79/mo): </a:t>
            </a:r>
            <a:r>
              <a:rPr sz="1150" b="0">
                <a:solidFill>
                  <a:srgbClr val="0F172A"/>
                </a:solidFill>
                <a:latin typeface="Liberation Sans"/>
              </a:rPr>
              <a:t>Bundled on Soundbox billing (~Rs 90-100/mo, FY25 AR) after 2 free trial campaigns -&gt; Rs 74.4 Cr ARR at 5% base.</a:t>
            </a:r>
          </a:p>
          <a:p>
            <a:pPr>
              <a:spcAft>
                <a:spcPts val="1000"/>
              </a:spcAft>
            </a:pPr>
            <a:r>
              <a:rPr sz="1150" b="1">
                <a:solidFill>
                  <a:srgbClr val="002970"/>
                </a:solidFill>
                <a:latin typeface="Liberation Sans"/>
              </a:rPr>
              <a:t>* Stream 2 (Promo Fee - Rs 102/mo): </a:t>
            </a:r>
            <a:r>
              <a:rPr sz="1150" b="0">
                <a:solidFill>
                  <a:srgbClr val="0F172A"/>
                </a:solidFill>
                <a:latin typeface="Liberation Sans"/>
              </a:rPr>
              <a:t>5% fee on ~Rs 2,040/mo redeemed promo bills -&gt; +Rs 96.1 Cr (Rs 170.5 Cr ARR combined with SaaS).</a:t>
            </a:r>
          </a:p>
          <a:p>
            <a:pPr>
              <a:spcAft>
                <a:spcPts val="1000"/>
              </a:spcAft>
            </a:pPr>
            <a:r>
              <a:rPr sz="1150" b="1">
                <a:solidFill>
                  <a:srgbClr val="002970"/>
                </a:solidFill>
                <a:latin typeface="Liberation Sans"/>
              </a:rPr>
              <a:t>* Stream 3 (Credit Uplift - Rs 77/mo): </a:t>
            </a:r>
            <a:r>
              <a:rPr sz="1150" b="0">
                <a:solidFill>
                  <a:srgbClr val="0F172A"/>
                </a:solidFill>
                <a:latin typeface="Liberation Sans"/>
              </a:rPr>
              <a:t>1.5%-2.5% partner NBFC origination fee uplift -&gt; +Rs 72.5 Cr (Rs 243.0 Cr Full Base ARR).</a:t>
            </a:r>
          </a:p>
          <a:p>
            <a:pPr>
              <a:spcAft>
                <a:spcPts val="1000"/>
              </a:spcAft>
            </a:pPr>
            <a:r>
              <a:rPr sz="1150" b="1">
                <a:solidFill>
                  <a:srgbClr val="002970"/>
                </a:solidFill>
                <a:latin typeface="Liberation Sans"/>
              </a:rPr>
              <a:t>* Cached COGS (Rs 48.00/mo): </a:t>
            </a:r>
            <a:r>
              <a:rPr sz="1150" b="0">
                <a:solidFill>
                  <a:srgbClr val="0F172A"/>
                </a:solidFill>
                <a:latin typeface="Liberation Sans"/>
              </a:rPr>
              <a:t>Rs 1.80 SLM + Rs 3.20 TTS (~88% cache hit on Bulbul v3) + Rs 43 messaging = 81.4% gross margin on Rs 258 ARPU.</a:t>
            </a:r>
          </a:p>
          <a:p>
            <a:pPr>
              <a:spcAft>
                <a:spcPts val="1000"/>
              </a:spcAft>
            </a:pPr>
            <a:r>
              <a:rPr sz="1150" b="1">
                <a:solidFill>
                  <a:srgbClr val="002970"/>
                </a:solidFill>
                <a:latin typeface="Liberation Sans"/>
              </a:rPr>
              <a:t>* Uncached Sensitivity (Rs 71.80/mo): </a:t>
            </a:r>
            <a:r>
              <a:rPr sz="1150" b="0">
                <a:solidFill>
                  <a:srgbClr val="0F172A"/>
                </a:solidFill>
                <a:latin typeface="Liberation Sans"/>
              </a:rPr>
              <a:t>Uncached Bulbul v3 (9k chars/mo at Rs 30/10k = Rs 27.00 TTS) = 72.2% gross margin (Bulbul v2 Rs 13.50 = 77.4%).</a:t>
            </a:r>
          </a:p>
        </p:txBody>
      </p:sp>
      <p:sp>
        <p:nvSpPr>
          <p:cNvPr id="12" name="Rounded Rectangle 11"/>
          <p:cNvSpPr/>
          <p:nvPr/>
        </p:nvSpPr>
        <p:spPr>
          <a:xfrm>
            <a:off x="6629400" y="1298448"/>
            <a:ext cx="5056632" cy="3520440"/>
          </a:xfrm>
          <a:prstGeom prst="roundRect">
            <a:avLst>
              <a:gd name="adj" fmla="val 3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3_three_revenue_cases.png"/>
          <p:cNvPicPr>
            <a:picLocks noChangeAspect="1"/>
          </p:cNvPicPr>
          <p:nvPr/>
        </p:nvPicPr>
        <p:blipFill>
          <a:blip r:embed="rId2"/>
          <a:stretch>
            <a:fillRect/>
          </a:stretch>
        </p:blipFill>
        <p:spPr>
          <a:xfrm>
            <a:off x="6748272" y="1389888"/>
            <a:ext cx="4800600" cy="3388659"/>
          </a:xfrm>
          <a:prstGeom prst="rect">
            <a:avLst/>
          </a:prstGeom>
        </p:spPr>
      </p:pic>
      <p:sp>
        <p:nvSpPr>
          <p:cNvPr id="14" name="Rounded Rectangle 13"/>
          <p:cNvSpPr/>
          <p:nvPr/>
        </p:nvSpPr>
        <p:spPr>
          <a:xfrm>
            <a:off x="6629400" y="4956048"/>
            <a:ext cx="5056632" cy="1298448"/>
          </a:xfrm>
          <a:prstGeom prst="roundRect">
            <a:avLst>
              <a:gd name="adj" fmla="val 3000"/>
            </a:avLst>
          </a:prstGeom>
          <a:solidFill>
            <a:srgbClr val="001B4D"/>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5065776"/>
            <a:ext cx="4736592" cy="1078992"/>
          </a:xfrm>
          <a:prstGeom prst="rect">
            <a:avLst/>
          </a:prstGeom>
          <a:noFill/>
        </p:spPr>
        <p:txBody>
          <a:bodyPr wrap="square" lIns="36576" rIns="36576" tIns="18288" bIns="18288">
            <a:spAutoFit/>
          </a:bodyPr>
          <a:lstStyle/>
          <a:p>
            <a:pPr algn="l">
              <a:spcAft>
                <a:spcPts val="300"/>
              </a:spcAft>
            </a:pPr>
            <a:r>
              <a:rPr sz="1120" b="1" i="0">
                <a:solidFill>
                  <a:srgbClr val="FFFFFF"/>
                </a:solidFill>
                <a:latin typeface="Liberation Sans"/>
              </a:rPr>
              <a:t>CONSERVATIVE PRESENTATION ANCHOR</a:t>
            </a:r>
          </a:p>
          <a:p>
            <a:pPr algn="l">
              <a:spcAft>
                <a:spcPts val="300"/>
              </a:spcAft>
            </a:pPr>
            <a:r>
              <a:rPr sz="1120" b="1" i="0">
                <a:solidFill>
                  <a:srgbClr val="FFFFFF"/>
                </a:solidFill>
                <a:latin typeface="Liberation Sans"/>
              </a:rPr>
              <a:t>Lead with Rs 74.4 Cr (SaaS-only) to Rs 170.5 Cr (Core Product) ARR at 5% adoption; treat Rs 243.0 Cr (with credit referrals) as upside.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1B4D"/>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943600" cy="292608"/>
          </a:xfrm>
          <a:prstGeom prst="rect">
            <a:avLst/>
          </a:prstGeom>
          <a:noFill/>
        </p:spPr>
        <p:txBody>
          <a:bodyPr wrap="square" lIns="36576" rIns="36576" tIns="18288" bIns="18288">
            <a:spAutoFit/>
          </a:bodyPr>
          <a:lstStyle/>
          <a:p>
            <a:pPr algn="l">
              <a:spcAft>
                <a:spcPts val="300"/>
              </a:spcAft>
            </a:pPr>
            <a:r>
              <a:rPr sz="1100" b="1" i="0">
                <a:solidFill>
                  <a:srgbClr val="00BAF2"/>
                </a:solidFill>
                <a:latin typeface="Liberation Sans"/>
              </a:rPr>
              <a:t>APPENDIX A9 : VALIDATION &amp; ROLLOUT ROADMAP</a:t>
            </a:r>
          </a:p>
        </p:txBody>
      </p:sp>
      <p:sp>
        <p:nvSpPr>
          <p:cNvPr id="4" name="TextBox 3"/>
          <p:cNvSpPr txBox="1"/>
          <p:nvPr/>
        </p:nvSpPr>
        <p:spPr>
          <a:xfrm>
            <a:off x="594360" y="777240"/>
            <a:ext cx="10972800" cy="457200"/>
          </a:xfrm>
          <a:prstGeom prst="rect">
            <a:avLst/>
          </a:prstGeom>
          <a:noFill/>
        </p:spPr>
        <p:txBody>
          <a:bodyPr wrap="square" lIns="36576" rIns="36576" tIns="18288" bIns="18288">
            <a:spAutoFit/>
          </a:bodyPr>
          <a:lstStyle/>
          <a:p>
            <a:pPr algn="l">
              <a:spcAft>
                <a:spcPts val="300"/>
              </a:spcAft>
            </a:pPr>
            <a:r>
              <a:rPr sz="2400" b="1" i="0">
                <a:solidFill>
                  <a:srgbClr val="FFFFFF"/>
                </a:solidFill>
                <a:latin typeface="Liberation Sans"/>
              </a:rPr>
              <a:t>From Synthetic Hackathon Slice to Powered 50-Store Bengaluru Pilot</a:t>
            </a:r>
          </a:p>
        </p:txBody>
      </p:sp>
      <p:sp>
        <p:nvSpPr>
          <p:cNvPr id="5" name="Rounded Rectangle 4"/>
          <p:cNvSpPr/>
          <p:nvPr/>
        </p:nvSpPr>
        <p:spPr>
          <a:xfrm>
            <a:off x="594360" y="1508760"/>
            <a:ext cx="3520440" cy="3474720"/>
          </a:xfrm>
          <a:prstGeom prst="roundRect">
            <a:avLst>
              <a:gd name="adj" fmla="val 3000"/>
            </a:avLst>
          </a:prstGeom>
          <a:solidFill>
            <a:srgbClr val="002970"/>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664208"/>
            <a:ext cx="3200400" cy="274320"/>
          </a:xfrm>
          <a:prstGeom prst="rect">
            <a:avLst/>
          </a:prstGeom>
          <a:noFill/>
        </p:spPr>
        <p:txBody>
          <a:bodyPr wrap="square" lIns="36576" rIns="36576" tIns="18288" bIns="18288">
            <a:spAutoFit/>
          </a:bodyPr>
          <a:lstStyle/>
          <a:p>
            <a:pPr algn="l">
              <a:spcAft>
                <a:spcPts val="300"/>
              </a:spcAft>
            </a:pPr>
            <a:r>
              <a:rPr sz="1050" b="1" i="0">
                <a:solidFill>
                  <a:srgbClr val="00BAF2"/>
                </a:solidFill>
                <a:latin typeface="Liberation Sans"/>
              </a:rPr>
              <a:t>STAGE A : BUILT TODAY (MVP)</a:t>
            </a:r>
          </a:p>
        </p:txBody>
      </p:sp>
      <p:sp>
        <p:nvSpPr>
          <p:cNvPr id="7" name="TextBox 6"/>
          <p:cNvSpPr txBox="1"/>
          <p:nvPr/>
        </p:nvSpPr>
        <p:spPr>
          <a:xfrm>
            <a:off x="758952" y="1975104"/>
            <a:ext cx="3200400" cy="329184"/>
          </a:xfrm>
          <a:prstGeom prst="rect">
            <a:avLst/>
          </a:prstGeom>
          <a:noFill/>
        </p:spPr>
        <p:txBody>
          <a:bodyPr wrap="square" lIns="36576" rIns="36576" tIns="18288" bIns="18288">
            <a:spAutoFit/>
          </a:bodyPr>
          <a:lstStyle/>
          <a:p>
            <a:pPr algn="l">
              <a:spcAft>
                <a:spcPts val="300"/>
              </a:spcAft>
            </a:pPr>
            <a:r>
              <a:rPr sz="1450" b="1" i="0">
                <a:solidFill>
                  <a:srgbClr val="FFFFFF"/>
                </a:solidFill>
                <a:latin typeface="Liberation Sans"/>
              </a:rPr>
              <a:t>Synthetic Slice &amp; Guardrails</a:t>
            </a:r>
          </a:p>
        </p:txBody>
      </p:sp>
      <p:sp>
        <p:nvSpPr>
          <p:cNvPr id="8" name="TextBox 7"/>
          <p:cNvSpPr txBox="1"/>
          <p:nvPr/>
        </p:nvSpPr>
        <p:spPr>
          <a:xfrm>
            <a:off x="758952" y="2450592"/>
            <a:ext cx="3200400" cy="713232"/>
          </a:xfrm>
          <a:prstGeom prst="rect">
            <a:avLst/>
          </a:prstGeom>
          <a:noFill/>
        </p:spPr>
        <p:txBody>
          <a:bodyPr wrap="square" lIns="36576" rIns="36576" tIns="18288" bIns="18288">
            <a:spAutoFit/>
          </a:bodyPr>
          <a:lstStyle/>
          <a:p>
            <a:pPr algn="l">
              <a:spcAft>
                <a:spcPts val="300"/>
              </a:spcAft>
            </a:pPr>
            <a:r>
              <a:rPr sz="1120" b="0" i="0">
                <a:solidFill>
                  <a:srgbClr val="E2E8F0"/>
                </a:solidFill>
                <a:latin typeface="Liberation Sans"/>
              </a:rPr>
              <a:t>* FastAPI + SQLite synthetic store (240 payers, 1,613 scans)</a:t>
            </a:r>
          </a:p>
        </p:txBody>
      </p:sp>
      <p:sp>
        <p:nvSpPr>
          <p:cNvPr id="9" name="TextBox 8"/>
          <p:cNvSpPr txBox="1"/>
          <p:nvPr/>
        </p:nvSpPr>
        <p:spPr>
          <a:xfrm>
            <a:off x="758952" y="3227832"/>
            <a:ext cx="3200400" cy="713232"/>
          </a:xfrm>
          <a:prstGeom prst="rect">
            <a:avLst/>
          </a:prstGeom>
          <a:noFill/>
        </p:spPr>
        <p:txBody>
          <a:bodyPr wrap="square" lIns="36576" rIns="36576" tIns="18288" bIns="18288">
            <a:spAutoFit/>
          </a:bodyPr>
          <a:lstStyle/>
          <a:p>
            <a:pPr algn="l">
              <a:spcAft>
                <a:spcPts val="300"/>
              </a:spcAft>
            </a:pPr>
            <a:r>
              <a:rPr sz="1120" b="0" i="0">
                <a:solidFill>
                  <a:srgbClr val="E2E8F0"/>
                </a:solidFill>
                <a:latin typeface="Liberation Sans"/>
              </a:rPr>
              <a:t>* 5-rule policy engine + 80/20 holdout &amp; profit ROI math</a:t>
            </a:r>
          </a:p>
        </p:txBody>
      </p:sp>
      <p:sp>
        <p:nvSpPr>
          <p:cNvPr id="10" name="TextBox 9"/>
          <p:cNvSpPr txBox="1"/>
          <p:nvPr/>
        </p:nvSpPr>
        <p:spPr>
          <a:xfrm>
            <a:off x="758952" y="4005072"/>
            <a:ext cx="3200400" cy="713232"/>
          </a:xfrm>
          <a:prstGeom prst="rect">
            <a:avLst/>
          </a:prstGeom>
          <a:noFill/>
        </p:spPr>
        <p:txBody>
          <a:bodyPr wrap="square" lIns="36576" rIns="36576" tIns="18288" bIns="18288">
            <a:spAutoFit/>
          </a:bodyPr>
          <a:lstStyle/>
          <a:p>
            <a:pPr algn="l">
              <a:spcAft>
                <a:spcPts val="300"/>
              </a:spcAft>
            </a:pPr>
            <a:r>
              <a:rPr sz="1120" b="0" i="0">
                <a:solidFill>
                  <a:srgbClr val="E2E8F0"/>
                </a:solidFill>
                <a:latin typeface="Liberation Sans"/>
              </a:rPr>
              <a:t>* Companion Soundbox UI + 21/21 automated QA checks</a:t>
            </a:r>
          </a:p>
        </p:txBody>
      </p:sp>
      <p:sp>
        <p:nvSpPr>
          <p:cNvPr id="11" name="Rounded Rectangle 10"/>
          <p:cNvSpPr/>
          <p:nvPr/>
        </p:nvSpPr>
        <p:spPr>
          <a:xfrm>
            <a:off x="4343400" y="1508760"/>
            <a:ext cx="3520440" cy="3474720"/>
          </a:xfrm>
          <a:prstGeom prst="roundRect">
            <a:avLst>
              <a:gd name="adj" fmla="val 3000"/>
            </a:avLst>
          </a:prstGeom>
          <a:solidFill>
            <a:srgbClr val="002970"/>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664208"/>
            <a:ext cx="3200400" cy="274320"/>
          </a:xfrm>
          <a:prstGeom prst="rect">
            <a:avLst/>
          </a:prstGeom>
          <a:noFill/>
        </p:spPr>
        <p:txBody>
          <a:bodyPr wrap="square" lIns="36576" rIns="36576" tIns="18288" bIns="18288">
            <a:spAutoFit/>
          </a:bodyPr>
          <a:lstStyle/>
          <a:p>
            <a:pPr algn="l">
              <a:spcAft>
                <a:spcPts val="300"/>
              </a:spcAft>
            </a:pPr>
            <a:r>
              <a:rPr sz="1050" b="1" i="0">
                <a:solidFill>
                  <a:srgbClr val="00BAF2"/>
                </a:solidFill>
                <a:latin typeface="Liberation Sans"/>
              </a:rPr>
              <a:t>STAGE B : DAYS 1 TO 45 PILOT</a:t>
            </a:r>
          </a:p>
        </p:txBody>
      </p:sp>
      <p:sp>
        <p:nvSpPr>
          <p:cNvPr id="13" name="TextBox 12"/>
          <p:cNvSpPr txBox="1"/>
          <p:nvPr/>
        </p:nvSpPr>
        <p:spPr>
          <a:xfrm>
            <a:off x="4507992" y="1975104"/>
            <a:ext cx="3200400" cy="329184"/>
          </a:xfrm>
          <a:prstGeom prst="rect">
            <a:avLst/>
          </a:prstGeom>
          <a:noFill/>
        </p:spPr>
        <p:txBody>
          <a:bodyPr wrap="square" lIns="36576" rIns="36576" tIns="18288" bIns="18288">
            <a:spAutoFit/>
          </a:bodyPr>
          <a:lstStyle/>
          <a:p>
            <a:pPr algn="l">
              <a:spcAft>
                <a:spcPts val="300"/>
              </a:spcAft>
            </a:pPr>
            <a:r>
              <a:rPr sz="1450" b="1" i="0">
                <a:solidFill>
                  <a:srgbClr val="FFFFFF"/>
                </a:solidFill>
                <a:latin typeface="Liberation Sans"/>
              </a:rPr>
              <a:t>Bengaluru 50-Store Validation</a:t>
            </a:r>
          </a:p>
        </p:txBody>
      </p:sp>
      <p:sp>
        <p:nvSpPr>
          <p:cNvPr id="14" name="TextBox 13"/>
          <p:cNvSpPr txBox="1"/>
          <p:nvPr/>
        </p:nvSpPr>
        <p:spPr>
          <a:xfrm>
            <a:off x="4507992" y="2450592"/>
            <a:ext cx="3200400" cy="713232"/>
          </a:xfrm>
          <a:prstGeom prst="rect">
            <a:avLst/>
          </a:prstGeom>
          <a:noFill/>
        </p:spPr>
        <p:txBody>
          <a:bodyPr wrap="square" lIns="36576" rIns="36576" tIns="18288" bIns="18288">
            <a:spAutoFit/>
          </a:bodyPr>
          <a:lstStyle/>
          <a:p>
            <a:pPr algn="l">
              <a:spcAft>
                <a:spcPts val="300"/>
              </a:spcAft>
            </a:pPr>
            <a:r>
              <a:rPr sz="1120" b="0" i="0">
                <a:solidFill>
                  <a:srgbClr val="E2E8F0"/>
                </a:solidFill>
                <a:latin typeface="Liberation Sans"/>
              </a:rPr>
              <a:t>* Verify Sarvam TTS/ASR in sponsor window &amp; native copy review</a:t>
            </a:r>
          </a:p>
        </p:txBody>
      </p:sp>
      <p:sp>
        <p:nvSpPr>
          <p:cNvPr id="15" name="TextBox 14"/>
          <p:cNvSpPr txBox="1"/>
          <p:nvPr/>
        </p:nvSpPr>
        <p:spPr>
          <a:xfrm>
            <a:off x="4507992" y="3227832"/>
            <a:ext cx="3200400" cy="713232"/>
          </a:xfrm>
          <a:prstGeom prst="rect">
            <a:avLst/>
          </a:prstGeom>
          <a:noFill/>
        </p:spPr>
        <p:txBody>
          <a:bodyPr wrap="square" lIns="36576" rIns="36576" tIns="18288" bIns="18288">
            <a:spAutoFit/>
          </a:bodyPr>
          <a:lstStyle/>
          <a:p>
            <a:pPr algn="l">
              <a:spcAft>
                <a:spcPts val="300"/>
              </a:spcAft>
            </a:pPr>
            <a:r>
              <a:rPr sz="1120" b="0" i="0">
                <a:solidFill>
                  <a:srgbClr val="E2E8F0"/>
                </a:solidFill>
                <a:latin typeface="Liberation Sans"/>
              </a:rPr>
              <a:t>* Run &gt;=4 weekly waves (~50+ payers/arm) for 80% statistical power</a:t>
            </a:r>
          </a:p>
        </p:txBody>
      </p:sp>
      <p:sp>
        <p:nvSpPr>
          <p:cNvPr id="16" name="TextBox 15"/>
          <p:cNvSpPr txBox="1"/>
          <p:nvPr/>
        </p:nvSpPr>
        <p:spPr>
          <a:xfrm>
            <a:off x="4507992" y="4005072"/>
            <a:ext cx="3200400" cy="713232"/>
          </a:xfrm>
          <a:prstGeom prst="rect">
            <a:avLst/>
          </a:prstGeom>
          <a:noFill/>
        </p:spPr>
        <p:txBody>
          <a:bodyPr wrap="square" lIns="36576" rIns="36576" tIns="18288" bIns="18288">
            <a:spAutoFit/>
          </a:bodyPr>
          <a:lstStyle/>
          <a:p>
            <a:pPr algn="l">
              <a:spcAft>
                <a:spcPts val="300"/>
              </a:spcAft>
            </a:pPr>
            <a:r>
              <a:rPr sz="1120" b="0" i="0">
                <a:solidFill>
                  <a:srgbClr val="E2E8F0"/>
                </a:solidFill>
                <a:latin typeface="Liberation Sans"/>
              </a:rPr>
              <a:t>* Measure real net merchant profit after cashback &amp; 5% fee</a:t>
            </a:r>
          </a:p>
        </p:txBody>
      </p:sp>
      <p:sp>
        <p:nvSpPr>
          <p:cNvPr id="17" name="Rounded Rectangle 16"/>
          <p:cNvSpPr/>
          <p:nvPr/>
        </p:nvSpPr>
        <p:spPr>
          <a:xfrm>
            <a:off x="8092440" y="1508760"/>
            <a:ext cx="3520440" cy="3474720"/>
          </a:xfrm>
          <a:prstGeom prst="roundRect">
            <a:avLst>
              <a:gd name="adj" fmla="val 3000"/>
            </a:avLst>
          </a:prstGeom>
          <a:solidFill>
            <a:srgbClr val="002970"/>
          </a:solidFill>
          <a:ln w="1524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1664208"/>
            <a:ext cx="3200400" cy="274320"/>
          </a:xfrm>
          <a:prstGeom prst="rect">
            <a:avLst/>
          </a:prstGeom>
          <a:noFill/>
        </p:spPr>
        <p:txBody>
          <a:bodyPr wrap="square" lIns="36576" rIns="36576" tIns="18288" bIns="18288">
            <a:spAutoFit/>
          </a:bodyPr>
          <a:lstStyle/>
          <a:p>
            <a:pPr algn="l">
              <a:spcAft>
                <a:spcPts val="300"/>
              </a:spcAft>
            </a:pPr>
            <a:r>
              <a:rPr sz="1050" b="1" i="0">
                <a:solidFill>
                  <a:srgbClr val="00BAF2"/>
                </a:solidFill>
                <a:latin typeface="Liberation Sans"/>
              </a:rPr>
              <a:t>STAGE C : PRODUCTION SCALE</a:t>
            </a:r>
          </a:p>
        </p:txBody>
      </p:sp>
      <p:sp>
        <p:nvSpPr>
          <p:cNvPr id="19" name="TextBox 18"/>
          <p:cNvSpPr txBox="1"/>
          <p:nvPr/>
        </p:nvSpPr>
        <p:spPr>
          <a:xfrm>
            <a:off x="8257031" y="1975104"/>
            <a:ext cx="3200400" cy="329184"/>
          </a:xfrm>
          <a:prstGeom prst="rect">
            <a:avLst/>
          </a:prstGeom>
          <a:noFill/>
        </p:spPr>
        <p:txBody>
          <a:bodyPr wrap="square" lIns="36576" rIns="36576" tIns="18288" bIns="18288">
            <a:spAutoFit/>
          </a:bodyPr>
          <a:lstStyle/>
          <a:p>
            <a:pPr algn="l">
              <a:spcAft>
                <a:spcPts val="300"/>
              </a:spcAft>
            </a:pPr>
            <a:r>
              <a:rPr sz="1450" b="1" i="0">
                <a:solidFill>
                  <a:srgbClr val="FFFFFF"/>
                </a:solidFill>
                <a:latin typeface="Liberation Sans"/>
              </a:rPr>
              <a:t>Paytm Ecosystem Integration</a:t>
            </a:r>
          </a:p>
        </p:txBody>
      </p:sp>
      <p:sp>
        <p:nvSpPr>
          <p:cNvPr id="20" name="TextBox 19"/>
          <p:cNvSpPr txBox="1"/>
          <p:nvPr/>
        </p:nvSpPr>
        <p:spPr>
          <a:xfrm>
            <a:off x="8257031" y="2450592"/>
            <a:ext cx="3200400" cy="713232"/>
          </a:xfrm>
          <a:prstGeom prst="rect">
            <a:avLst/>
          </a:prstGeom>
          <a:noFill/>
        </p:spPr>
        <p:txBody>
          <a:bodyPr wrap="square" lIns="36576" rIns="36576" tIns="18288" bIns="18288">
            <a:spAutoFit/>
          </a:bodyPr>
          <a:lstStyle/>
          <a:p>
            <a:pPr algn="l">
              <a:spcAft>
                <a:spcPts val="300"/>
              </a:spcAft>
            </a:pPr>
            <a:r>
              <a:rPr sz="1120" b="0" i="0">
                <a:solidFill>
                  <a:srgbClr val="E2E8F0"/>
                </a:solidFill>
                <a:latin typeface="Liberation Sans"/>
              </a:rPr>
              <a:t>* Integrate Paytm QR dynamic coupon ledger &amp; 4G Soundbox push</a:t>
            </a:r>
          </a:p>
        </p:txBody>
      </p:sp>
      <p:sp>
        <p:nvSpPr>
          <p:cNvPr id="21" name="TextBox 20"/>
          <p:cNvSpPr txBox="1"/>
          <p:nvPr/>
        </p:nvSpPr>
        <p:spPr>
          <a:xfrm>
            <a:off x="8257031" y="3227832"/>
            <a:ext cx="3200400" cy="713232"/>
          </a:xfrm>
          <a:prstGeom prst="rect">
            <a:avLst/>
          </a:prstGeom>
          <a:noFill/>
        </p:spPr>
        <p:txBody>
          <a:bodyPr wrap="square" lIns="36576" rIns="36576" tIns="18288" bIns="18288">
            <a:spAutoFit/>
          </a:bodyPr>
          <a:lstStyle/>
          <a:p>
            <a:pPr algn="l">
              <a:spcAft>
                <a:spcPts val="300"/>
              </a:spcAft>
            </a:pPr>
            <a:r>
              <a:rPr sz="1120" b="0" i="0">
                <a:solidFill>
                  <a:srgbClr val="E2E8F0"/>
                </a:solidFill>
                <a:latin typeface="Liberation Sans"/>
              </a:rPr>
              <a:t>* Self-host open-weight SLMs (e.g., Apache 2.0 Sarvam-30B/M) if validated</a:t>
            </a:r>
          </a:p>
        </p:txBody>
      </p:sp>
      <p:sp>
        <p:nvSpPr>
          <p:cNvPr id="22" name="TextBox 21"/>
          <p:cNvSpPr txBox="1"/>
          <p:nvPr/>
        </p:nvSpPr>
        <p:spPr>
          <a:xfrm>
            <a:off x="8257031" y="4005072"/>
            <a:ext cx="3200400" cy="713232"/>
          </a:xfrm>
          <a:prstGeom prst="rect">
            <a:avLst/>
          </a:prstGeom>
          <a:noFill/>
        </p:spPr>
        <p:txBody>
          <a:bodyPr wrap="square" lIns="36576" rIns="36576" tIns="18288" bIns="18288">
            <a:spAutoFit/>
          </a:bodyPr>
          <a:lstStyle/>
          <a:p>
            <a:pPr algn="l">
              <a:spcAft>
                <a:spcPts val="300"/>
              </a:spcAft>
            </a:pPr>
            <a:r>
              <a:rPr sz="1120" b="0" i="0">
                <a:solidFill>
                  <a:srgbClr val="E2E8F0"/>
                </a:solidFill>
                <a:latin typeface="Liberation Sans"/>
              </a:rPr>
              <a:t>* Roll out across Soundbox languages &amp; partner credit funnel</a:t>
            </a:r>
          </a:p>
        </p:txBody>
      </p:sp>
      <p:sp>
        <p:nvSpPr>
          <p:cNvPr id="23" name="Rounded Rectangle 22"/>
          <p:cNvSpPr/>
          <p:nvPr/>
        </p:nvSpPr>
        <p:spPr>
          <a:xfrm>
            <a:off x="594360" y="5257800"/>
            <a:ext cx="11018520" cy="1005840"/>
          </a:xfrm>
          <a:prstGeom prst="roundRect">
            <a:avLst>
              <a:gd name="adj" fmla="val 3000"/>
            </a:avLst>
          </a:prstGeom>
          <a:solidFill>
            <a:srgbClr val="001133"/>
          </a:solidFill>
          <a:ln w="1270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413248"/>
            <a:ext cx="6858000" cy="329184"/>
          </a:xfrm>
          <a:prstGeom prst="rect">
            <a:avLst/>
          </a:prstGeom>
          <a:noFill/>
        </p:spPr>
        <p:txBody>
          <a:bodyPr wrap="square" lIns="36576" rIns="36576" tIns="18288" bIns="18288">
            <a:spAutoFit/>
          </a:bodyPr>
          <a:lstStyle/>
          <a:p>
            <a:pPr algn="l">
              <a:spcAft>
                <a:spcPts val="300"/>
              </a:spcAft>
            </a:pPr>
            <a:r>
              <a:rPr sz="1550" b="1" i="0">
                <a:solidFill>
                  <a:srgbClr val="FFFFFF"/>
                </a:solidFill>
                <a:latin typeface="Liberation Sans"/>
              </a:rPr>
              <a:t>PaytmAI VyaparVoice | Team SemiTechnical (Kevin Joseph)</a:t>
            </a:r>
          </a:p>
        </p:txBody>
      </p:sp>
      <p:sp>
        <p:nvSpPr>
          <p:cNvPr id="25" name="TextBox 24"/>
          <p:cNvSpPr txBox="1"/>
          <p:nvPr/>
        </p:nvSpPr>
        <p:spPr>
          <a:xfrm>
            <a:off x="822960" y="5779008"/>
            <a:ext cx="10515600" cy="310896"/>
          </a:xfrm>
          <a:prstGeom prst="rect">
            <a:avLst/>
          </a:prstGeom>
          <a:noFill/>
        </p:spPr>
        <p:txBody>
          <a:bodyPr wrap="square" lIns="36576" rIns="36576" tIns="18288" bIns="18288">
            <a:spAutoFit/>
          </a:bodyPr>
          <a:lstStyle/>
          <a:p>
            <a:pPr algn="l">
              <a:spcAft>
                <a:spcPts val="300"/>
              </a:spcAft>
            </a:pPr>
            <a:r>
              <a:rPr sz="1150" b="0" i="0">
                <a:solidFill>
                  <a:srgbClr val="00BAF2"/>
                </a:solidFill>
                <a:latin typeface="Liberation Sans"/>
              </a:rPr>
              <a:t>Deck v1 (Slide 14 / 14) | Live Demo: https://paytmai-vyaparvoice.onrender.com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