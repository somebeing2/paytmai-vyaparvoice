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Kevin Joseph from Team SemiTechnical, presenting PaytmAI VyaparVoice for Track 1, Merchant Growth AI. In its Q2 FY27 earnings release on 26 October 2026, Paytm reported 1.64 crore subscription-paying merchants, Rs 7.1 lakh crore in merchant GMV, and Rs 2,648 crore in operating revenue. Yet once a QR payment clears, Soundbox goes quiet: counter shopkeepers lack customer-level retention alerts and rarely open analytics dashboards. In our synthetic Bengaluru darshini ledger, afternoon scans between 3 and 5 PM also drop 70 percent below 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8:30 PM closing time, VyaparVoice delivers a plain-language brief with zero statistical jargon. On our seeded synthetic ledger of 240 payers and 1,613 scans, SQL filters 48 lapsed regulars down to 40 eligible buyers, holding 8 in silent control and issuing Rs 25 passes to all 32 nudged buyers, with an atomic Rs 300 hard stop on actual cashback spend and an upfront warning when cap-overrun risk exceeds 10 percent. Judges can scan the QR code to open our live Render deployment, where each visitor receives an isolated SQLite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separates verified code running in our repository today from pending live sponsor keys and production integrations. Stage 1 added exact Fisher and Wilson tests, unequal-allocation power math, atomic thread-safe spend stopping, banned-jargon copy linting, Evidence Grades A/B/C, visitor session isolation, and a mock-tested keyless Sarvam adapter capped at 30 percent of credits.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our Intention-to-Treat holdout and profit waterfall. 12 of 32 nudged buyers return versus 1 of 8 in control, with Fisher exact p equals 0.24, where the simulated 12 returning buyers equals the 12-redemption Rs 300 cap. At our 80/20 allocation of 40 buyers per wave, 80 percent power requires about 31 control and 124 nudged buyers, or 155 total across roughly 4 waves, compared to 46 per arm at a 50/50 split. At a 30 percent store margin, Rs 522 gross profit minus Rs 300 cashback leaves Rs 222 pre-fee, and Rs 91.50 after Paytm's Rs 130.50 5 percent fee levied on all Rs 2,610 redeemed bills including organic returners.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updates our scale model to Paytm's Q2 FY27 base of 1.64 crore subscription-paying merchants: 5 percent adoption equals 8.20 lakh shops. SaaS alone at Rs 79 per month yields Rs 77.7 crore ARR; adding steady-state promo fees of Rs 102 per month, corresponding to 0.78 full waves per month or Rs 2,040 in total redeemed bills including organic returners, reaches Rs 178.1 crore ARR with zero lending assumptions; adding credit referrals reaches Rs 253.9 crore ARR. Pooling 4 weekly 80/20 waves per pilot store reaches 160 observations, exceeding the 155 required for 80 percent power.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summarizes the updated Q2 FY27 attribution, Intention-to-Treat cap accounting, and Stage 1 verification status.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cites Paytm's 26 October 2026 Q2 FY27 earnings release directly and tags ~7 percent merchant loan penetration and Rs 90 to 100 monthly Soundbox rental as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maps built Stage 1 modules, simulated MVP flows, and planned Paytm production hooks across Track 1's three pillars.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documents our Intention-to-Treat cap-versus-holdout architecture: all 32 nudged buyers receive passes, overrun risk above 10 percent triggers a pre-approval warning and cap suggestion, outcomes are drawn independently before applying the atomic spend stop, and both concurrency and ITT invariance are verified by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reflects all Stage 1 modules built and tested today, distinguishing them from pending live Sarvam activation and production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compares VyaparVoice against manual dashboards and unconstrained LLM chatbots.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updates the power tile to show both 80/20 allocation (31 control and 124 nudged = 155 total, ~4 waves) and 50/50 even allocation (46 per arm), and labels ~7 percent loan penetration as an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explicitly reconciles the Rs 130.50 single-campaign fee on Slide 4 with the Rs 102 per month steady-state promo fee assumption and updates ARR to Paytm's 1.64 crore Q2 FY27 merchant 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specifies our exact 80/20 power sample target of about 31 control and 124 nudged buyers across 4 waves, or 46 per arm at an even split.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A10 demonstrates our Task 14 communication layer separating jargon-free merchant scorecards from full statistical audit metrics and grading every claim A, B, or 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A11 shows how our simulated dose-response curve interacts with the Rs 300 spend stop and contrasts the merchant rupee cap against our separate 30 percent Sarvam API credit ledger.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1071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31927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1 / 5 : PROBLEM &amp; OPPORTUNITY</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1.64 Cr Merchants Pay for Subscriptions; Retention Stays Manual</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1 / 5 (Slide 1 / 16)</a:t>
            </a:r>
          </a:p>
        </p:txBody>
      </p:sp>
      <p:sp>
        <p:nvSpPr>
          <p:cNvPr id="10" name="Rounded Rectangle 9"/>
          <p:cNvSpPr/>
          <p:nvPr/>
        </p:nvSpPr>
        <p:spPr>
          <a:xfrm>
            <a:off x="502920" y="1188720"/>
            <a:ext cx="662940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53312"/>
            <a:ext cx="6309360" cy="4754880"/>
          </a:xfrm>
          <a:prstGeom prst="rect">
            <a:avLst/>
          </a:prstGeom>
          <a:noFill/>
        </p:spPr>
        <p:txBody>
          <a:bodyPr wrap="square" lIns="54864" rIns="54864" tIns="36576" bIns="36576">
            <a:spAutoFit/>
          </a:bodyPr>
          <a:lstStyle/>
          <a:p>
            <a:pPr marL="210000" indent="-210000">
              <a:spcAft>
                <a:spcPts val="1400"/>
              </a:spcAft>
              <a:buChar char="•"/>
            </a:pPr>
            <a:r>
              <a:rPr sz="1800" b="1">
                <a:solidFill>
                  <a:srgbClr val="002970"/>
                </a:solidFill>
                <a:latin typeface="Liberation Sans"/>
              </a:rPr>
              <a:t>Reported Paytm Scale: </a:t>
            </a:r>
            <a:r>
              <a:rPr sz="1800" b="0">
                <a:solidFill>
                  <a:srgbClr val="0F172A"/>
                </a:solidFill>
                <a:latin typeface="Liberation Sans"/>
              </a:rPr>
              <a:t>1.64 Cr subscription merchants (+27L YoY), Rs 7.1L Cr GMV, Rs 2,648 Cr revenue (Reported: Paytm Q2 FY27 release, 26 Oct 2026).</a:t>
            </a:r>
          </a:p>
          <a:p>
            <a:pPr marL="210000" indent="-210000">
              <a:spcAft>
                <a:spcPts val="1400"/>
              </a:spcAft>
              <a:buChar char="•"/>
            </a:pPr>
            <a:r>
              <a:rPr sz="1800" b="1">
                <a:solidFill>
                  <a:srgbClr val="002970"/>
                </a:solidFill>
                <a:latin typeface="Liberation Sans"/>
              </a:rPr>
              <a:t>Silent Repeat Churn: </a:t>
            </a:r>
            <a:r>
              <a:rPr sz="1800" b="0">
                <a:solidFill>
                  <a:srgbClr val="0F172A"/>
                </a:solidFill>
                <a:latin typeface="Liberation Sans"/>
              </a:rPr>
              <a:t>Small shops lose an estimated 25% to 35% of repeat buyers yearly without customer-level alerts (Assumption).</a:t>
            </a:r>
          </a:p>
          <a:p>
            <a:pPr marL="210000" indent="-210000">
              <a:spcAft>
                <a:spcPts val="1400"/>
              </a:spcAft>
              <a:buChar char="•"/>
            </a:pPr>
            <a:r>
              <a:rPr sz="1800" b="1">
                <a:solidFill>
                  <a:srgbClr val="002970"/>
                </a:solidFill>
                <a:latin typeface="Liberation Sans"/>
              </a:rPr>
              <a:t>Dashboard Friction: </a:t>
            </a:r>
            <a:r>
              <a:rPr sz="1800" b="0">
                <a:solidFill>
                  <a:srgbClr val="0F172A"/>
                </a:solidFill>
                <a:latin typeface="Liberation Sans"/>
              </a:rPr>
              <a:t>Single-counter operators work 12+ hr shifts; SMB BI dashboards see &lt;8% weekly usage (Assumption).</a:t>
            </a:r>
          </a:p>
          <a:p>
            <a:pPr marL="210000" indent="-210000">
              <a:spcAft>
                <a:spcPts val="1400"/>
              </a:spcAft>
              <a:buChar char="•"/>
            </a:pPr>
            <a:r>
              <a:rPr sz="1800" b="1">
                <a:solidFill>
                  <a:srgbClr val="002970"/>
                </a:solidFill>
                <a:latin typeface="Liberation Sans"/>
              </a:rPr>
              <a:t>Slow Hours &amp; Rush Prep: </a:t>
            </a:r>
            <a:r>
              <a:rPr sz="1800" b="0">
                <a:solidFill>
                  <a:srgbClr val="0F172A"/>
                </a:solidFill>
                <a:latin typeface="Liberation Sans"/>
              </a:rPr>
              <a:t>In our synthetic Bengaluru ledger, 3 to 5 PM scans fall 70% below peak while weekend rushes risk stockouts.</a:t>
            </a:r>
          </a:p>
        </p:txBody>
      </p:sp>
      <p:sp>
        <p:nvSpPr>
          <p:cNvPr id="12" name="Rounded Rectangle 11"/>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1_hourly_synthetic.png"/>
          <p:cNvPicPr>
            <a:picLocks noChangeAspect="1"/>
          </p:cNvPicPr>
          <p:nvPr/>
        </p:nvPicPr>
        <p:blipFill>
          <a:blip r:embed="rId2"/>
          <a:stretch>
            <a:fillRect/>
          </a:stretch>
        </p:blipFill>
        <p:spPr>
          <a:xfrm>
            <a:off x="7388352" y="1261872"/>
            <a:ext cx="4224528" cy="2830434"/>
          </a:xfrm>
          <a:prstGeom prst="rect">
            <a:avLst/>
          </a:prstGeom>
        </p:spPr>
      </p:pic>
      <p:sp>
        <p:nvSpPr>
          <p:cNvPr id="14" name="Rounded Rectangle 13"/>
          <p:cNvSpPr/>
          <p:nvPr/>
        </p:nvSpPr>
        <p:spPr>
          <a:xfrm>
            <a:off x="7315200" y="4553712"/>
            <a:ext cx="4370832" cy="1709928"/>
          </a:xfrm>
          <a:prstGeom prst="roundRect">
            <a:avLst>
              <a:gd name="adj" fmla="val 3000"/>
            </a:avLst>
          </a:prstGeom>
          <a:solidFill>
            <a:srgbClr val="001B4D"/>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4681728"/>
            <a:ext cx="4041648" cy="1463040"/>
          </a:xfrm>
          <a:prstGeom prst="rect">
            <a:avLst/>
          </a:prstGeom>
          <a:noFill/>
        </p:spPr>
        <p:txBody>
          <a:bodyPr wrap="square" lIns="36576" rIns="36576" tIns="18288" bIns="18288">
            <a:spAutoFit/>
          </a:bodyPr>
          <a:lstStyle/>
          <a:p>
            <a:pPr algn="l">
              <a:spcAft>
                <a:spcPts val="300"/>
              </a:spcAft>
            </a:pPr>
            <a:r>
              <a:rPr sz="1350" b="1" i="0">
                <a:solidFill>
                  <a:srgbClr val="FFFFFF"/>
                </a:solidFill>
                <a:latin typeface="Liberation Sans"/>
              </a:rPr>
              <a:t>PaytmAI VyaparVoice (Track 1)</a:t>
            </a:r>
          </a:p>
          <a:p>
            <a:pPr algn="l">
              <a:spcAft>
                <a:spcPts val="300"/>
              </a:spcAft>
            </a:pPr>
            <a:r>
              <a:rPr sz="1350" b="1" i="0">
                <a:solidFill>
                  <a:srgbClr val="FFFFFF"/>
                </a:solidFill>
                <a:latin typeface="Liberation Sans"/>
              </a:rPr>
              <a:t>8:30 PM closing-time voice retention &amp; ops copilot for Soundbox + Paytm for Business.</a:t>
            </a:r>
          </a:p>
          <a:p>
            <a:pPr algn="l">
              <a:spcAft>
                <a:spcPts val="300"/>
              </a:spcAft>
            </a:pPr>
            <a:r>
              <a:rPr sz="1350" b="1" i="0">
                <a:solidFill>
                  <a:srgbClr val="FFFFFF"/>
                </a:solidFill>
                <a:latin typeface="Liberation Sans"/>
              </a:rPr>
              <a:t>Team SemiTechnical | Kevin Joseph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2 / 5 : SOLUTION &amp; LIVE DEMO</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One 8:30 PM Voice Action, Governed by Deterministic SQL Rules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2 / 5 (Slide 2 / 16)</a:t>
            </a:r>
          </a:p>
        </p:txBody>
      </p:sp>
      <p:sp>
        <p:nvSpPr>
          <p:cNvPr id="10" name="Rounded Rectangle 9"/>
          <p:cNvSpPr/>
          <p:nvPr/>
        </p:nvSpPr>
        <p:spPr>
          <a:xfrm>
            <a:off x="502920" y="1188720"/>
            <a:ext cx="717804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16736"/>
            <a:ext cx="6858000" cy="4800600"/>
          </a:xfrm>
          <a:prstGeom prst="rect">
            <a:avLst/>
          </a:prstGeom>
          <a:noFill/>
        </p:spPr>
        <p:txBody>
          <a:bodyPr wrap="square" lIns="54864" rIns="54864" tIns="36576" bIns="36576">
            <a:spAutoFit/>
          </a:bodyPr>
          <a:lstStyle/>
          <a:p>
            <a:pPr marL="210000" indent="-210000">
              <a:spcAft>
                <a:spcPts val="1100"/>
              </a:spcAft>
              <a:buChar char="•"/>
            </a:pPr>
            <a:r>
              <a:rPr sz="1800" b="1">
                <a:solidFill>
                  <a:srgbClr val="002970"/>
                </a:solidFill>
                <a:latin typeface="Liberation Sans"/>
              </a:rPr>
              <a:t>Plain Voice Brief: </a:t>
            </a:r>
            <a:r>
              <a:rPr sz="1800" b="0">
                <a:solidFill>
                  <a:srgbClr val="0F172A"/>
                </a:solidFill>
                <a:latin typeface="Liberation Sans"/>
              </a:rPr>
              <a:t>Speaks 8:30 PM brief in English, Kannada, or Hindi (KN/HI marked Draft; zero jargon).</a:t>
            </a:r>
          </a:p>
          <a:p>
            <a:pPr marL="210000" indent="-210000">
              <a:spcAft>
                <a:spcPts val="1100"/>
              </a:spcAft>
              <a:buChar char="•"/>
            </a:pPr>
            <a:r>
              <a:rPr sz="1800" b="1">
                <a:solidFill>
                  <a:srgbClr val="002970"/>
                </a:solidFill>
                <a:latin typeface="Liberation Sans"/>
              </a:rPr>
              <a:t>Synthetic Store Slice: </a:t>
            </a:r>
            <a:r>
              <a:rPr sz="1800" b="0">
                <a:solidFill>
                  <a:srgbClr val="0F172A"/>
                </a:solidFill>
                <a:latin typeface="Liberation Sans"/>
              </a:rPr>
              <a:t>Sri Krishna Darshini (240 payers, 1,613 scans); flags 48 regulars silent 16 to 38d.</a:t>
            </a:r>
          </a:p>
          <a:p>
            <a:pPr marL="210000" indent="-210000">
              <a:spcAft>
                <a:spcPts val="1100"/>
              </a:spcAft>
              <a:buChar char="•"/>
            </a:pPr>
            <a:r>
              <a:rPr sz="1800" b="1">
                <a:solidFill>
                  <a:srgbClr val="002970"/>
                </a:solidFill>
                <a:latin typeface="Liberation Sans"/>
              </a:rPr>
              <a:t>Policy &amp; ITT Split: </a:t>
            </a:r>
            <a:r>
              <a:rPr sz="1800" b="0">
                <a:solidFill>
                  <a:srgbClr val="0F172A"/>
                </a:solidFill>
                <a:latin typeface="Liberation Sans"/>
              </a:rPr>
              <a:t>Filters to 40 DPDP &amp; 14d-cooldown clear buyers: 32 nudged vs 8 silent control.</a:t>
            </a:r>
          </a:p>
          <a:p>
            <a:pPr marL="210000" indent="-210000">
              <a:spcAft>
                <a:spcPts val="1100"/>
              </a:spcAft>
              <a:buChar char="•"/>
            </a:pPr>
            <a:r>
              <a:rPr sz="1800" b="1">
                <a:solidFill>
                  <a:srgbClr val="002970"/>
                </a:solidFill>
                <a:latin typeface="Liberation Sans"/>
              </a:rPr>
              <a:t>Passes vs Spend Stop: </a:t>
            </a:r>
            <a:r>
              <a:rPr sz="1800" b="0">
                <a:solidFill>
                  <a:srgbClr val="0F172A"/>
                </a:solidFill>
                <a:latin typeface="Liberation Sans"/>
              </a:rPr>
              <a:t>All 32 nudged get Rs 25 pass (Rs 800 face); hard stop at Rs 300 spend (&gt;10% risk alert).</a:t>
            </a:r>
          </a:p>
          <a:p>
            <a:pPr marL="210000" indent="-210000">
              <a:spcAft>
                <a:spcPts val="1100"/>
              </a:spcAft>
              <a:buChar char="•"/>
            </a:pPr>
            <a:r>
              <a:rPr sz="1800" b="1">
                <a:solidFill>
                  <a:srgbClr val="002970"/>
                </a:solidFill>
                <a:latin typeface="Liberation Sans"/>
              </a:rPr>
              <a:t>Zero LLM Math: </a:t>
            </a:r>
            <a:r>
              <a:rPr sz="1800" b="0">
                <a:solidFill>
                  <a:srgbClr val="0F172A"/>
                </a:solidFill>
                <a:latin typeface="Liberation Sans"/>
              </a:rPr>
              <a:t>SQLite computes every rupee and cap; per-visitor cloud sandboxes block paid calls.</a:t>
            </a:r>
          </a:p>
        </p:txBody>
      </p:sp>
      <p:sp>
        <p:nvSpPr>
          <p:cNvPr id="12" name="Rounded Rectangle 11"/>
          <p:cNvSpPr/>
          <p:nvPr/>
        </p:nvSpPr>
        <p:spPr>
          <a:xfrm>
            <a:off x="7845552" y="1188720"/>
            <a:ext cx="3840480" cy="5074920"/>
          </a:xfrm>
          <a:prstGeom prst="roundRect">
            <a:avLst>
              <a:gd name="adj" fmla="val 3000"/>
            </a:avLst>
          </a:prstGeom>
          <a:solidFill>
            <a:srgbClr val="001B4D"/>
          </a:solidFill>
          <a:ln w="1651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1" y="1335024"/>
            <a:ext cx="3474720" cy="329184"/>
          </a:xfrm>
          <a:prstGeom prst="rect">
            <a:avLst/>
          </a:prstGeom>
          <a:noFill/>
        </p:spPr>
        <p:txBody>
          <a:bodyPr wrap="square" lIns="36576" rIns="36576" tIns="18288" bIns="18288">
            <a:spAutoFit/>
          </a:bodyPr>
          <a:lstStyle/>
          <a:p>
            <a:pPr algn="ctr">
              <a:spcAft>
                <a:spcPts val="300"/>
              </a:spcAft>
            </a:pPr>
            <a:r>
              <a:rPr sz="1450" b="1" i="0">
                <a:solidFill>
                  <a:srgbClr val="00BAF2"/>
                </a:solidFill>
                <a:latin typeface="Liberation Sans"/>
              </a:rPr>
              <a:t>TRY LIVE SANDBOX DEMO</a:t>
            </a:r>
          </a:p>
        </p:txBody>
      </p:sp>
      <p:sp>
        <p:nvSpPr>
          <p:cNvPr id="14" name="Rounded Rectangle 13"/>
          <p:cNvSpPr/>
          <p:nvPr/>
        </p:nvSpPr>
        <p:spPr>
          <a:xfrm>
            <a:off x="8714232" y="1755648"/>
            <a:ext cx="2103120" cy="2103120"/>
          </a:xfrm>
          <a:prstGeom prst="roundRect">
            <a:avLst>
              <a:gd name="adj" fmla="val 3000"/>
            </a:avLst>
          </a:prstGeom>
          <a:solidFill>
            <a:srgbClr val="FFFFFF"/>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r_live_demo.png"/>
          <p:cNvPicPr>
            <a:picLocks noChangeAspect="1"/>
          </p:cNvPicPr>
          <p:nvPr/>
        </p:nvPicPr>
        <p:blipFill>
          <a:blip r:embed="rId2"/>
          <a:stretch>
            <a:fillRect/>
          </a:stretch>
        </p:blipFill>
        <p:spPr>
          <a:xfrm>
            <a:off x="8805672" y="1847088"/>
            <a:ext cx="1920240" cy="1920240"/>
          </a:xfrm>
          <a:prstGeom prst="rect">
            <a:avLst/>
          </a:prstGeom>
        </p:spPr>
      </p:pic>
      <p:sp>
        <p:nvSpPr>
          <p:cNvPr id="16" name="TextBox 15"/>
          <p:cNvSpPr txBox="1"/>
          <p:nvPr/>
        </p:nvSpPr>
        <p:spPr>
          <a:xfrm>
            <a:off x="7973568" y="3968496"/>
            <a:ext cx="3584448" cy="566928"/>
          </a:xfrm>
          <a:prstGeom prst="rect">
            <a:avLst/>
          </a:prstGeom>
          <a:noFill/>
        </p:spPr>
        <p:txBody>
          <a:bodyPr wrap="square" lIns="36576" rIns="36576" tIns="18288" bIns="18288">
            <a:spAutoFit/>
          </a:bodyPr>
          <a:lstStyle/>
          <a:p>
            <a:pPr algn="ctr">
              <a:spcAft>
                <a:spcPts val="300"/>
              </a:spcAft>
            </a:pPr>
            <a:r>
              <a:rPr sz="1300" b="1" i="0">
                <a:solidFill>
                  <a:srgbClr val="FFFFFF"/>
                </a:solidFill>
                <a:latin typeface="Liberation Sans"/>
              </a:rPr>
              <a:t>https://paytmai-vyaparvoice</a:t>
            </a:r>
          </a:p>
          <a:p>
            <a:pPr algn="ctr">
              <a:spcAft>
                <a:spcPts val="300"/>
              </a:spcAft>
            </a:pPr>
            <a:r>
              <a:rPr sz="1300" b="1" i="0">
                <a:solidFill>
                  <a:srgbClr val="FFFFFF"/>
                </a:solidFill>
                <a:latin typeface="Liberation Sans"/>
              </a:rPr>
              <a:t>.onrender.com</a:t>
            </a:r>
          </a:p>
        </p:txBody>
      </p:sp>
      <p:sp>
        <p:nvSpPr>
          <p:cNvPr id="17" name="Rounded Rectangle 16"/>
          <p:cNvSpPr/>
          <p:nvPr/>
        </p:nvSpPr>
        <p:spPr>
          <a:xfrm>
            <a:off x="8028431" y="4645152"/>
            <a:ext cx="3474720" cy="1426464"/>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8" y="4736592"/>
            <a:ext cx="3218688" cy="1261872"/>
          </a:xfrm>
          <a:prstGeom prst="rect">
            <a:avLst/>
          </a:prstGeom>
          <a:noFill/>
        </p:spPr>
        <p:txBody>
          <a:bodyPr wrap="square" lIns="36576" rIns="36576" tIns="18288" bIns="18288">
            <a:spAutoFit/>
          </a:bodyPr>
          <a:lstStyle/>
          <a:p>
            <a:pPr algn="ctr">
              <a:spcAft>
                <a:spcPts val="300"/>
              </a:spcAft>
            </a:pPr>
            <a:r>
              <a:rPr sz="1150" b="0" i="0">
                <a:solidFill>
                  <a:srgbClr val="E0F7FE"/>
                </a:solidFill>
                <a:latin typeface="Liberation Sans"/>
              </a:rPr>
              <a:t>Cloud Safeguards Active:</a:t>
            </a:r>
          </a:p>
          <a:p>
            <a:pPr algn="ctr">
              <a:spcAft>
                <a:spcPts val="300"/>
              </a:spcAft>
            </a:pPr>
            <a:r>
              <a:rPr sz="1150" b="0" i="0">
                <a:solidFill>
                  <a:srgbClr val="E0F7FE"/>
                </a:solidFill>
                <a:latin typeface="Liberation Sans"/>
              </a:rPr>
              <a:t>Isolated SQLite session per visitor.</a:t>
            </a:r>
          </a:p>
          <a:p>
            <a:pPr algn="ctr">
              <a:spcAft>
                <a:spcPts val="300"/>
              </a:spcAft>
            </a:pPr>
            <a:r>
              <a:rPr sz="1150" b="0" i="0">
                <a:solidFill>
                  <a:srgbClr val="E0F7FE"/>
                </a:solidFill>
                <a:latin typeface="Liberation Sans"/>
              </a:rPr>
              <a:t>Zero paid API calls on public URL.</a:t>
            </a:r>
          </a:p>
          <a:p>
            <a:pPr algn="ctr">
              <a:spcAft>
                <a:spcPts val="300"/>
              </a:spcAft>
            </a:pPr>
            <a:r>
              <a:rPr sz="1150" b="0" i="0">
                <a:solidFill>
                  <a:srgbClr val="E0F7FE"/>
                </a:solidFill>
                <a:latin typeface="Liberation Sans"/>
              </a:rPr>
              <a:t>Switch Merchant vs Technical 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27939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18795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3 / 5 : ARCHITECTURE (BUILT VS PLANNED)</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Deterministic Core &amp; Keyless Caps Built; Rail Hooks Scoped</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3 / 5 (Slide 3 / 16)</a:t>
            </a:r>
          </a:p>
        </p:txBody>
      </p:sp>
      <p:sp>
        <p:nvSpPr>
          <p:cNvPr id="10" name="Rounded Rectangle 9"/>
          <p:cNvSpPr/>
          <p:nvPr/>
        </p:nvSpPr>
        <p:spPr>
          <a:xfrm>
            <a:off x="502920" y="1188720"/>
            <a:ext cx="11183112" cy="42062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35024"/>
            <a:ext cx="10744200" cy="3931920"/>
          </a:xfrm>
          <a:prstGeom prst="rect">
            <a:avLst/>
          </a:prstGeom>
          <a:noFill/>
        </p:spPr>
        <p:txBody>
          <a:bodyPr wrap="square" lIns="54864" rIns="54864" tIns="36576" bIns="36576">
            <a:spAutoFit/>
          </a:bodyPr>
          <a:lstStyle/>
          <a:p>
            <a:pPr marL="210000" indent="-210000">
              <a:spcAft>
                <a:spcPts val="1300"/>
              </a:spcAft>
              <a:buChar char="•"/>
            </a:pPr>
            <a:r>
              <a:rPr sz="1820" b="1">
                <a:solidFill>
                  <a:srgbClr val="002970"/>
                </a:solidFill>
                <a:latin typeface="Liberation Sans"/>
              </a:rPr>
              <a:t>[BUILT IN STAGE 1] ITT Stats &amp; Atomic Cap Engine: </a:t>
            </a:r>
            <a:r>
              <a:rPr sz="1820" b="0">
                <a:solidFill>
                  <a:srgbClr val="0F172A"/>
                </a:solidFill>
                <a:latin typeface="Liberation Sans"/>
              </a:rPr>
              <a:t>Fisher exact p, Wilson 95% CIs, allocation-ratio power, atomic BEGIN IMMEDIATE spend stop, 25-thread concurrency test.</a:t>
            </a:r>
          </a:p>
          <a:p>
            <a:pPr marL="210000" indent="-210000">
              <a:spcAft>
                <a:spcPts val="1300"/>
              </a:spcAft>
              <a:buChar char="•"/>
            </a:pPr>
            <a:r>
              <a:rPr sz="1820" b="1">
                <a:solidFill>
                  <a:srgbClr val="002970"/>
                </a:solidFill>
                <a:latin typeface="Liberation Sans"/>
              </a:rPr>
              <a:t>[BUILT IN STAGE 1] Merchant Copy &amp; Isolation: </a:t>
            </a:r>
            <a:r>
              <a:rPr sz="1820" b="0">
                <a:solidFill>
                  <a:srgbClr val="0F172A"/>
                </a:solidFill>
                <a:latin typeface="Liberation Sans"/>
              </a:rPr>
              <a:t>Merchant vs Technical View, banned-jargon lint, Evidence Grades A/B/C, per-visitor SQLite sandboxes, ADMIN_TOKEN gate.</a:t>
            </a:r>
          </a:p>
          <a:p>
            <a:pPr marL="210000" indent="-210000">
              <a:spcAft>
                <a:spcPts val="1300"/>
              </a:spcAft>
              <a:buChar char="•"/>
            </a:pPr>
            <a:r>
              <a:rPr sz="1820" b="1">
                <a:solidFill>
                  <a:srgbClr val="002970"/>
                </a:solidFill>
                <a:latin typeface="Liberation Sans"/>
              </a:rPr>
              <a:t>[BUILT KEYLESS / PENDING LIVE] Sarvam &amp; Caps: </a:t>
            </a:r>
            <a:r>
              <a:rPr sz="1820" b="0">
                <a:solidFill>
                  <a:srgbClr val="0F172A"/>
                </a:solidFill>
                <a:latin typeface="Liberation Sans"/>
              </a:rPr>
              <a:t>Keyless Bulbul TTS + Saaras STT adapter, mock-server selftest, SHA-256 audio cache, 15%/15% (30% max) fail-closed credit ledger.</a:t>
            </a:r>
          </a:p>
          <a:p>
            <a:pPr marL="210000" indent="-210000">
              <a:spcAft>
                <a:spcPts val="1300"/>
              </a:spcAft>
              <a:buChar char="•"/>
            </a:pPr>
            <a:r>
              <a:rPr sz="1820" b="1">
                <a:solidFill>
                  <a:srgbClr val="002970"/>
                </a:solidFill>
                <a:latin typeface="Liberation Sans"/>
              </a:rPr>
              <a:t>[PRODUCTION PLAN] Paytm Ecosystem Hooks: </a:t>
            </a:r>
            <a:r>
              <a:rPr sz="1820" b="0">
                <a:solidFill>
                  <a:srgbClr val="0F172A"/>
                </a:solidFill>
                <a:latin typeface="Liberation Sans"/>
              </a:rPr>
              <a:t>Paytm QR dynamic coupon settlement, 4G Soundbox push audio, WhatsApp Cloud supplier POs, Postgres/Redis.</a:t>
            </a:r>
          </a:p>
        </p:txBody>
      </p:sp>
      <p:sp>
        <p:nvSpPr>
          <p:cNvPr id="12" name="Rounded Rectangle 11"/>
          <p:cNvSpPr/>
          <p:nvPr/>
        </p:nvSpPr>
        <p:spPr>
          <a:xfrm>
            <a:off x="502920" y="5522976"/>
            <a:ext cx="3602736" cy="74980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059669"/>
                </a:solidFill>
                <a:latin typeface="Liberation Sans"/>
              </a:rPr>
              <a:t>make preflight : PASS</a:t>
            </a:r>
          </a:p>
        </p:txBody>
      </p:sp>
      <p:sp>
        <p:nvSpPr>
          <p:cNvPr id="14" name="TextBox 13"/>
          <p:cNvSpPr txBox="1"/>
          <p:nvPr/>
        </p:nvSpPr>
        <p:spPr>
          <a:xfrm>
            <a:off x="630936"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Zero leaked keys, render.yaml untouched, zero formatting errors, 21/21 QA battery green.</a:t>
            </a:r>
          </a:p>
        </p:txBody>
      </p:sp>
      <p:sp>
        <p:nvSpPr>
          <p:cNvPr id="15" name="Rounded Rectangle 14"/>
          <p:cNvSpPr/>
          <p:nvPr/>
        </p:nvSpPr>
        <p:spPr>
          <a:xfrm>
            <a:off x="4288536" y="5522976"/>
            <a:ext cx="3602736" cy="749808"/>
          </a:xfrm>
          <a:prstGeom prst="roundRect">
            <a:avLst>
              <a:gd name="adj" fmla="val 3000"/>
            </a:avLst>
          </a:prstGeom>
          <a:solidFill>
            <a:srgbClr val="E0F7FE"/>
          </a:solidFill>
          <a:ln w="1397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6551"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002970"/>
                </a:solidFill>
                <a:latin typeface="Liberation Sans"/>
              </a:rPr>
              <a:t>25-Thread Lock : PASS</a:t>
            </a:r>
          </a:p>
        </p:txBody>
      </p:sp>
      <p:sp>
        <p:nvSpPr>
          <p:cNvPr id="17" name="TextBox 16"/>
          <p:cNvSpPr txBox="1"/>
          <p:nvPr/>
        </p:nvSpPr>
        <p:spPr>
          <a:xfrm>
            <a:off x="4416551"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Simultaneous QR redemptions stop at exact Rs 300 cap; ITT lift invariant when cap binds.</a:t>
            </a:r>
          </a:p>
        </p:txBody>
      </p:sp>
      <p:sp>
        <p:nvSpPr>
          <p:cNvPr id="18" name="Rounded Rectangle 17"/>
          <p:cNvSpPr/>
          <p:nvPr/>
        </p:nvSpPr>
        <p:spPr>
          <a:xfrm>
            <a:off x="8074152" y="5522976"/>
            <a:ext cx="3602736" cy="74980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5577840"/>
            <a:ext cx="3346704" cy="219456"/>
          </a:xfrm>
          <a:prstGeom prst="rect">
            <a:avLst/>
          </a:prstGeom>
          <a:noFill/>
        </p:spPr>
        <p:txBody>
          <a:bodyPr wrap="square" lIns="36576" rIns="36576" tIns="18288" bIns="18288">
            <a:spAutoFit/>
          </a:bodyPr>
          <a:lstStyle/>
          <a:p>
            <a:pPr algn="l">
              <a:spcAft>
                <a:spcPts val="300"/>
              </a:spcAft>
            </a:pPr>
            <a:r>
              <a:rPr sz="1100" b="1" i="0">
                <a:solidFill>
                  <a:srgbClr val="B45309"/>
                </a:solidFill>
                <a:latin typeface="Liberation Sans"/>
              </a:rPr>
              <a:t>Cloud Sandbox : PASS</a:t>
            </a:r>
          </a:p>
        </p:txBody>
      </p:sp>
      <p:sp>
        <p:nvSpPr>
          <p:cNvPr id="20" name="TextBox 19"/>
          <p:cNvSpPr txBox="1"/>
          <p:nvPr/>
        </p:nvSpPr>
        <p:spPr>
          <a:xfrm>
            <a:off x="8202168" y="5806440"/>
            <a:ext cx="3346704" cy="402336"/>
          </a:xfrm>
          <a:prstGeom prst="rect">
            <a:avLst/>
          </a:prstGeom>
          <a:noFill/>
        </p:spPr>
        <p:txBody>
          <a:bodyPr wrap="square" lIns="36576" rIns="36576" tIns="18288" bIns="18288">
            <a:spAutoFit/>
          </a:bodyPr>
          <a:lstStyle/>
          <a:p>
            <a:pPr algn="l">
              <a:spcAft>
                <a:spcPts val="300"/>
              </a:spcAft>
            </a:pPr>
            <a:r>
              <a:rPr sz="980" b="0" i="0">
                <a:solidFill>
                  <a:srgbClr val="0F172A"/>
                </a:solidFill>
                <a:latin typeface="Liberation Sans"/>
              </a:rPr>
              <a:t>PUBLIC_DEPLOY=true blocks paid APIs; concurrent visitors get isolated SQLite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453128"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361688"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4 / 5 : SIMULATED ITT PROOF &amp; PROFIT MATH</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Intention-to-Treat Holdout, Power &amp; Merchant Net Profit</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4 / 5 (Slide 4 / 16)</a:t>
            </a:r>
          </a:p>
        </p:txBody>
      </p:sp>
      <p:sp>
        <p:nvSpPr>
          <p:cNvPr id="10" name="Rounded Rectangle 9"/>
          <p:cNvSpPr/>
          <p:nvPr/>
        </p:nvSpPr>
        <p:spPr>
          <a:xfrm>
            <a:off x="502920" y="1188720"/>
            <a:ext cx="6629400" cy="4370832"/>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98448"/>
            <a:ext cx="6327648" cy="4187952"/>
          </a:xfrm>
          <a:prstGeom prst="rect">
            <a:avLst/>
          </a:prstGeom>
          <a:noFill/>
        </p:spPr>
        <p:txBody>
          <a:bodyPr wrap="square" lIns="54864" rIns="54864" tIns="36576" bIns="36576">
            <a:spAutoFit/>
          </a:bodyPr>
          <a:lstStyle/>
          <a:p>
            <a:pPr marL="210000" indent="-210000">
              <a:spcAft>
                <a:spcPts val="900"/>
              </a:spcAft>
              <a:buChar char="•"/>
            </a:pPr>
            <a:r>
              <a:rPr sz="1800" b="1">
                <a:solidFill>
                  <a:srgbClr val="002970"/>
                </a:solidFill>
                <a:latin typeface="Liberation Sans"/>
              </a:rPr>
              <a:t>Simulated ITT Return: </a:t>
            </a:r>
            <a:r>
              <a:rPr sz="1800" b="0">
                <a:solidFill>
                  <a:srgbClr val="0F172A"/>
                </a:solidFill>
                <a:latin typeface="Liberation Sans"/>
              </a:rPr>
              <a:t>12/32 nudged (37.5%) vs 1/8 control (12.5%); Fisher p = 0.24; simulated 12 equals the Rs 300 cap (0 refused).</a:t>
            </a:r>
          </a:p>
          <a:p>
            <a:pPr marL="210000" indent="-210000">
              <a:spcAft>
                <a:spcPts val="900"/>
              </a:spcAft>
              <a:buChar char="•"/>
            </a:pPr>
            <a:r>
              <a:rPr sz="1800" b="1">
                <a:solidFill>
                  <a:srgbClr val="002970"/>
                </a:solidFill>
                <a:latin typeface="Liberation Sans"/>
              </a:rPr>
              <a:t>80% Power Target: </a:t>
            </a:r>
            <a:r>
              <a:rPr sz="1800" b="0">
                <a:solidFill>
                  <a:srgbClr val="0F172A"/>
                </a:solidFill>
                <a:latin typeface="Liberation Sans"/>
              </a:rPr>
              <a:t>At 80/20 (40/wave): ~31 control + ~124 nudged (155 total, ~4 waves), or 46/arm at 50/50 split.</a:t>
            </a:r>
          </a:p>
          <a:p>
            <a:pPr marL="210000" indent="-210000">
              <a:spcAft>
                <a:spcPts val="900"/>
              </a:spcAft>
              <a:buChar char="•"/>
            </a:pPr>
            <a:r>
              <a:rPr sz="1800" b="1">
                <a:solidFill>
                  <a:srgbClr val="002970"/>
                </a:solidFill>
                <a:latin typeface="Liberation Sans"/>
              </a:rPr>
              <a:t>Sales vs Subsidy: </a:t>
            </a:r>
            <a:r>
              <a:rPr sz="1800" b="0">
                <a:solidFill>
                  <a:srgbClr val="0F172A"/>
                </a:solidFill>
                <a:latin typeface="Liberation Sans"/>
              </a:rPr>
              <a:t>8 net visits = Rs 1,740 sales (5.8x sales/promo); 4 organic returners absorb Rs 100 cashback.</a:t>
            </a:r>
          </a:p>
          <a:p>
            <a:pPr marL="210000" indent="-210000">
              <a:spcAft>
                <a:spcPts val="900"/>
              </a:spcAft>
              <a:buChar char="•"/>
            </a:pPr>
            <a:r>
              <a:rPr sz="1800" b="1">
                <a:solidFill>
                  <a:srgbClr val="002970"/>
                </a:solidFill>
                <a:latin typeface="Liberation Sans"/>
              </a:rPr>
              <a:t>Merchant Net Profit: </a:t>
            </a:r>
            <a:r>
              <a:rPr sz="1800" b="0">
                <a:solidFill>
                  <a:srgbClr val="0F172A"/>
                </a:solidFill>
                <a:latin typeface="Liberation Sans"/>
              </a:rPr>
              <a:t>At 30% margin: Rs 522 GP (1.74x); +Rs 222 pre-fee (+74%), +Rs 91.50 after Rs 130.50 fee.</a:t>
            </a:r>
          </a:p>
          <a:p>
            <a:pPr marL="210000" indent="-210000">
              <a:spcAft>
                <a:spcPts val="900"/>
              </a:spcAft>
              <a:buChar char="•"/>
            </a:pPr>
            <a:r>
              <a:rPr sz="1800" b="1">
                <a:solidFill>
                  <a:srgbClr val="002970"/>
                </a:solidFill>
                <a:latin typeface="Liberation Sans"/>
              </a:rPr>
              <a:t>5% Fee Base: </a:t>
            </a:r>
            <a:r>
              <a:rPr sz="1800" b="0">
                <a:solidFill>
                  <a:srgbClr val="0F172A"/>
                </a:solidFill>
                <a:latin typeface="Liberation Sans"/>
              </a:rPr>
              <a:t>Rs 130.50 = 5% of all Rs 2,610 redeemed bills (12 bills, including organic returners).</a:t>
            </a:r>
          </a:p>
        </p:txBody>
      </p:sp>
      <p:sp>
        <p:nvSpPr>
          <p:cNvPr id="12" name="Rounded Rectangle 11"/>
          <p:cNvSpPr/>
          <p:nvPr/>
        </p:nvSpPr>
        <p:spPr>
          <a:xfrm>
            <a:off x="502920" y="5669280"/>
            <a:ext cx="6629400" cy="594360"/>
          </a:xfrm>
          <a:prstGeom prst="roundRect">
            <a:avLst>
              <a:gd name="adj" fmla="val 3000"/>
            </a:avLst>
          </a:prstGeom>
          <a:solidFill>
            <a:srgbClr val="E0F7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779008"/>
            <a:ext cx="6327648" cy="384048"/>
          </a:xfrm>
          <a:prstGeom prst="rect">
            <a:avLst/>
          </a:prstGeom>
          <a:noFill/>
        </p:spPr>
        <p:txBody>
          <a:bodyPr wrap="square" lIns="36576" rIns="36576" tIns="18288" bIns="18288">
            <a:spAutoFit/>
          </a:bodyPr>
          <a:lstStyle/>
          <a:p>
            <a:pPr algn="l">
              <a:spcAft>
                <a:spcPts val="300"/>
              </a:spcAft>
            </a:pPr>
            <a:r>
              <a:rPr sz="1250" b="1" i="0">
                <a:solidFill>
                  <a:srgbClr val="002970"/>
                </a:solidFill>
                <a:latin typeface="Liberation Sans"/>
              </a:rPr>
              <a:t>ITT Invariance Verified: Outcomes are drawn before applying the spend stop, so holdout lift stays unchanged if the cap binds.</a:t>
            </a:r>
          </a:p>
        </p:txBody>
      </p:sp>
      <p:sp>
        <p:nvSpPr>
          <p:cNvPr id="14" name="Rounded Rectangle 13"/>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2_honest_holdout.png"/>
          <p:cNvPicPr>
            <a:picLocks noChangeAspect="1"/>
          </p:cNvPicPr>
          <p:nvPr/>
        </p:nvPicPr>
        <p:blipFill>
          <a:blip r:embed="rId2"/>
          <a:stretch>
            <a:fillRect/>
          </a:stretch>
        </p:blipFill>
        <p:spPr>
          <a:xfrm>
            <a:off x="7388352" y="1261872"/>
            <a:ext cx="4224528" cy="2830434"/>
          </a:xfrm>
          <a:prstGeom prst="rect">
            <a:avLst/>
          </a:prstGeom>
        </p:spPr>
      </p:pic>
      <p:sp>
        <p:nvSpPr>
          <p:cNvPr id="16" name="Rounded Rectangle 15"/>
          <p:cNvSpPr/>
          <p:nvPr/>
        </p:nvSpPr>
        <p:spPr>
          <a:xfrm>
            <a:off x="7315200" y="4535424"/>
            <a:ext cx="4370832" cy="1728216"/>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4645152"/>
            <a:ext cx="4078224" cy="1517904"/>
          </a:xfrm>
          <a:prstGeom prst="rect">
            <a:avLst/>
          </a:prstGeom>
          <a:noFill/>
        </p:spPr>
        <p:txBody>
          <a:bodyPr wrap="square" lIns="36576" rIns="36576" tIns="18288" bIns="18288">
            <a:spAutoFit/>
          </a:bodyPr>
          <a:lstStyle/>
          <a:p>
            <a:pPr algn="l">
              <a:spcAft>
                <a:spcPts val="300"/>
              </a:spcAft>
            </a:pPr>
            <a:r>
              <a:rPr sz="1180" b="1" i="0">
                <a:solidFill>
                  <a:srgbClr val="0F172A"/>
                </a:solidFill>
                <a:latin typeface="Liberation Sans"/>
              </a:rPr>
              <a:t>CAP &amp; BREAK-EVEN DISCLOSURE (SIMULATED)</a:t>
            </a:r>
          </a:p>
          <a:p>
            <a:pPr algn="l">
              <a:spcAft>
                <a:spcPts val="300"/>
              </a:spcAft>
            </a:pPr>
            <a:r>
              <a:rPr sz="1180" b="1" i="0">
                <a:solidFill>
                  <a:srgbClr val="0F172A"/>
                </a:solidFill>
                <a:latin typeface="Liberation Sans"/>
              </a:rPr>
              <a:t>Simulated 12 returners = 12 x Rs 25 = Rs 300 hard spend stop (42.2% overrun risk at p=37.5% triggers &gt;10% alert; suggests Rs 400 cap).</a:t>
            </a:r>
          </a:p>
          <a:p>
            <a:pPr algn="l">
              <a:spcAft>
                <a:spcPts val="300"/>
              </a:spcAft>
            </a:pPr>
            <a:r>
              <a:rPr sz="1180" b="1" i="0">
                <a:solidFill>
                  <a:srgbClr val="0F172A"/>
                </a:solidFill>
                <a:latin typeface="Liberation Sans"/>
              </a:rPr>
              <a:t>Break-even shop margin: 17.2% pre-fee | 24.7% post-fee.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931920"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840480"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5 / 5 : BUSINESS MODEL &amp; PILOT PLAN</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Three Revenue Cases (5% of 1.64 Cr Q2 Base = 8.20L Shops)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5 / 5 (Slide 5 / 16)</a:t>
            </a:r>
          </a:p>
        </p:txBody>
      </p:sp>
      <p:sp>
        <p:nvSpPr>
          <p:cNvPr id="10" name="Rounded Rectangle 9"/>
          <p:cNvSpPr/>
          <p:nvPr/>
        </p:nvSpPr>
        <p:spPr>
          <a:xfrm>
            <a:off x="502920" y="1188720"/>
            <a:ext cx="6629400" cy="4370832"/>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98448"/>
            <a:ext cx="6327648" cy="4187952"/>
          </a:xfrm>
          <a:prstGeom prst="rect">
            <a:avLst/>
          </a:prstGeom>
          <a:noFill/>
        </p:spPr>
        <p:txBody>
          <a:bodyPr wrap="square" lIns="54864" rIns="54864" tIns="36576" bIns="36576">
            <a:spAutoFit/>
          </a:bodyPr>
          <a:lstStyle/>
          <a:p>
            <a:pPr marL="210000" indent="-210000">
              <a:spcAft>
                <a:spcPts val="900"/>
              </a:spcAft>
              <a:buChar char="•"/>
            </a:pPr>
            <a:r>
              <a:rPr sz="1800" b="1">
                <a:solidFill>
                  <a:srgbClr val="002970"/>
                </a:solidFill>
                <a:latin typeface="Liberation Sans"/>
              </a:rPr>
              <a:t>Case C (SaaS Only): </a:t>
            </a:r>
            <a:r>
              <a:rPr sz="1800" b="0">
                <a:solidFill>
                  <a:srgbClr val="0F172A"/>
                </a:solidFill>
                <a:latin typeface="Liberation Sans"/>
              </a:rPr>
              <a:t>Rs 79/mo Soundbox add-on x 8.20L shops = Rs 77.7 Cr ARR (zero promo/credit fees).</a:t>
            </a:r>
          </a:p>
          <a:p>
            <a:pPr marL="210000" indent="-210000">
              <a:spcAft>
                <a:spcPts val="900"/>
              </a:spcAft>
              <a:buChar char="•"/>
            </a:pPr>
            <a:r>
              <a:rPr sz="1800" b="1">
                <a:solidFill>
                  <a:srgbClr val="002970"/>
                </a:solidFill>
                <a:latin typeface="Liberation Sans"/>
              </a:rPr>
              <a:t>Case B (Core Excl. Credit): </a:t>
            </a:r>
            <a:r>
              <a:rPr sz="1800" b="0">
                <a:solidFill>
                  <a:srgbClr val="0F172A"/>
                </a:solidFill>
                <a:latin typeface="Liberation Sans"/>
              </a:rPr>
              <a:t>+Rs 102/mo steady promo fee (~0.78 waves/mo, Rs 2,040 redeemed bills) = Rs 178.1 Cr ARR.</a:t>
            </a:r>
          </a:p>
          <a:p>
            <a:pPr marL="210000" indent="-210000">
              <a:spcAft>
                <a:spcPts val="900"/>
              </a:spcAft>
              <a:buChar char="•"/>
            </a:pPr>
            <a:r>
              <a:rPr sz="1800" b="1">
                <a:solidFill>
                  <a:srgbClr val="002970"/>
                </a:solidFill>
                <a:latin typeface="Liberation Sans"/>
              </a:rPr>
              <a:t>Case A (Full Base): </a:t>
            </a:r>
            <a:r>
              <a:rPr sz="1800" b="0">
                <a:solidFill>
                  <a:srgbClr val="0F172A"/>
                </a:solidFill>
                <a:latin typeface="Liberation Sans"/>
              </a:rPr>
              <a:t>+Rs 77/mo credit referral (~7% loan pen. Assumption) = Rs 253.9 Cr ARR.</a:t>
            </a:r>
          </a:p>
          <a:p>
            <a:pPr marL="210000" indent="-210000">
              <a:spcAft>
                <a:spcPts val="900"/>
              </a:spcAft>
              <a:buChar char="•"/>
            </a:pPr>
            <a:r>
              <a:rPr sz="1800" b="1">
                <a:solidFill>
                  <a:srgbClr val="002970"/>
                </a:solidFill>
                <a:latin typeface="Liberation Sans"/>
              </a:rPr>
              <a:t>Unit COGS &amp; Margin: </a:t>
            </a:r>
            <a:r>
              <a:rPr sz="1800" b="0">
                <a:solidFill>
                  <a:srgbClr val="0F172A"/>
                </a:solidFill>
                <a:latin typeface="Liberation Sans"/>
              </a:rPr>
              <a:t>Rs 48/mo cached (Rs 5 AI + Rs 43 msg; 81.4% margin) vs Rs 71.80 uncached TTS (72.2%).</a:t>
            </a:r>
          </a:p>
          <a:p>
            <a:pPr marL="210000" indent="-210000">
              <a:spcAft>
                <a:spcPts val="900"/>
              </a:spcAft>
              <a:buChar char="•"/>
            </a:pPr>
            <a:r>
              <a:rPr sz="1800" b="1">
                <a:solidFill>
                  <a:srgbClr val="002970"/>
                </a:solidFill>
                <a:latin typeface="Liberation Sans"/>
              </a:rPr>
              <a:t>Powered 4-Week Pilot: </a:t>
            </a:r>
            <a:r>
              <a:rPr sz="1800" b="0">
                <a:solidFill>
                  <a:srgbClr val="0F172A"/>
                </a:solidFill>
                <a:latin typeface="Liberation Sans"/>
              </a:rPr>
              <a:t>50 Bengaluru shops; 4 waves/shop (~160 &gt;= 155 needed at 80/20) + native KN/HI teach-back.</a:t>
            </a:r>
          </a:p>
        </p:txBody>
      </p:sp>
      <p:sp>
        <p:nvSpPr>
          <p:cNvPr id="12" name="Rounded Rectangle 11"/>
          <p:cNvSpPr/>
          <p:nvPr/>
        </p:nvSpPr>
        <p:spPr>
          <a:xfrm>
            <a:off x="502920" y="5669280"/>
            <a:ext cx="6629400" cy="594360"/>
          </a:xfrm>
          <a:prstGeom prst="roundRect">
            <a:avLst>
              <a:gd name="adj" fmla="val 3000"/>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779008"/>
            <a:ext cx="6327648" cy="384048"/>
          </a:xfrm>
          <a:prstGeom prst="rect">
            <a:avLst/>
          </a:prstGeom>
          <a:noFill/>
        </p:spPr>
        <p:txBody>
          <a:bodyPr wrap="square" lIns="36576" rIns="36576" tIns="18288" bIns="18288">
            <a:spAutoFit/>
          </a:bodyPr>
          <a:lstStyle/>
          <a:p>
            <a:pPr algn="l">
              <a:spcAft>
                <a:spcPts val="300"/>
              </a:spcAft>
            </a:pPr>
            <a:r>
              <a:rPr sz="1200" b="1" i="0">
                <a:solidFill>
                  <a:srgbClr val="0F172A"/>
                </a:solidFill>
                <a:latin typeface="Liberation Sans"/>
              </a:rPr>
              <a:t>Fee Reconciliation: Single backlog wave = Rs 130.50 (5% of Rs 2,610); steady state = Rs 102/mo (~0.78 waves/mo as 14d pool refills).</a:t>
            </a:r>
          </a:p>
        </p:txBody>
      </p:sp>
      <p:sp>
        <p:nvSpPr>
          <p:cNvPr id="14" name="Rounded Rectangle 13"/>
          <p:cNvSpPr/>
          <p:nvPr/>
        </p:nvSpPr>
        <p:spPr>
          <a:xfrm>
            <a:off x="7315200" y="1188720"/>
            <a:ext cx="4370832" cy="321868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3_three_revenue_cases_q2.png"/>
          <p:cNvPicPr>
            <a:picLocks noChangeAspect="1"/>
          </p:cNvPicPr>
          <p:nvPr/>
        </p:nvPicPr>
        <p:blipFill>
          <a:blip r:embed="rId2"/>
          <a:stretch>
            <a:fillRect/>
          </a:stretch>
        </p:blipFill>
        <p:spPr>
          <a:xfrm>
            <a:off x="7388352" y="1261872"/>
            <a:ext cx="4224528" cy="2830434"/>
          </a:xfrm>
          <a:prstGeom prst="rect">
            <a:avLst/>
          </a:prstGeom>
        </p:spPr>
      </p:pic>
      <p:sp>
        <p:nvSpPr>
          <p:cNvPr id="16" name="Rounded Rectangle 15"/>
          <p:cNvSpPr/>
          <p:nvPr/>
        </p:nvSpPr>
        <p:spPr>
          <a:xfrm>
            <a:off x="7315200" y="4535424"/>
            <a:ext cx="4370832" cy="1728216"/>
          </a:xfrm>
          <a:prstGeom prst="roundRect">
            <a:avLst>
              <a:gd name="adj" fmla="val 3000"/>
            </a:avLst>
          </a:prstGeom>
          <a:solidFill>
            <a:srgbClr val="001B4D"/>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4645152"/>
            <a:ext cx="4078224" cy="1517904"/>
          </a:xfrm>
          <a:prstGeom prst="rect">
            <a:avLst/>
          </a:prstGeom>
          <a:noFill/>
        </p:spPr>
        <p:txBody>
          <a:bodyPr wrap="square" lIns="36576" rIns="36576" tIns="18288" bIns="18288">
            <a:spAutoFit/>
          </a:bodyPr>
          <a:lstStyle/>
          <a:p>
            <a:pPr algn="l">
              <a:spcAft>
                <a:spcPts val="300"/>
              </a:spcAft>
            </a:pPr>
            <a:r>
              <a:rPr sz="1180" b="1" i="0">
                <a:solidFill>
                  <a:srgbClr val="FFFFFF"/>
                </a:solidFill>
                <a:latin typeface="Liberation Sans"/>
              </a:rPr>
              <a:t>Q2 FY27 BASE &amp; TTS CACHE NOTE</a:t>
            </a:r>
          </a:p>
          <a:p>
            <a:pPr algn="l">
              <a:spcAft>
                <a:spcPts val="300"/>
              </a:spcAft>
            </a:pPr>
            <a:r>
              <a:rPr sz="1180" b="1" i="0">
                <a:solidFill>
                  <a:srgbClr val="FFFFFF"/>
                </a:solidFill>
                <a:latin typeface="Liberation Sans"/>
              </a:rPr>
              <a:t>5% of 1.64 Cr subscription merchants (Reported: Paytm Q2 FY27, 26 Oct 2026) = 8.20L shops.</a:t>
            </a:r>
          </a:p>
          <a:p>
            <a:pPr algn="l">
              <a:spcAft>
                <a:spcPts val="300"/>
              </a:spcAft>
            </a:pPr>
            <a:r>
              <a:rPr sz="1180" b="1" i="0">
                <a:solidFill>
                  <a:srgbClr val="FFFFFF"/>
                </a:solidFill>
                <a:latin typeface="Liberation Sans"/>
              </a:rPr>
              <a:t>Bulbul v3 = Rs 27/mo uncached (9k chars); ~88% phrase cache hit yields Rs 3.20/mo TTS.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7406640" cy="384048"/>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75488"/>
            <a:ext cx="7132320" cy="256032"/>
          </a:xfrm>
          <a:prstGeom prst="rect">
            <a:avLst/>
          </a:prstGeom>
          <a:noFill/>
        </p:spPr>
        <p:txBody>
          <a:bodyPr wrap="square" lIns="36576" rIns="36576" tIns="18288" bIns="18288">
            <a:spAutoFit/>
          </a:bodyPr>
          <a:lstStyle/>
          <a:p>
            <a:pPr algn="l">
              <a:spcAft>
                <a:spcPts val="300"/>
              </a:spcAft>
            </a:pPr>
            <a:r>
              <a:rPr sz="1000" b="1" i="0">
                <a:solidFill>
                  <a:srgbClr val="00BAF2"/>
                </a:solidFill>
                <a:latin typeface="Liberation Sans"/>
              </a:rPr>
              <a:t>APPENDIX A1 | TRACK 1: MERCHANT GROWTH AI (UPDATED TO PAYTM Q2 FY27)</a:t>
            </a:r>
          </a:p>
        </p:txBody>
      </p:sp>
      <p:sp>
        <p:nvSpPr>
          <p:cNvPr id="5" name="TextBox 4"/>
          <p:cNvSpPr txBox="1"/>
          <p:nvPr/>
        </p:nvSpPr>
        <p:spPr>
          <a:xfrm>
            <a:off x="594360" y="1143000"/>
            <a:ext cx="7498079" cy="731520"/>
          </a:xfrm>
          <a:prstGeom prst="rect">
            <a:avLst/>
          </a:prstGeom>
          <a:noFill/>
        </p:spPr>
        <p:txBody>
          <a:bodyPr wrap="square" lIns="36576" rIns="36576" tIns="18288" bIns="18288">
            <a:spAutoFit/>
          </a:bodyPr>
          <a:lstStyle/>
          <a:p>
            <a:pPr algn="l">
              <a:spcAft>
                <a:spcPts val="300"/>
              </a:spcAft>
            </a:pPr>
            <a:r>
              <a:rPr sz="4000" b="1" i="0">
                <a:solidFill>
                  <a:srgbClr val="FFFFFF"/>
                </a:solidFill>
                <a:latin typeface="Liberation Sans"/>
              </a:rPr>
              <a:t>PaytmAI VyaparVoice</a:t>
            </a:r>
          </a:p>
        </p:txBody>
      </p:sp>
      <p:sp>
        <p:nvSpPr>
          <p:cNvPr id="6" name="TextBox 5"/>
          <p:cNvSpPr txBox="1"/>
          <p:nvPr/>
        </p:nvSpPr>
        <p:spPr>
          <a:xfrm>
            <a:off x="594360" y="1920240"/>
            <a:ext cx="7498079" cy="640080"/>
          </a:xfrm>
          <a:prstGeom prst="rect">
            <a:avLst/>
          </a:prstGeom>
          <a:noFill/>
        </p:spPr>
        <p:txBody>
          <a:bodyPr wrap="square" lIns="36576" rIns="36576" tIns="18288" bIns="18288">
            <a:spAutoFit/>
          </a:bodyPr>
          <a:lstStyle/>
          <a:p>
            <a:pPr algn="l">
              <a:spcAft>
                <a:spcPts val="300"/>
              </a:spcAft>
            </a:pPr>
            <a:r>
              <a:rPr sz="1750" b="1" i="0">
                <a:solidFill>
                  <a:srgbClr val="00BAF2"/>
                </a:solidFill>
                <a:latin typeface="Liberation Sans"/>
              </a:rPr>
              <a:t>Closing-Time Voice Growth, Operations &amp; Retention Copilot</a:t>
            </a:r>
          </a:p>
        </p:txBody>
      </p:sp>
      <p:sp>
        <p:nvSpPr>
          <p:cNvPr id="7" name="TextBox 6"/>
          <p:cNvSpPr txBox="1"/>
          <p:nvPr/>
        </p:nvSpPr>
        <p:spPr>
          <a:xfrm>
            <a:off x="594360" y="2670048"/>
            <a:ext cx="7498079" cy="868680"/>
          </a:xfrm>
          <a:prstGeom prst="rect">
            <a:avLst/>
          </a:prstGeom>
          <a:noFill/>
        </p:spPr>
        <p:txBody>
          <a:bodyPr wrap="square" lIns="36576" rIns="36576" tIns="18288" bIns="18288">
            <a:spAutoFit/>
          </a:bodyPr>
          <a:lstStyle/>
          <a:p>
            <a:pPr algn="l">
              <a:spcAft>
                <a:spcPts val="300"/>
              </a:spcAft>
            </a:pPr>
            <a:r>
              <a:rPr sz="1300" b="0" i="0">
                <a:solidFill>
                  <a:srgbClr val="CBD5E1"/>
                </a:solidFill>
                <a:latin typeface="Liberation Sans"/>
              </a:rPr>
              <a:t>Built for Paytm's 1.64 Cr subscription-paying merchant deployments (Reported: Paytm Q2 FY27 release, 26 Oct 2026). Combines deterministic SQL segmentation, ITT spend-cap accounting, and plain-language voice briefings.</a:t>
            </a:r>
          </a:p>
        </p:txBody>
      </p:sp>
      <p:sp>
        <p:nvSpPr>
          <p:cNvPr id="8" name="Rounded Rectangle 7"/>
          <p:cNvSpPr/>
          <p:nvPr/>
        </p:nvSpPr>
        <p:spPr>
          <a:xfrm>
            <a:off x="5943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01 : Plain Voice + Button</a:t>
            </a:r>
          </a:p>
        </p:txBody>
      </p:sp>
      <p:sp>
        <p:nvSpPr>
          <p:cNvPr id="10" name="TextBox 9"/>
          <p:cNvSpPr txBox="1"/>
          <p:nvPr/>
        </p:nvSpPr>
        <p:spPr>
          <a:xfrm>
            <a:off x="704088" y="4187952"/>
            <a:ext cx="2157984" cy="566928"/>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EN reviewed + KN/HI draft templates; banned-jargon lint</a:t>
            </a:r>
          </a:p>
        </p:txBody>
      </p:sp>
      <p:sp>
        <p:nvSpPr>
          <p:cNvPr id="11" name="Rounded Rectangle 10"/>
          <p:cNvSpPr/>
          <p:nvPr/>
        </p:nvSpPr>
        <p:spPr>
          <a:xfrm>
            <a:off x="31089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186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02 : ITT Cap-vs-Holdout</a:t>
            </a:r>
          </a:p>
        </p:txBody>
      </p:sp>
      <p:sp>
        <p:nvSpPr>
          <p:cNvPr id="13" name="TextBox 12"/>
          <p:cNvSpPr txBox="1"/>
          <p:nvPr/>
        </p:nvSpPr>
        <p:spPr>
          <a:xfrm>
            <a:off x="3218688" y="4187952"/>
            <a:ext cx="2157984" cy="566928"/>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All 32 nudged get passes; Rs 300 hard spend stop &amp; &gt;10% risk alert</a:t>
            </a:r>
          </a:p>
        </p:txBody>
      </p:sp>
      <p:sp>
        <p:nvSpPr>
          <p:cNvPr id="14" name="Rounded Rectangle 13"/>
          <p:cNvSpPr/>
          <p:nvPr/>
        </p:nvSpPr>
        <p:spPr>
          <a:xfrm>
            <a:off x="5623560" y="3794760"/>
            <a:ext cx="2377440" cy="1078992"/>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33288" y="3886200"/>
            <a:ext cx="215798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03 : Profit &amp; Power Audit</a:t>
            </a:r>
          </a:p>
        </p:txBody>
      </p:sp>
      <p:sp>
        <p:nvSpPr>
          <p:cNvPr id="16" name="TextBox 15"/>
          <p:cNvSpPr txBox="1"/>
          <p:nvPr/>
        </p:nvSpPr>
        <p:spPr>
          <a:xfrm>
            <a:off x="5733288" y="4187952"/>
            <a:ext cx="2157984" cy="566928"/>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+Rs 222 pre-fee / +Rs 91.50 post-fee; 31C+124T (80/20) for 80% power</a:t>
            </a:r>
          </a:p>
        </p:txBody>
      </p:sp>
      <p:sp>
        <p:nvSpPr>
          <p:cNvPr id="17" name="Rounded Rectangle 16"/>
          <p:cNvSpPr/>
          <p:nvPr/>
        </p:nvSpPr>
        <p:spPr>
          <a:xfrm>
            <a:off x="594360" y="5166360"/>
            <a:ext cx="10972800" cy="1005840"/>
          </a:xfrm>
          <a:prstGeom prst="roundRect">
            <a:avLst>
              <a:gd name="adj" fmla="val 3000"/>
            </a:avLst>
          </a:prstGeom>
          <a:solidFill>
            <a:srgbClr val="001235"/>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303520"/>
            <a:ext cx="10515600" cy="320040"/>
          </a:xfrm>
          <a:prstGeom prst="rect">
            <a:avLst/>
          </a:prstGeom>
          <a:noFill/>
        </p:spPr>
        <p:txBody>
          <a:bodyPr wrap="square" lIns="36576" rIns="36576" tIns="18288" bIns="18288">
            <a:spAutoFit/>
          </a:bodyPr>
          <a:lstStyle/>
          <a:p>
            <a:pPr algn="l">
              <a:spcAft>
                <a:spcPts val="300"/>
              </a:spcAft>
            </a:pPr>
            <a:r>
              <a:rPr sz="1350" b="1" i="0">
                <a:solidFill>
                  <a:srgbClr val="FFFFFF"/>
                </a:solidFill>
                <a:latin typeface="Liberation Sans"/>
              </a:rPr>
              <a:t>TEAM: SemiTechnical | Member: Kevin Joseph | Live: paytmai-vyaparvoice.onrender.com</a:t>
            </a:r>
          </a:p>
        </p:txBody>
      </p:sp>
      <p:sp>
        <p:nvSpPr>
          <p:cNvPr id="19" name="TextBox 18"/>
          <p:cNvSpPr txBox="1"/>
          <p:nvPr/>
        </p:nvSpPr>
        <p:spPr>
          <a:xfrm>
            <a:off x="777240" y="5687568"/>
            <a:ext cx="10515600" cy="320040"/>
          </a:xfrm>
          <a:prstGeom prst="rect">
            <a:avLst/>
          </a:prstGeom>
          <a:noFill/>
        </p:spPr>
        <p:txBody>
          <a:bodyPr wrap="square" lIns="36576" rIns="36576" tIns="18288" bIns="18288">
            <a:spAutoFit/>
          </a:bodyPr>
          <a:lstStyle/>
          <a:p>
            <a:pPr algn="l">
              <a:spcAft>
                <a:spcPts val="300"/>
              </a:spcAft>
            </a:pPr>
            <a:r>
              <a:rPr sz="1150" b="0" i="0">
                <a:solidFill>
                  <a:srgbClr val="00BAF2"/>
                </a:solidFill>
                <a:latin typeface="Liberation Sans"/>
              </a:rPr>
              <a:t>Deck v2 Status: Stage 1 verified (stage1-ok); all Q2 FY27, ITT cap, power, and fee reconciliations applied.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A2 : PROBLEM &amp; Q2 FY27 SOURCES</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Problem Details, Primary Paytm Q2 FY27 Sources &amp; Synthetic Persona</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A2 (Slide 7 / 16)</a:t>
            </a:r>
          </a:p>
        </p:txBody>
      </p:sp>
      <p:sp>
        <p:nvSpPr>
          <p:cNvPr id="10" name="Rounded Rectangle 9"/>
          <p:cNvSpPr/>
          <p:nvPr/>
        </p:nvSpPr>
        <p:spPr>
          <a:xfrm>
            <a:off x="502920" y="1280160"/>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1. Silent Repeat Churn (25% to 35% Yearly - ASSUMPTION)</a:t>
            </a:r>
          </a:p>
        </p:txBody>
      </p:sp>
      <p:sp>
        <p:nvSpPr>
          <p:cNvPr id="12" name="TextBox 11"/>
          <p:cNvSpPr txBox="1"/>
          <p:nvPr/>
        </p:nvSpPr>
        <p:spPr>
          <a:xfrm>
            <a:off x="685800" y="1755648"/>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Merchants hear isolated payment alerts without customer-level retention tracking, losing repeat buyers before cashflow drops are noticed.</a:t>
            </a:r>
          </a:p>
        </p:txBody>
      </p:sp>
      <p:sp>
        <p:nvSpPr>
          <p:cNvPr id="13" name="Rounded Rectangle 12"/>
          <p:cNvSpPr/>
          <p:nvPr/>
        </p:nvSpPr>
        <p:spPr>
          <a:xfrm>
            <a:off x="502920" y="2907791"/>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35808"/>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2. Dashboard Friction (&lt;8% WAU - ASSUMPTION)</a:t>
            </a:r>
          </a:p>
        </p:txBody>
      </p:sp>
      <p:sp>
        <p:nvSpPr>
          <p:cNvPr id="15" name="TextBox 14"/>
          <p:cNvSpPr txBox="1"/>
          <p:nvPr/>
        </p:nvSpPr>
        <p:spPr>
          <a:xfrm>
            <a:off x="685800" y="3383279"/>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Counter-operated kirana, darshini, and pharmacy shops lack time to write prompts, export CSVs, or configure CRM rules.</a:t>
            </a:r>
          </a:p>
        </p:txBody>
      </p:sp>
      <p:sp>
        <p:nvSpPr>
          <p:cNvPr id="16" name="Rounded Rectangle 15"/>
          <p:cNvSpPr/>
          <p:nvPr/>
        </p:nvSpPr>
        <p:spPr>
          <a:xfrm>
            <a:off x="502920" y="4535424"/>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663440"/>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3. Slow Hours &amp; Rush Prep (SYNTHETIC STORE)</a:t>
            </a:r>
          </a:p>
        </p:txBody>
      </p:sp>
      <p:sp>
        <p:nvSpPr>
          <p:cNvPr id="18" name="TextBox 17"/>
          <p:cNvSpPr txBox="1"/>
          <p:nvPr/>
        </p:nvSpPr>
        <p:spPr>
          <a:xfrm>
            <a:off x="685800" y="5010912"/>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In our 60-day synthetic Indiranagar ledger, 3 to 5 PM scans fall 70% below peak while weekend morning rushes risk staple stockouts.</a:t>
            </a:r>
          </a:p>
        </p:txBody>
      </p:sp>
      <p:sp>
        <p:nvSpPr>
          <p:cNvPr id="19" name="Rounded Rectangle 18"/>
          <p:cNvSpPr/>
          <p:nvPr/>
        </p:nvSpPr>
        <p:spPr>
          <a:xfrm>
            <a:off x="6583680" y="1280160"/>
            <a:ext cx="5102352" cy="31546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1_hourly_synthetic.png"/>
          <p:cNvPicPr>
            <a:picLocks noChangeAspect="1"/>
          </p:cNvPicPr>
          <p:nvPr/>
        </p:nvPicPr>
        <p:blipFill>
          <a:blip r:embed="rId2"/>
          <a:stretch>
            <a:fillRect/>
          </a:stretch>
        </p:blipFill>
        <p:spPr>
          <a:xfrm>
            <a:off x="6894576" y="1335024"/>
            <a:ext cx="4480560" cy="3001975"/>
          </a:xfrm>
          <a:prstGeom prst="rect">
            <a:avLst/>
          </a:prstGeom>
        </p:spPr>
      </p:pic>
      <p:sp>
        <p:nvSpPr>
          <p:cNvPr id="21" name="Rounded Rectangle 20"/>
          <p:cNvSpPr/>
          <p:nvPr/>
        </p:nvSpPr>
        <p:spPr>
          <a:xfrm>
            <a:off x="6583680" y="4553712"/>
            <a:ext cx="5102352" cy="1755648"/>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1696" y="4626864"/>
            <a:ext cx="4846320" cy="1627632"/>
          </a:xfrm>
          <a:prstGeom prst="rect">
            <a:avLst/>
          </a:prstGeom>
          <a:noFill/>
        </p:spPr>
        <p:txBody>
          <a:bodyPr wrap="square" lIns="54864" rIns="54864" tIns="36576" bIns="36576">
            <a:spAutoFit/>
          </a:bodyPr>
          <a:lstStyle/>
          <a:p>
            <a:pPr marL="210000" indent="-210000">
              <a:spcAft>
                <a:spcPts val="600"/>
              </a:spcAft>
              <a:buChar char="•"/>
            </a:pPr>
            <a:r>
              <a:rPr sz="1050" b="1">
                <a:solidFill>
                  <a:srgbClr val="00BAF2"/>
                </a:solidFill>
                <a:latin typeface="Liberation Sans"/>
              </a:rPr>
              <a:t>Reported (Paytm Q2 FY27, 26 Oct 2026): </a:t>
            </a:r>
            <a:r>
              <a:rPr sz="1050" b="0">
                <a:solidFill>
                  <a:srgbClr val="FFFFFF"/>
                </a:solidFill>
                <a:latin typeface="Liberation Sans"/>
              </a:rPr>
              <a:t>1.64 Cr subscription merchants, Rs 7.1L Cr GMV, Rs 2,648 Cr rev, 8.8L FS customers, &gt;50% repeat merchant loans.</a:t>
            </a:r>
          </a:p>
          <a:p>
            <a:pPr marL="210000" indent="-210000">
              <a:spcAft>
                <a:spcPts val="600"/>
              </a:spcAft>
              <a:buChar char="•"/>
            </a:pPr>
            <a:r>
              <a:rPr sz="1050" b="1">
                <a:solidFill>
                  <a:srgbClr val="00BAF2"/>
                </a:solidFill>
                <a:latin typeface="Liberation Sans"/>
              </a:rPr>
              <a:t>Assumptions vs Synthetic: </a:t>
            </a:r>
            <a:r>
              <a:rPr sz="1050" b="0">
                <a:solidFill>
                  <a:srgbClr val="FFFFFF"/>
                </a:solidFill>
                <a:latin typeface="Liberation Sans"/>
              </a:rPr>
              <a:t>~7% merchant loan pen. &amp; Rs 90-100/mo Soundbox fee (Assumptions); Ramesh Rao store is synthetic (917 scans/30d).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06324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297180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A3 : 3-PILLAR MAPPING</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Track 1 Coverage: Growth, Operations, and Customer Recovery</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A3 (Slide 8 / 16)</a:t>
            </a:r>
          </a:p>
        </p:txBody>
      </p:sp>
      <p:sp>
        <p:nvSpPr>
          <p:cNvPr id="10" name="Rounded Rectangle 9"/>
          <p:cNvSpPr/>
          <p:nvPr/>
        </p:nvSpPr>
        <p:spPr>
          <a:xfrm>
            <a:off x="502920"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1 : GROW BUSINESS</a:t>
            </a:r>
          </a:p>
        </p:txBody>
      </p:sp>
      <p:sp>
        <p:nvSpPr>
          <p:cNvPr id="12" name="TextBox 11"/>
          <p:cNvSpPr txBox="1"/>
          <p:nvPr/>
        </p:nvSpPr>
        <p:spPr>
          <a:xfrm>
            <a:off x="667512"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Retention &amp; Slow-Hour Copilot</a:t>
            </a:r>
          </a:p>
        </p:txBody>
      </p:sp>
      <p:sp>
        <p:nvSpPr>
          <p:cNvPr id="13" name="TextBox 12"/>
          <p:cNvSpPr txBox="1"/>
          <p:nvPr/>
        </p:nvSpPr>
        <p:spPr>
          <a:xfrm>
            <a:off x="630936"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Churn Detection (Built): </a:t>
            </a:r>
            <a:r>
              <a:rPr sz="1200" b="0">
                <a:solidFill>
                  <a:srgbClr val="0F172A"/>
                </a:solidFill>
                <a:latin typeface="Liberation Sans"/>
              </a:rPr>
              <a:t>SQL flags regulars silent 16+ days (16-38d in synthetic DB).</a:t>
            </a:r>
          </a:p>
          <a:p>
            <a:pPr marL="210000" indent="-210000">
              <a:spcAft>
                <a:spcPts val="1000"/>
              </a:spcAft>
              <a:buChar char="•"/>
            </a:pPr>
            <a:r>
              <a:rPr sz="1200" b="1">
                <a:solidFill>
                  <a:srgbClr val="002970"/>
                </a:solidFill>
                <a:latin typeface="Liberation Sans"/>
              </a:rPr>
              <a:t>Slow-Hour Group (Built): </a:t>
            </a:r>
            <a:r>
              <a:rPr sz="1200" b="0">
                <a:solidFill>
                  <a:srgbClr val="0F172A"/>
                </a:solidFill>
                <a:latin typeface="Liberation Sans"/>
              </a:rPr>
              <a:t>Identifies 3-5 PM snack buyers (55 detected, 34 eligible).</a:t>
            </a:r>
          </a:p>
          <a:p>
            <a:pPr marL="210000" indent="-210000">
              <a:spcAft>
                <a:spcPts val="1000"/>
              </a:spcAft>
              <a:buChar char="•"/>
            </a:pPr>
            <a:r>
              <a:rPr sz="1200" b="1">
                <a:solidFill>
                  <a:srgbClr val="002970"/>
                </a:solidFill>
                <a:latin typeface="Liberation Sans"/>
              </a:rPr>
              <a:t>ITT Spend Stop (Built): </a:t>
            </a:r>
            <a:r>
              <a:rPr sz="1200" b="0">
                <a:solidFill>
                  <a:srgbClr val="0F172A"/>
                </a:solidFill>
                <a:latin typeface="Liberation Sans"/>
              </a:rPr>
              <a:t>Issues passes to all nudged buyers; atomic cap stops spend.</a:t>
            </a:r>
          </a:p>
          <a:p>
            <a:pPr marL="210000" indent="-210000">
              <a:spcAft>
                <a:spcPts val="1000"/>
              </a:spcAft>
              <a:buChar char="•"/>
            </a:pPr>
            <a:r>
              <a:rPr sz="1200" b="1">
                <a:solidFill>
                  <a:srgbClr val="002970"/>
                </a:solidFill>
                <a:latin typeface="Liberation Sans"/>
              </a:rPr>
              <a:t>QR Coupon Hook (Planned): </a:t>
            </a:r>
            <a:r>
              <a:rPr sz="1200" b="0">
                <a:solidFill>
                  <a:srgbClr val="0F172A"/>
                </a:solidFill>
                <a:latin typeface="Liberation Sans"/>
              </a:rPr>
              <a:t>Production hook into Paytm QR redemption rail.</a:t>
            </a:r>
          </a:p>
        </p:txBody>
      </p:sp>
      <p:sp>
        <p:nvSpPr>
          <p:cNvPr id="14" name="Rounded Rectangle 13"/>
          <p:cNvSpPr/>
          <p:nvPr/>
        </p:nvSpPr>
        <p:spPr>
          <a:xfrm>
            <a:off x="4288536"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2 : MANAGE OPERATIONS</a:t>
            </a:r>
          </a:p>
        </p:txBody>
      </p:sp>
      <p:sp>
        <p:nvSpPr>
          <p:cNvPr id="16" name="TextBox 15"/>
          <p:cNvSpPr txBox="1"/>
          <p:nvPr/>
        </p:nvSpPr>
        <p:spPr>
          <a:xfrm>
            <a:off x="4453127"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Rush Prep &amp; Credit Signals</a:t>
            </a:r>
          </a:p>
        </p:txBody>
      </p:sp>
      <p:sp>
        <p:nvSpPr>
          <p:cNvPr id="17" name="TextBox 16"/>
          <p:cNvSpPr txBox="1"/>
          <p:nvPr/>
        </p:nvSpPr>
        <p:spPr>
          <a:xfrm>
            <a:off x="4416551"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Rush Alert (Simulated): </a:t>
            </a:r>
            <a:r>
              <a:rPr sz="1200" b="0">
                <a:solidFill>
                  <a:srgbClr val="0F172A"/>
                </a:solidFill>
                <a:latin typeface="Liberation Sans"/>
              </a:rPr>
              <a:t>Flags weekend morning demand spikes from scan history.</a:t>
            </a:r>
          </a:p>
          <a:p>
            <a:pPr marL="210000" indent="-210000">
              <a:spcAft>
                <a:spcPts val="1000"/>
              </a:spcAft>
              <a:buChar char="•"/>
            </a:pPr>
            <a:r>
              <a:rPr sz="1200" b="1">
                <a:solidFill>
                  <a:srgbClr val="002970"/>
                </a:solidFill>
                <a:latin typeface="Liberation Sans"/>
              </a:rPr>
              <a:t>Supplier PO (Simulated): </a:t>
            </a:r>
            <a:r>
              <a:rPr sz="1200" b="0">
                <a:solidFill>
                  <a:srgbClr val="0F172A"/>
                </a:solidFill>
                <a:latin typeface="Liberation Sans"/>
              </a:rPr>
              <a:t>Dispatches pre-filled WhatsApp restock (+18L milk, +12kg batter).</a:t>
            </a:r>
          </a:p>
          <a:p>
            <a:pPr marL="210000" indent="-210000">
              <a:spcAft>
                <a:spcPts val="1000"/>
              </a:spcAft>
              <a:buChar char="•"/>
            </a:pPr>
            <a:r>
              <a:rPr sz="1200" b="1">
                <a:solidFill>
                  <a:srgbClr val="002970"/>
                </a:solidFill>
                <a:latin typeface="Liberation Sans"/>
              </a:rPr>
              <a:t>Dual Ledgers (Built): </a:t>
            </a:r>
            <a:r>
              <a:rPr sz="1200" b="0">
                <a:solidFill>
                  <a:srgbClr val="0F172A"/>
                </a:solidFill>
                <a:latin typeface="Liberation Sans"/>
              </a:rPr>
              <a:t>Separates merchant cashback stop from 30% Sarvam credit cap.</a:t>
            </a:r>
          </a:p>
          <a:p>
            <a:pPr marL="210000" indent="-210000">
              <a:spcAft>
                <a:spcPts val="1000"/>
              </a:spcAft>
              <a:buChar char="•"/>
            </a:pPr>
            <a:r>
              <a:rPr sz="1200" b="1">
                <a:solidFill>
                  <a:srgbClr val="002970"/>
                </a:solidFill>
                <a:latin typeface="Liberation Sans"/>
              </a:rPr>
              <a:t>Credit Signal (Planned): </a:t>
            </a:r>
            <a:r>
              <a:rPr sz="1200" b="0">
                <a:solidFill>
                  <a:srgbClr val="0F172A"/>
                </a:solidFill>
                <a:latin typeface="Liberation Sans"/>
              </a:rPr>
              <a:t>Feeds verified cashflow stability to partner NBFC funnel.</a:t>
            </a:r>
          </a:p>
        </p:txBody>
      </p:sp>
      <p:sp>
        <p:nvSpPr>
          <p:cNvPr id="18" name="Rounded Rectangle 17"/>
          <p:cNvSpPr/>
          <p:nvPr/>
        </p:nvSpPr>
        <p:spPr>
          <a:xfrm>
            <a:off x="8074152"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3 : SERVE CUSTOMERS</a:t>
            </a:r>
          </a:p>
        </p:txBody>
      </p:sp>
      <p:sp>
        <p:nvSpPr>
          <p:cNvPr id="20" name="TextBox 19"/>
          <p:cNvSpPr txBox="1"/>
          <p:nvPr/>
        </p:nvSpPr>
        <p:spPr>
          <a:xfrm>
            <a:off x="8238744"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Privacy-Safe Service Recovery</a:t>
            </a:r>
          </a:p>
        </p:txBody>
      </p:sp>
      <p:sp>
        <p:nvSpPr>
          <p:cNvPr id="21" name="TextBox 20"/>
          <p:cNvSpPr txBox="1"/>
          <p:nvPr/>
        </p:nvSpPr>
        <p:spPr>
          <a:xfrm>
            <a:off x="8202168" y="2121408"/>
            <a:ext cx="3346704" cy="3977639"/>
          </a:xfrm>
          <a:prstGeom prst="rect">
            <a:avLst/>
          </a:prstGeom>
          <a:noFill/>
        </p:spPr>
        <p:txBody>
          <a:bodyPr wrap="square" lIns="54864" rIns="54864" tIns="36576" bIns="36576">
            <a:spAutoFit/>
          </a:bodyPr>
          <a:lstStyle/>
          <a:p>
            <a:pPr marL="210000" indent="-210000">
              <a:spcAft>
                <a:spcPts val="1000"/>
              </a:spcAft>
              <a:buChar char="•"/>
            </a:pPr>
            <a:r>
              <a:rPr sz="1200" b="1">
                <a:solidFill>
                  <a:srgbClr val="002970"/>
                </a:solidFill>
                <a:latin typeface="Liberation Sans"/>
              </a:rPr>
              <a:t>Delay Tagging (Simulated): </a:t>
            </a:r>
            <a:r>
              <a:rPr sz="1200" b="0">
                <a:solidFill>
                  <a:srgbClr val="0F172A"/>
                </a:solidFill>
                <a:latin typeface="Liberation Sans"/>
              </a:rPr>
              <a:t>Flags peak-hour queue delays and 3-star feedback tags.</a:t>
            </a:r>
          </a:p>
          <a:p>
            <a:pPr marL="210000" indent="-210000">
              <a:spcAft>
                <a:spcPts val="1000"/>
              </a:spcAft>
              <a:buChar char="•"/>
            </a:pPr>
            <a:r>
              <a:rPr sz="1200" b="1">
                <a:solidFill>
                  <a:srgbClr val="002970"/>
                </a:solidFill>
                <a:latin typeface="Liberation Sans"/>
              </a:rPr>
              <a:t>Goodwill Pass (Simulated): </a:t>
            </a:r>
            <a:r>
              <a:rPr sz="1200" b="0">
                <a:solidFill>
                  <a:srgbClr val="0F172A"/>
                </a:solidFill>
                <a:latin typeface="Liberation Sans"/>
              </a:rPr>
              <a:t>1-tap bilingual apology + Rs 30 next-scan coffee voucher.</a:t>
            </a:r>
          </a:p>
          <a:p>
            <a:pPr marL="210000" indent="-210000">
              <a:spcAft>
                <a:spcPts val="1000"/>
              </a:spcAft>
              <a:buChar char="•"/>
            </a:pPr>
            <a:r>
              <a:rPr sz="1200" b="1">
                <a:solidFill>
                  <a:srgbClr val="002970"/>
                </a:solidFill>
                <a:latin typeface="Liberation Sans"/>
              </a:rPr>
              <a:t>Zero PII Leakage (Built): </a:t>
            </a:r>
            <a:r>
              <a:rPr sz="1200" b="0">
                <a:solidFill>
                  <a:srgbClr val="0F172A"/>
                </a:solidFill>
                <a:latin typeface="Liberation Sans"/>
              </a:rPr>
              <a:t>No raw phone numbers or payer IDs ever leave SQLite.</a:t>
            </a:r>
          </a:p>
          <a:p>
            <a:pPr marL="210000" indent="-210000">
              <a:spcAft>
                <a:spcPts val="1000"/>
              </a:spcAft>
              <a:buChar char="•"/>
            </a:pPr>
            <a:r>
              <a:rPr sz="1200" b="1">
                <a:solidFill>
                  <a:srgbClr val="002970"/>
                </a:solidFill>
                <a:latin typeface="Liberation Sans"/>
              </a:rPr>
              <a:t>DPDP &amp; Cooldown (Built): </a:t>
            </a:r>
            <a:r>
              <a:rPr sz="1200" b="0">
                <a:solidFill>
                  <a:srgbClr val="0F172A"/>
                </a:solidFill>
                <a:latin typeface="Liberation Sans"/>
              </a:rPr>
              <a:t>Hard opt-in filter and 14-day per-payer anti-spam cooldown.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A4 : ITT WORKFLOW &amp; SPEND STOP</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Intention-to-Treat Cap-vs-Holdout Design (Decision 1)</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A4 (Slide 9 / 16)</a:t>
            </a:r>
          </a:p>
        </p:txBody>
      </p:sp>
      <p:sp>
        <p:nvSpPr>
          <p:cNvPr id="10" name="Rounded Rectangle 9"/>
          <p:cNvSpPr/>
          <p:nvPr/>
        </p:nvSpPr>
        <p:spPr>
          <a:xfrm>
            <a:off x="50292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426464"/>
            <a:ext cx="2414016" cy="329184"/>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STEP 1 : PASS ISSUANCE</a:t>
            </a:r>
          </a:p>
        </p:txBody>
      </p:sp>
      <p:sp>
        <p:nvSpPr>
          <p:cNvPr id="12" name="TextBox 11"/>
          <p:cNvSpPr txBox="1"/>
          <p:nvPr/>
        </p:nvSpPr>
        <p:spPr>
          <a:xfrm>
            <a:off x="630936" y="1810512"/>
            <a:ext cx="2414016" cy="2304288"/>
          </a:xfrm>
          <a:prstGeom prst="rect">
            <a:avLst/>
          </a:prstGeom>
          <a:noFill/>
        </p:spPr>
        <p:txBody>
          <a:bodyPr wrap="square" lIns="36576" rIns="36576" tIns="18288" bIns="18288">
            <a:spAutoFit/>
          </a:bodyPr>
          <a:lstStyle/>
          <a:p>
            <a:pPr algn="l">
              <a:spcAft>
                <a:spcPts val="300"/>
              </a:spcAft>
            </a:pPr>
            <a:r>
              <a:rPr sz="1100" b="0" i="0">
                <a:solidFill>
                  <a:srgbClr val="0F172A"/>
                </a:solidFill>
                <a:latin typeface="Liberation Sans"/>
              </a:rPr>
              <a:t>Filter 48 -&gt; 40 eligible (80/20: 32 nudged, 8 control). Issue Rs 25 passes to ALL 32 nudged buyers (Rs 800 face exposure); never restrict reach to 12.</a:t>
            </a:r>
          </a:p>
        </p:txBody>
      </p:sp>
      <p:sp>
        <p:nvSpPr>
          <p:cNvPr id="13" name="Rounded Rectangle 12"/>
          <p:cNvSpPr/>
          <p:nvPr/>
        </p:nvSpPr>
        <p:spPr>
          <a:xfrm>
            <a:off x="333756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5576" y="1426464"/>
            <a:ext cx="2414016" cy="329184"/>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STEP 2 : &gt;10% RISK ALERT</a:t>
            </a:r>
          </a:p>
        </p:txBody>
      </p:sp>
      <p:sp>
        <p:nvSpPr>
          <p:cNvPr id="15" name="TextBox 14"/>
          <p:cNvSpPr txBox="1"/>
          <p:nvPr/>
        </p:nvSpPr>
        <p:spPr>
          <a:xfrm>
            <a:off x="3465576" y="1810512"/>
            <a:ext cx="2414016" cy="2304288"/>
          </a:xfrm>
          <a:prstGeom prst="rect">
            <a:avLst/>
          </a:prstGeom>
          <a:noFill/>
        </p:spPr>
        <p:txBody>
          <a:bodyPr wrap="square" lIns="36576" rIns="36576" tIns="18288" bIns="18288">
            <a:spAutoFit/>
          </a:bodyPr>
          <a:lstStyle/>
          <a:p>
            <a:pPr algn="l">
              <a:spcAft>
                <a:spcPts val="300"/>
              </a:spcAft>
            </a:pPr>
            <a:r>
              <a:rPr sz="1100" b="0" i="0">
                <a:solidFill>
                  <a:srgbClr val="0F172A"/>
                </a:solidFill>
                <a:latin typeface="Liberation Sans"/>
              </a:rPr>
              <a:t>At approval, compute P(Binomial(32, p) &gt; 12). At p=37.5%, overrun risk is 42.2% (&gt;10% threshold): warn merchant and suggest Rs 400 cap (&lt;=10% risk).</a:t>
            </a:r>
          </a:p>
        </p:txBody>
      </p:sp>
      <p:sp>
        <p:nvSpPr>
          <p:cNvPr id="16" name="Rounded Rectangle 15"/>
          <p:cNvSpPr/>
          <p:nvPr/>
        </p:nvSpPr>
        <p:spPr>
          <a:xfrm>
            <a:off x="617220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426464"/>
            <a:ext cx="2414016" cy="329184"/>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STEP 3 : INDEPENDENT DRAW</a:t>
            </a:r>
          </a:p>
        </p:txBody>
      </p:sp>
      <p:sp>
        <p:nvSpPr>
          <p:cNvPr id="18" name="TextBox 17"/>
          <p:cNvSpPr txBox="1"/>
          <p:nvPr/>
        </p:nvSpPr>
        <p:spPr>
          <a:xfrm>
            <a:off x="6300216" y="1810512"/>
            <a:ext cx="2414016" cy="2304288"/>
          </a:xfrm>
          <a:prstGeom prst="rect">
            <a:avLst/>
          </a:prstGeom>
          <a:noFill/>
        </p:spPr>
        <p:txBody>
          <a:bodyPr wrap="square" lIns="36576" rIns="36576" tIns="18288" bIns="18288">
            <a:spAutoFit/>
          </a:bodyPr>
          <a:lstStyle/>
          <a:p>
            <a:pPr algn="l">
              <a:spcAft>
                <a:spcPts val="300"/>
              </a:spcAft>
            </a:pPr>
            <a:r>
              <a:rPr sz="1100" b="0" i="0">
                <a:solidFill>
                  <a:srgbClr val="0F172A"/>
                </a:solidFill>
                <a:latin typeface="Liberation Sans"/>
              </a:rPr>
              <a:t>48h simulator draws customer return visits independently of max_budget first, then applies atomic BEGIN IMMEDIATE stop at Rs 300 (12 paid).</a:t>
            </a:r>
          </a:p>
        </p:txBody>
      </p:sp>
      <p:sp>
        <p:nvSpPr>
          <p:cNvPr id="19" name="Rounded Rectangle 18"/>
          <p:cNvSpPr/>
          <p:nvPr/>
        </p:nvSpPr>
        <p:spPr>
          <a:xfrm>
            <a:off x="9006840" y="1298448"/>
            <a:ext cx="2670048" cy="2944368"/>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1426464"/>
            <a:ext cx="2414016" cy="329184"/>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STEP 4 : ITT EVALUATION</a:t>
            </a:r>
          </a:p>
        </p:txBody>
      </p:sp>
      <p:sp>
        <p:nvSpPr>
          <p:cNvPr id="21" name="TextBox 20"/>
          <p:cNvSpPr txBox="1"/>
          <p:nvPr/>
        </p:nvSpPr>
        <p:spPr>
          <a:xfrm>
            <a:off x="9134856" y="1810512"/>
            <a:ext cx="2414016" cy="2304288"/>
          </a:xfrm>
          <a:prstGeom prst="rect">
            <a:avLst/>
          </a:prstGeom>
          <a:noFill/>
        </p:spPr>
        <p:txBody>
          <a:bodyPr wrap="square" lIns="36576" rIns="36576" tIns="18288" bIns="18288">
            <a:spAutoFit/>
          </a:bodyPr>
          <a:lstStyle/>
          <a:p>
            <a:pPr algn="l">
              <a:spcAft>
                <a:spcPts val="300"/>
              </a:spcAft>
            </a:pPr>
            <a:r>
              <a:rPr sz="1100" b="0" i="0">
                <a:solidFill>
                  <a:srgbClr val="0F172A"/>
                </a:solidFill>
                <a:latin typeface="Liberation Sans"/>
              </a:rPr>
              <a:t>Record cap_reached &amp; refused_redemptions (12 = cap, 0 refused in base run; 6 refused at Rs 150 cap). Analyse ITT (32 vs 8): holdout lift is unchanged when cap binds.</a:t>
            </a:r>
          </a:p>
        </p:txBody>
      </p:sp>
      <p:sp>
        <p:nvSpPr>
          <p:cNvPr id="22" name="Rounded Rectangle 21"/>
          <p:cNvSpPr/>
          <p:nvPr/>
        </p:nvSpPr>
        <p:spPr>
          <a:xfrm>
            <a:off x="502920" y="4407408"/>
            <a:ext cx="11183112" cy="1865376"/>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517136"/>
            <a:ext cx="10789920" cy="292608"/>
          </a:xfrm>
          <a:prstGeom prst="rect">
            <a:avLst/>
          </a:prstGeom>
          <a:noFill/>
        </p:spPr>
        <p:txBody>
          <a:bodyPr wrap="square" lIns="36576" rIns="36576" tIns="18288" bIns="18288">
            <a:spAutoFit/>
          </a:bodyPr>
          <a:lstStyle/>
          <a:p>
            <a:pPr algn="l">
              <a:spcAft>
                <a:spcPts val="300"/>
              </a:spcAft>
            </a:pPr>
            <a:r>
              <a:rPr sz="1250" b="1" i="0">
                <a:solidFill>
                  <a:srgbClr val="B45309"/>
                </a:solidFill>
                <a:latin typeface="Liberation Sans"/>
              </a:rPr>
              <a:t>DISCLOSED TRADE-OFF &amp; VERIFIED INVARIANCE TESTS</a:t>
            </a:r>
          </a:p>
        </p:txBody>
      </p:sp>
      <p:sp>
        <p:nvSpPr>
          <p:cNvPr id="24" name="TextBox 23"/>
          <p:cNvSpPr txBox="1"/>
          <p:nvPr/>
        </p:nvSpPr>
        <p:spPr>
          <a:xfrm>
            <a:off x="658368" y="4828032"/>
            <a:ext cx="10835640" cy="1371600"/>
          </a:xfrm>
          <a:prstGeom prst="rect">
            <a:avLst/>
          </a:prstGeom>
          <a:noFill/>
        </p:spPr>
        <p:txBody>
          <a:bodyPr wrap="square" lIns="54864" rIns="54864" tIns="36576" bIns="36576">
            <a:spAutoFit/>
          </a:bodyPr>
          <a:lstStyle/>
          <a:p>
            <a:pPr marL="210000" indent="-210000">
              <a:spcAft>
                <a:spcPts val="600"/>
              </a:spcAft>
              <a:buChar char="•"/>
            </a:pPr>
            <a:r>
              <a:rPr sz="1140" b="1">
                <a:solidFill>
                  <a:srgbClr val="002970"/>
                </a:solidFill>
                <a:latin typeface="Liberation Sans"/>
              </a:rPr>
              <a:t>Face Exposure vs Hard Spend Stop: </a:t>
            </a:r>
            <a:r>
              <a:rPr sz="1140" b="0">
                <a:solidFill>
                  <a:srgbClr val="0F172A"/>
                </a:solidFill>
                <a:latin typeface="Liberation Sans"/>
              </a:rPr>
              <a:t>Issuing 32 passes creates Rs 800 face exposure while guaranteeing actual merchant spend stops at Rs 300; late redeemers after #12 are declined and logged in refused_redemptions.</a:t>
            </a:r>
          </a:p>
          <a:p>
            <a:pPr marL="210000" indent="-210000">
              <a:spcAft>
                <a:spcPts val="600"/>
              </a:spcAft>
              <a:buChar char="•"/>
            </a:pPr>
            <a:r>
              <a:rPr sz="1140" b="1">
                <a:solidFill>
                  <a:srgbClr val="002970"/>
                </a:solidFill>
                <a:latin typeface="Liberation Sans"/>
              </a:rPr>
              <a:t>Automated Concurrency &amp; ITT Tests: </a:t>
            </a:r>
            <a:r>
              <a:rPr sz="1140" b="0">
                <a:solidFill>
                  <a:srgbClr val="0F172A"/>
                </a:solidFill>
                <a:latin typeface="Liberation Sans"/>
              </a:rPr>
              <a:t>25-thread simultaneous scan test verifies budget_spent == Rs 300 (12 paid, 13 refused); multi-seed test proves ITT holdout comparison is identical whether cap is Rs 800 or Rs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A5 : SYSTEM ARCHITECTURE</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Component Status: Built in Stage 1 vs Pending vs Production Plan</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A5 (Slide 10 / 16)</a:t>
            </a:r>
          </a:p>
        </p:txBody>
      </p:sp>
      <p:sp>
        <p:nvSpPr>
          <p:cNvPr id="10" name="Rounded Rectangle 9"/>
          <p:cNvSpPr/>
          <p:nvPr/>
        </p:nvSpPr>
        <p:spPr>
          <a:xfrm>
            <a:off x="502920" y="1298448"/>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298448"/>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645919"/>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TOUCHPOINTS</a:t>
            </a:r>
          </a:p>
        </p:txBody>
      </p:sp>
      <p:sp>
        <p:nvSpPr>
          <p:cNvPr id="13" name="Rounded Rectangle 12"/>
          <p:cNvSpPr/>
          <p:nvPr/>
        </p:nvSpPr>
        <p:spPr>
          <a:xfrm>
            <a:off x="26700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Merchant &amp; Technical View UI</a:t>
            </a:r>
          </a:p>
        </p:txBody>
      </p:sp>
      <p:sp>
        <p:nvSpPr>
          <p:cNvPr id="15" name="Rounded Rectangle 14"/>
          <p:cNvSpPr/>
          <p:nvPr/>
        </p:nvSpPr>
        <p:spPr>
          <a:xfrm>
            <a:off x="56418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15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1-Tap &amp; Voice Chip Fallback</a:t>
            </a:r>
          </a:p>
        </p:txBody>
      </p:sp>
      <p:sp>
        <p:nvSpPr>
          <p:cNvPr id="17" name="Rounded Rectangle 16"/>
          <p:cNvSpPr/>
          <p:nvPr/>
        </p:nvSpPr>
        <p:spPr>
          <a:xfrm>
            <a:off x="8613648" y="1426464"/>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233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Soundbox 4G Push &amp; WhatsApp Cloud</a:t>
            </a:r>
          </a:p>
        </p:txBody>
      </p:sp>
      <p:sp>
        <p:nvSpPr>
          <p:cNvPr id="19" name="Rounded Rectangle 18"/>
          <p:cNvSpPr/>
          <p:nvPr/>
        </p:nvSpPr>
        <p:spPr>
          <a:xfrm>
            <a:off x="502920" y="2542032"/>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542032"/>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889504"/>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VOICE &amp; LLM</a:t>
            </a:r>
          </a:p>
        </p:txBody>
      </p:sp>
      <p:sp>
        <p:nvSpPr>
          <p:cNvPr id="22" name="Rounded Rectangle 21"/>
          <p:cNvSpPr/>
          <p:nvPr/>
        </p:nvSpPr>
        <p:spPr>
          <a:xfrm>
            <a:off x="2670048" y="2670048"/>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797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Browser Speech + SHA-256 Cache</a:t>
            </a:r>
          </a:p>
        </p:txBody>
      </p:sp>
      <p:sp>
        <p:nvSpPr>
          <p:cNvPr id="24" name="Rounded Rectangle 23"/>
          <p:cNvSpPr/>
          <p:nvPr/>
        </p:nvSpPr>
        <p:spPr>
          <a:xfrm>
            <a:off x="56418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515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[PENDING LIVE] Keyless Sarvam (30% Cap)</a:t>
            </a:r>
          </a:p>
        </p:txBody>
      </p:sp>
      <p:sp>
        <p:nvSpPr>
          <p:cNvPr id="26" name="Rounded Rectangle 25"/>
          <p:cNvSpPr/>
          <p:nvPr/>
        </p:nvSpPr>
        <p:spPr>
          <a:xfrm>
            <a:off x="86136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3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[STAGE 2] Keyless Groq Grounded English Q&amp;A</a:t>
            </a:r>
          </a:p>
        </p:txBody>
      </p:sp>
      <p:sp>
        <p:nvSpPr>
          <p:cNvPr id="28" name="Rounded Rectangle 27"/>
          <p:cNvSpPr/>
          <p:nvPr/>
        </p:nvSpPr>
        <p:spPr>
          <a:xfrm>
            <a:off x="502920" y="3785616"/>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785616"/>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4133088"/>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CORE ENGINE</a:t>
            </a:r>
          </a:p>
        </p:txBody>
      </p:sp>
      <p:sp>
        <p:nvSpPr>
          <p:cNvPr id="31" name="Rounded Rectangle 30"/>
          <p:cNvSpPr/>
          <p:nvPr/>
        </p:nvSpPr>
        <p:spPr>
          <a:xfrm>
            <a:off x="26700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797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FastAPI + Per-Visitor Sessions</a:t>
            </a:r>
          </a:p>
        </p:txBody>
      </p:sp>
      <p:sp>
        <p:nvSpPr>
          <p:cNvPr id="33" name="Rounded Rectangle 32"/>
          <p:cNvSpPr/>
          <p:nvPr/>
        </p:nvSpPr>
        <p:spPr>
          <a:xfrm>
            <a:off x="56418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515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5-Rule Guardrails + Jargon Lint</a:t>
            </a:r>
          </a:p>
        </p:txBody>
      </p:sp>
      <p:sp>
        <p:nvSpPr>
          <p:cNvPr id="35" name="Rounded Rectangle 34"/>
          <p:cNvSpPr/>
          <p:nvPr/>
        </p:nvSpPr>
        <p:spPr>
          <a:xfrm>
            <a:off x="86136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233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ITT Fisher/Wilson/Power + Profit ROI</a:t>
            </a:r>
          </a:p>
        </p:txBody>
      </p:sp>
      <p:sp>
        <p:nvSpPr>
          <p:cNvPr id="37" name="Rounded Rectangle 36"/>
          <p:cNvSpPr/>
          <p:nvPr/>
        </p:nvSpPr>
        <p:spPr>
          <a:xfrm>
            <a:off x="502920" y="5029200"/>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029200"/>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376672"/>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DATA &amp; OPS</a:t>
            </a:r>
          </a:p>
        </p:txBody>
      </p:sp>
      <p:sp>
        <p:nvSpPr>
          <p:cNvPr id="40" name="Rounded Rectangle 39"/>
          <p:cNvSpPr/>
          <p:nvPr/>
        </p:nvSpPr>
        <p:spPr>
          <a:xfrm>
            <a:off x="2670048" y="5157216"/>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797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Atomic SQLite Spend-Stop Ledger</a:t>
            </a:r>
          </a:p>
        </p:txBody>
      </p:sp>
      <p:sp>
        <p:nvSpPr>
          <p:cNvPr id="42" name="Rounded Rectangle 41"/>
          <p:cNvSpPr/>
          <p:nvPr/>
        </p:nvSpPr>
        <p:spPr>
          <a:xfrm>
            <a:off x="5641848" y="5157216"/>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515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Preflight + 25-Thread Stress Test</a:t>
            </a:r>
          </a:p>
        </p:txBody>
      </p:sp>
      <p:sp>
        <p:nvSpPr>
          <p:cNvPr id="44" name="Rounded Rectangle 43"/>
          <p:cNvSpPr/>
          <p:nvPr/>
        </p:nvSpPr>
        <p:spPr>
          <a:xfrm>
            <a:off x="8613648" y="5157216"/>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233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PostgreSQL &amp; Redis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150108"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05866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A6 : POSITIONING (USP)</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Differentiation vs Manual Khata Apps and Generic Chatbots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A6 (Slide 11 / 16)</a:t>
            </a:r>
          </a:p>
        </p:txBody>
      </p:sp>
      <p:graphicFrame>
        <p:nvGraphicFramePr>
          <p:cNvPr id="10" name="Table 9"/>
          <p:cNvGraphicFramePr>
            <a:graphicFrameLocks noGrp="1"/>
          </p:cNvGraphicFramePr>
          <p:nvPr/>
        </p:nvGraphicFramePr>
        <p:xfrm>
          <a:off x="502920" y="1298448"/>
          <a:ext cx="11183112" cy="4846320"/>
        </p:xfrm>
        <a:graphic>
          <a:graphicData uri="http://schemas.openxmlformats.org/drawingml/2006/table">
            <a:tbl>
              <a:tblPr firstRow="1" bandRow="1">
                <a:tableStyleId>{5C22544A-7EE6-4342-B048-85BDC9FD1C3A}</a:tableStyleId>
              </a:tblPr>
              <a:tblGrid>
                <a:gridCol w="2148840"/>
                <a:gridCol w="2743200"/>
                <a:gridCol w="2743200"/>
                <a:gridCol w="3547872"/>
              </a:tblGrid>
              <a:tr h="807720">
                <a:tc>
                  <a:txBody>
                    <a:bodyPr/>
                    <a:lstStyle/>
                    <a:p>
                      <a:pPr>
                        <a:defRPr sz="1200" b="1">
                          <a:solidFill>
                            <a:srgbClr val="FFFFFF"/>
                          </a:solidFill>
                          <a:latin typeface="Liberation Sans"/>
                        </a:defRPr>
                      </a:pPr>
                      <a:r>
                        <a:t>Dimension</a:t>
                      </a:r>
                    </a:p>
                  </a:txBody>
                  <a:tcPr anchor="ctr">
                    <a:solidFill>
                      <a:srgbClr val="001B4D"/>
                    </a:solidFill>
                  </a:tcPr>
                </a:tc>
                <a:tc>
                  <a:txBody>
                    <a:bodyPr/>
                    <a:lstStyle/>
                    <a:p>
                      <a:pPr>
                        <a:defRPr sz="1200" b="1">
                          <a:solidFill>
                            <a:srgbClr val="FFFFFF"/>
                          </a:solidFill>
                          <a:latin typeface="Liberation Sans"/>
                        </a:defRPr>
                      </a:pPr>
                      <a:r>
                        <a:t>Manual BI / Khata Apps</a:t>
                      </a:r>
                    </a:p>
                  </a:txBody>
                  <a:tcPr anchor="ctr">
                    <a:solidFill>
                      <a:srgbClr val="001B4D"/>
                    </a:solidFill>
                  </a:tcPr>
                </a:tc>
                <a:tc>
                  <a:txBody>
                    <a:bodyPr/>
                    <a:lstStyle/>
                    <a:p>
                      <a:pPr>
                        <a:defRPr sz="1200" b="1">
                          <a:solidFill>
                            <a:srgbClr val="FFFFFF"/>
                          </a:solidFill>
                          <a:latin typeface="Liberation Sans"/>
                        </a:defRPr>
                      </a:pPr>
                      <a:r>
                        <a:t>Generic LLM Chatbots</a:t>
                      </a:r>
                    </a:p>
                  </a:txBody>
                  <a:tcPr anchor="ctr">
                    <a:solidFill>
                      <a:srgbClr val="001B4D"/>
                    </a:solidFill>
                  </a:tcPr>
                </a:tc>
                <a:tc>
                  <a:txBody>
                    <a:bodyPr/>
                    <a:lstStyle/>
                    <a:p>
                      <a:pPr>
                        <a:defRPr sz="1200" b="1">
                          <a:solidFill>
                            <a:srgbClr val="FFFFFF"/>
                          </a:solidFill>
                          <a:latin typeface="Liberation Sans"/>
                        </a:defRPr>
                      </a:pPr>
                      <a:r>
                        <a:t>PaytmAI VyaparVoice</a:t>
                      </a:r>
                    </a:p>
                  </a:txBody>
                  <a:tcPr anchor="ctr">
                    <a:solidFill>
                      <a:srgbClr val="0284C7"/>
                    </a:solidFill>
                  </a:tcPr>
                </a:tc>
              </a:tr>
              <a:tr h="807720">
                <a:tc>
                  <a:txBody>
                    <a:bodyPr/>
                    <a:lstStyle/>
                    <a:p>
                      <a:pPr>
                        <a:defRPr sz="1120" b="1">
                          <a:solidFill>
                            <a:srgbClr val="0F172A"/>
                          </a:solidFill>
                          <a:latin typeface="Liberation Sans"/>
                        </a:defRPr>
                      </a:pPr>
                      <a:r>
                        <a:t>Merchant UX</a:t>
                      </a:r>
                    </a:p>
                  </a:txBody>
                  <a:tcPr anchor="ctr">
                    <a:solidFill>
                      <a:srgbClr val="FFFFFF"/>
                    </a:solidFill>
                  </a:tcPr>
                </a:tc>
                <a:tc>
                  <a:txBody>
                    <a:bodyPr/>
                    <a:lstStyle/>
                    <a:p>
                      <a:pPr>
                        <a:defRPr sz="1120" b="0">
                          <a:solidFill>
                            <a:srgbClr val="0F172A"/>
                          </a:solidFill>
                          <a:latin typeface="Liberation Sans"/>
                        </a:defRPr>
                      </a:pPr>
                      <a:r>
                        <a:t>Charts &amp; manual ledger entry</a:t>
                      </a:r>
                    </a:p>
                  </a:txBody>
                  <a:tcPr anchor="ctr">
                    <a:solidFill>
                      <a:srgbClr val="FFFFFF"/>
                    </a:solidFill>
                  </a:tcPr>
                </a:tc>
                <a:tc>
                  <a:txBody>
                    <a:bodyPr/>
                    <a:lstStyle/>
                    <a:p>
                      <a:pPr>
                        <a:defRPr sz="1120" b="0">
                          <a:solidFill>
                            <a:srgbClr val="0F172A"/>
                          </a:solidFill>
                          <a:latin typeface="Liberation Sans"/>
                        </a:defRPr>
                      </a:pPr>
                      <a:r>
                        <a:t>Requires typing business prompts</a:t>
                      </a:r>
                    </a:p>
                  </a:txBody>
                  <a:tcPr anchor="ctr">
                    <a:solidFill>
                      <a:srgbClr val="FFFFFF"/>
                    </a:solidFill>
                  </a:tcPr>
                </a:tc>
                <a:tc>
                  <a:txBody>
                    <a:bodyPr/>
                    <a:lstStyle/>
                    <a:p>
                      <a:pPr>
                        <a:defRPr sz="1120" b="1">
                          <a:solidFill>
                            <a:srgbClr val="0F172A"/>
                          </a:solidFill>
                          <a:latin typeface="Liberation Sans"/>
                        </a:defRPr>
                      </a:pPr>
                      <a:r>
                        <a:t>8:30 PM plain voice brief + 1-tap button</a:t>
                      </a:r>
                    </a:p>
                  </a:txBody>
                  <a:tcPr anchor="ctr">
                    <a:solidFill>
                      <a:srgbClr val="ECFDF5"/>
                    </a:solidFill>
                  </a:tcPr>
                </a:tc>
              </a:tr>
              <a:tr h="807720">
                <a:tc>
                  <a:txBody>
                    <a:bodyPr/>
                    <a:lstStyle/>
                    <a:p>
                      <a:pPr>
                        <a:defRPr sz="1120" b="1">
                          <a:solidFill>
                            <a:srgbClr val="0F172A"/>
                          </a:solidFill>
                          <a:latin typeface="Liberation Sans"/>
                        </a:defRPr>
                      </a:pPr>
                      <a:r>
                        <a:t>Customer Graph</a:t>
                      </a:r>
                    </a:p>
                  </a:txBody>
                  <a:tcPr anchor="ctr">
                    <a:solidFill>
                      <a:srgbClr val="F1F5F9"/>
                    </a:solidFill>
                  </a:tcPr>
                </a:tc>
                <a:tc>
                  <a:txBody>
                    <a:bodyPr/>
                    <a:lstStyle/>
                    <a:p>
                      <a:pPr>
                        <a:defRPr sz="1120" b="0">
                          <a:solidFill>
                            <a:srgbClr val="0F172A"/>
                          </a:solidFill>
                          <a:latin typeface="Liberation Sans"/>
                        </a:defRPr>
                      </a:pPr>
                      <a:r>
                        <a:t>Incomplete manual phonebooks</a:t>
                      </a:r>
                    </a:p>
                  </a:txBody>
                  <a:tcPr anchor="ctr">
                    <a:solidFill>
                      <a:srgbClr val="F1F5F9"/>
                    </a:solidFill>
                  </a:tcPr>
                </a:tc>
                <a:tc>
                  <a:txBody>
                    <a:bodyPr/>
                    <a:lstStyle/>
                    <a:p>
                      <a:pPr>
                        <a:defRPr sz="1120" b="0">
                          <a:solidFill>
                            <a:srgbClr val="0F172A"/>
                          </a:solidFill>
                          <a:latin typeface="Liberation Sans"/>
                        </a:defRPr>
                      </a:pPr>
                      <a:r>
                        <a:t>No link to payment history</a:t>
                      </a:r>
                    </a:p>
                  </a:txBody>
                  <a:tcPr anchor="ctr">
                    <a:solidFill>
                      <a:srgbClr val="F1F5F9"/>
                    </a:solidFill>
                  </a:tcPr>
                </a:tc>
                <a:tc>
                  <a:txBody>
                    <a:bodyPr/>
                    <a:lstStyle/>
                    <a:p>
                      <a:pPr>
                        <a:defRPr sz="1120" b="1">
                          <a:solidFill>
                            <a:srgbClr val="0F172A"/>
                          </a:solidFill>
                          <a:latin typeface="Liberation Sans"/>
                        </a:defRPr>
                      </a:pPr>
                      <a:r>
                        <a:t>Paytm QR repeat-payer IDs (synthetic in MVP)</a:t>
                      </a:r>
                    </a:p>
                  </a:txBody>
                  <a:tcPr anchor="ctr">
                    <a:solidFill>
                      <a:srgbClr val="ECFDF5"/>
                    </a:solidFill>
                  </a:tcPr>
                </a:tc>
              </a:tr>
              <a:tr h="807720">
                <a:tc>
                  <a:txBody>
                    <a:bodyPr/>
                    <a:lstStyle/>
                    <a:p>
                      <a:pPr>
                        <a:defRPr sz="1120" b="1">
                          <a:solidFill>
                            <a:srgbClr val="0F172A"/>
                          </a:solidFill>
                          <a:latin typeface="Liberation Sans"/>
                        </a:defRPr>
                      </a:pPr>
                      <a:r>
                        <a:t>Financial Safety</a:t>
                      </a:r>
                    </a:p>
                  </a:txBody>
                  <a:tcPr anchor="ctr">
                    <a:solidFill>
                      <a:srgbClr val="FFFFFF"/>
                    </a:solidFill>
                  </a:tcPr>
                </a:tc>
                <a:tc>
                  <a:txBody>
                    <a:bodyPr/>
                    <a:lstStyle/>
                    <a:p>
                      <a:pPr>
                        <a:defRPr sz="1120" b="0">
                          <a:solidFill>
                            <a:srgbClr val="0F172A"/>
                          </a:solidFill>
                          <a:latin typeface="Liberation Sans"/>
                        </a:defRPr>
                      </a:pPr>
                      <a:r>
                        <a:t>Manual coupon rules</a:t>
                      </a:r>
                    </a:p>
                  </a:txBody>
                  <a:tcPr anchor="ctr">
                    <a:solidFill>
                      <a:srgbClr val="FFFFFF"/>
                    </a:solidFill>
                  </a:tcPr>
                </a:tc>
                <a:tc>
                  <a:txBody>
                    <a:bodyPr/>
                    <a:lstStyle/>
                    <a:p>
                      <a:pPr>
                        <a:defRPr sz="1120" b="0">
                          <a:solidFill>
                            <a:srgbClr val="0F172A"/>
                          </a:solidFill>
                          <a:latin typeface="Liberation Sans"/>
                        </a:defRPr>
                      </a:pPr>
                      <a:r>
                        <a:t>LLM can invent unsafe offers</a:t>
                      </a:r>
                    </a:p>
                  </a:txBody>
                  <a:tcPr anchor="ctr">
                    <a:solidFill>
                      <a:srgbClr val="FFFFFF"/>
                    </a:solidFill>
                  </a:tcPr>
                </a:tc>
                <a:tc>
                  <a:txBody>
                    <a:bodyPr/>
                    <a:lstStyle/>
                    <a:p>
                      <a:pPr>
                        <a:defRPr sz="1120" b="1">
                          <a:solidFill>
                            <a:srgbClr val="0F172A"/>
                          </a:solidFill>
                          <a:latin typeface="Liberation Sans"/>
                        </a:defRPr>
                      </a:pPr>
                      <a:r>
                        <a:t>Deterministic floor, atomic spend stop &amp; &gt;10% alert</a:t>
                      </a:r>
                    </a:p>
                  </a:txBody>
                  <a:tcPr anchor="ctr">
                    <a:solidFill>
                      <a:srgbClr val="ECFDF5"/>
                    </a:solidFill>
                  </a:tcPr>
                </a:tc>
              </a:tr>
              <a:tr h="807720">
                <a:tc>
                  <a:txBody>
                    <a:bodyPr/>
                    <a:lstStyle/>
                    <a:p>
                      <a:pPr>
                        <a:defRPr sz="1120" b="1">
                          <a:solidFill>
                            <a:srgbClr val="0F172A"/>
                          </a:solidFill>
                          <a:latin typeface="Liberation Sans"/>
                        </a:defRPr>
                      </a:pPr>
                      <a:r>
                        <a:t>Privacy (DPDP)</a:t>
                      </a:r>
                    </a:p>
                  </a:txBody>
                  <a:tcPr anchor="ctr">
                    <a:solidFill>
                      <a:srgbClr val="F1F5F9"/>
                    </a:solidFill>
                  </a:tcPr>
                </a:tc>
                <a:tc>
                  <a:txBody>
                    <a:bodyPr/>
                    <a:lstStyle/>
                    <a:p>
                      <a:pPr>
                        <a:defRPr sz="1120" b="0">
                          <a:solidFill>
                            <a:srgbClr val="0F172A"/>
                          </a:solidFill>
                          <a:latin typeface="Liberation Sans"/>
                        </a:defRPr>
                      </a:pPr>
                      <a:r>
                        <a:t>Raw phone lists exposed</a:t>
                      </a:r>
                    </a:p>
                  </a:txBody>
                  <a:tcPr anchor="ctr">
                    <a:solidFill>
                      <a:srgbClr val="F1F5F9"/>
                    </a:solidFill>
                  </a:tcPr>
                </a:tc>
                <a:tc>
                  <a:txBody>
                    <a:bodyPr/>
                    <a:lstStyle/>
                    <a:p>
                      <a:pPr>
                        <a:defRPr sz="1120" b="0">
                          <a:solidFill>
                            <a:srgbClr val="0F172A"/>
                          </a:solidFill>
                          <a:latin typeface="Liberation Sans"/>
                        </a:defRPr>
                      </a:pPr>
                      <a:r>
                        <a:t>Prompt data leakage risk</a:t>
                      </a:r>
                    </a:p>
                  </a:txBody>
                  <a:tcPr anchor="ctr">
                    <a:solidFill>
                      <a:srgbClr val="F1F5F9"/>
                    </a:solidFill>
                  </a:tcPr>
                </a:tc>
                <a:tc>
                  <a:txBody>
                    <a:bodyPr/>
                    <a:lstStyle/>
                    <a:p>
                      <a:pPr>
                        <a:defRPr sz="1120" b="1">
                          <a:solidFill>
                            <a:srgbClr val="0F172A"/>
                          </a:solidFill>
                          <a:latin typeface="Liberation Sans"/>
                        </a:defRPr>
                      </a:pPr>
                      <a:r>
                        <a:t>SQL opt-in filter; zero PII sent to voice/LLM</a:t>
                      </a:r>
                    </a:p>
                  </a:txBody>
                  <a:tcPr anchor="ctr">
                    <a:solidFill>
                      <a:srgbClr val="ECFDF5"/>
                    </a:solidFill>
                  </a:tcPr>
                </a:tc>
              </a:tr>
              <a:tr h="807720">
                <a:tc>
                  <a:txBody>
                    <a:bodyPr/>
                    <a:lstStyle/>
                    <a:p>
                      <a:pPr>
                        <a:defRPr sz="1120" b="1">
                          <a:solidFill>
                            <a:srgbClr val="0F172A"/>
                          </a:solidFill>
                          <a:latin typeface="Liberation Sans"/>
                        </a:defRPr>
                      </a:pPr>
                      <a:r>
                        <a:t>Causal Proof</a:t>
                      </a:r>
                    </a:p>
                  </a:txBody>
                  <a:tcPr anchor="ctr">
                    <a:solidFill>
                      <a:srgbClr val="FFFFFF"/>
                    </a:solidFill>
                  </a:tcPr>
                </a:tc>
                <a:tc>
                  <a:txBody>
                    <a:bodyPr/>
                    <a:lstStyle/>
                    <a:p>
                      <a:pPr>
                        <a:defRPr sz="1120" b="0">
                          <a:solidFill>
                            <a:srgbClr val="0F172A"/>
                          </a:solidFill>
                          <a:latin typeface="Liberation Sans"/>
                        </a:defRPr>
                      </a:pPr>
                      <a:r>
                        <a:t>Vanity message counts</a:t>
                      </a:r>
                    </a:p>
                  </a:txBody>
                  <a:tcPr anchor="ctr">
                    <a:solidFill>
                      <a:srgbClr val="FFFFFF"/>
                    </a:solidFill>
                  </a:tcPr>
                </a:tc>
                <a:tc>
                  <a:txBody>
                    <a:bodyPr/>
                    <a:lstStyle/>
                    <a:p>
                      <a:pPr>
                        <a:defRPr sz="1120" b="0">
                          <a:solidFill>
                            <a:srgbClr val="0F172A"/>
                          </a:solidFill>
                          <a:latin typeface="Liberation Sans"/>
                        </a:defRPr>
                      </a:pPr>
                      <a:r>
                        <a:t>No comparison group</a:t>
                      </a:r>
                    </a:p>
                  </a:txBody>
                  <a:tcPr anchor="ctr">
                    <a:solidFill>
                      <a:srgbClr val="FFFFFF"/>
                    </a:solidFill>
                  </a:tcPr>
                </a:tc>
                <a:tc>
                  <a:txBody>
                    <a:bodyPr/>
                    <a:lstStyle/>
                    <a:p>
                      <a:pPr>
                        <a:defRPr sz="1120" b="1">
                          <a:solidFill>
                            <a:srgbClr val="0F172A"/>
                          </a:solidFill>
                          <a:latin typeface="Liberation Sans"/>
                        </a:defRPr>
                      </a:pPr>
                      <a:r>
                        <a:t>80/20 ITT holdout + Wilson CIs + net profit ROI</a:t>
                      </a:r>
                    </a:p>
                  </a:txBody>
                  <a:tcPr anchor="ctr">
                    <a:solidFill>
                      <a:srgbClr val="ECFD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9758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40614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A7 : PILOT TARGETS &amp; POWER</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Hypothesized Pilot Targets vs Simulated ITT Metrics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A7 (Slide 12 / 16)</a:t>
            </a:r>
          </a:p>
        </p:txBody>
      </p:sp>
      <p:sp>
        <p:nvSpPr>
          <p:cNvPr id="10" name="Rounded Rectangle 9"/>
          <p:cNvSpPr/>
          <p:nvPr/>
        </p:nvSpPr>
        <p:spPr>
          <a:xfrm>
            <a:off x="502920" y="1298448"/>
            <a:ext cx="5943600" cy="23774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577840" cy="274320"/>
          </a:xfrm>
          <a:prstGeom prst="rect">
            <a:avLst/>
          </a:prstGeom>
          <a:noFill/>
        </p:spPr>
        <p:txBody>
          <a:bodyPr wrap="square" lIns="36576" rIns="36576" tIns="18288" bIns="18288">
            <a:spAutoFit/>
          </a:bodyPr>
          <a:lstStyle/>
          <a:p>
            <a:pPr algn="l">
              <a:spcAft>
                <a:spcPts val="300"/>
              </a:spcAft>
            </a:pPr>
            <a:r>
              <a:rPr sz="1200" b="1" i="0">
                <a:solidFill>
                  <a:srgbClr val="059669"/>
                </a:solidFill>
                <a:latin typeface="Liberation Sans"/>
              </a:rPr>
              <a:t>MERCHANT METRICS (SIMULATED MVP &amp; PILOT TARGETS)</a:t>
            </a:r>
          </a:p>
        </p:txBody>
      </p:sp>
      <p:sp>
        <p:nvSpPr>
          <p:cNvPr id="12" name="TextBox 11"/>
          <p:cNvSpPr txBox="1"/>
          <p:nvPr/>
        </p:nvSpPr>
        <p:spPr>
          <a:xfrm>
            <a:off x="658368" y="1719072"/>
            <a:ext cx="5623560" cy="1874519"/>
          </a:xfrm>
          <a:prstGeom prst="rect">
            <a:avLst/>
          </a:prstGeom>
          <a:noFill/>
        </p:spPr>
        <p:txBody>
          <a:bodyPr wrap="square" lIns="54864" rIns="54864" tIns="36576" bIns="36576">
            <a:spAutoFit/>
          </a:bodyPr>
          <a:lstStyle/>
          <a:p>
            <a:pPr marL="210000" indent="-210000">
              <a:spcAft>
                <a:spcPts val="600"/>
              </a:spcAft>
              <a:buChar char="•"/>
            </a:pPr>
            <a:r>
              <a:rPr sz="1150" b="1">
                <a:solidFill>
                  <a:srgbClr val="002970"/>
                </a:solidFill>
                <a:latin typeface="Liberation Sans"/>
              </a:rPr>
              <a:t>Simulated Profit ROI: </a:t>
            </a:r>
            <a:r>
              <a:rPr sz="1150" b="0">
                <a:solidFill>
                  <a:srgbClr val="0F172A"/>
                </a:solidFill>
                <a:latin typeface="Liberation Sans"/>
              </a:rPr>
              <a:t>+Rs 222 pre-fee (+74%) / +Rs 91.50 post-fee at 30% margin (simulated 12 = Rs 300 cap).</a:t>
            </a:r>
          </a:p>
          <a:p>
            <a:pPr marL="210000" indent="-210000">
              <a:spcAft>
                <a:spcPts val="600"/>
              </a:spcAft>
              <a:buChar char="•"/>
            </a:pPr>
            <a:r>
              <a:rPr sz="1150" b="1">
                <a:solidFill>
                  <a:srgbClr val="002970"/>
                </a:solidFill>
                <a:latin typeface="Liberation Sans"/>
              </a:rPr>
              <a:t>Repeat Visit Target: </a:t>
            </a:r>
            <a:r>
              <a:rPr sz="1150" b="0">
                <a:solidFill>
                  <a:srgbClr val="0F172A"/>
                </a:solidFill>
                <a:latin typeface="Liberation Sans"/>
              </a:rPr>
              <a:t>+14% to +22% monthly repeat visits (PILOT TARGET - unvalidated).</a:t>
            </a:r>
          </a:p>
          <a:p>
            <a:pPr marL="210000" indent="-210000">
              <a:spcAft>
                <a:spcPts val="600"/>
              </a:spcAft>
              <a:buChar char="•"/>
            </a:pPr>
            <a:r>
              <a:rPr sz="1150" b="1">
                <a:solidFill>
                  <a:srgbClr val="002970"/>
                </a:solidFill>
                <a:latin typeface="Liberation Sans"/>
              </a:rPr>
              <a:t>Waste Reduction Target: </a:t>
            </a:r>
            <a:r>
              <a:rPr sz="1150" b="0">
                <a:solidFill>
                  <a:srgbClr val="0F172A"/>
                </a:solidFill>
                <a:latin typeface="Liberation Sans"/>
              </a:rPr>
              <a:t>-18% afternoon perishable loss (PILOT TARGET - unvalidated).</a:t>
            </a:r>
          </a:p>
        </p:txBody>
      </p:sp>
      <p:sp>
        <p:nvSpPr>
          <p:cNvPr id="13" name="Rounded Rectangle 12"/>
          <p:cNvSpPr/>
          <p:nvPr/>
        </p:nvSpPr>
        <p:spPr>
          <a:xfrm>
            <a:off x="502920" y="3840480"/>
            <a:ext cx="5943600" cy="242316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50208"/>
            <a:ext cx="5577840" cy="274320"/>
          </a:xfrm>
          <a:prstGeom prst="rect">
            <a:avLst/>
          </a:prstGeom>
          <a:noFill/>
        </p:spPr>
        <p:txBody>
          <a:bodyPr wrap="square" lIns="36576" rIns="36576" tIns="18288" bIns="18288">
            <a:spAutoFit/>
          </a:bodyPr>
          <a:lstStyle/>
          <a:p>
            <a:pPr algn="l">
              <a:spcAft>
                <a:spcPts val="300"/>
              </a:spcAft>
            </a:pPr>
            <a:r>
              <a:rPr sz="1200" b="1" i="0">
                <a:solidFill>
                  <a:srgbClr val="002970"/>
                </a:solidFill>
                <a:latin typeface="Liberation Sans"/>
              </a:rPr>
              <a:t>PAYTM ECOSYSTEM HYPOTHESES (PILOT TARGETS)</a:t>
            </a:r>
          </a:p>
        </p:txBody>
      </p:sp>
      <p:sp>
        <p:nvSpPr>
          <p:cNvPr id="15" name="TextBox 14"/>
          <p:cNvSpPr txBox="1"/>
          <p:nvPr/>
        </p:nvSpPr>
        <p:spPr>
          <a:xfrm>
            <a:off x="658368" y="4261104"/>
            <a:ext cx="5623560" cy="1874519"/>
          </a:xfrm>
          <a:prstGeom prst="rect">
            <a:avLst/>
          </a:prstGeom>
          <a:noFill/>
        </p:spPr>
        <p:txBody>
          <a:bodyPr wrap="square" lIns="54864" rIns="54864" tIns="36576" bIns="36576">
            <a:spAutoFit/>
          </a:bodyPr>
          <a:lstStyle/>
          <a:p>
            <a:pPr marL="210000" indent="-210000">
              <a:spcAft>
                <a:spcPts val="600"/>
              </a:spcAft>
              <a:buChar char="•"/>
            </a:pPr>
            <a:r>
              <a:rPr sz="1150" b="1">
                <a:solidFill>
                  <a:srgbClr val="002970"/>
                </a:solidFill>
                <a:latin typeface="Liberation Sans"/>
              </a:rPr>
              <a:t>Device Retention: </a:t>
            </a:r>
            <a:r>
              <a:rPr sz="1150" b="0">
                <a:solidFill>
                  <a:srgbClr val="0F172A"/>
                </a:solidFill>
                <a:latin typeface="Liberation Sans"/>
              </a:rPr>
              <a:t>-35% Soundbox churn reduction (PILOT TARGET - unvalidated).</a:t>
            </a:r>
          </a:p>
          <a:p>
            <a:pPr marL="210000" indent="-210000">
              <a:spcAft>
                <a:spcPts val="600"/>
              </a:spcAft>
              <a:buChar char="•"/>
            </a:pPr>
            <a:r>
              <a:rPr sz="1150" b="1">
                <a:solidFill>
                  <a:srgbClr val="002970"/>
                </a:solidFill>
                <a:latin typeface="Liberation Sans"/>
              </a:rPr>
              <a:t>Store QR Share: </a:t>
            </a:r>
            <a:r>
              <a:rPr sz="1150" b="0">
                <a:solidFill>
                  <a:srgbClr val="0F172A"/>
                </a:solidFill>
                <a:latin typeface="Liberation Sans"/>
              </a:rPr>
              <a:t>+12% to +15% store Paytm QR GMV lift (PILOT TARGET - unvalidated).</a:t>
            </a:r>
          </a:p>
          <a:p>
            <a:pPr marL="210000" indent="-210000">
              <a:spcAft>
                <a:spcPts val="600"/>
              </a:spcAft>
              <a:buChar char="•"/>
            </a:pPr>
            <a:r>
              <a:rPr sz="1150" b="1">
                <a:solidFill>
                  <a:srgbClr val="002970"/>
                </a:solidFill>
                <a:latin typeface="Liberation Sans"/>
              </a:rPr>
              <a:t>Credit Funnel: </a:t>
            </a:r>
            <a:r>
              <a:rPr sz="1150" b="0">
                <a:solidFill>
                  <a:srgbClr val="0F172A"/>
                </a:solidFill>
                <a:latin typeface="Liberation Sans"/>
              </a:rPr>
              <a:t>Expand ~7% merchant loan pen. (ASSUMPTION) toward 15% (LONG-TERM TARGET).</a:t>
            </a:r>
          </a:p>
        </p:txBody>
      </p:sp>
      <p:sp>
        <p:nvSpPr>
          <p:cNvPr id="16" name="Rounded Rectangle 15"/>
          <p:cNvSpPr/>
          <p:nvPr/>
        </p:nvSpPr>
        <p:spPr>
          <a:xfrm>
            <a:off x="6629400" y="1298448"/>
            <a:ext cx="5056632" cy="32461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2_honest_holdout.png"/>
          <p:cNvPicPr>
            <a:picLocks noChangeAspect="1"/>
          </p:cNvPicPr>
          <p:nvPr/>
        </p:nvPicPr>
        <p:blipFill>
          <a:blip r:embed="rId2"/>
          <a:stretch>
            <a:fillRect/>
          </a:stretch>
        </p:blipFill>
        <p:spPr>
          <a:xfrm>
            <a:off x="6949440" y="1353312"/>
            <a:ext cx="4407408" cy="2952963"/>
          </a:xfrm>
          <a:prstGeom prst="rect">
            <a:avLst/>
          </a:prstGeom>
        </p:spPr>
      </p:pic>
      <p:sp>
        <p:nvSpPr>
          <p:cNvPr id="18" name="Rounded Rectangle 17"/>
          <p:cNvSpPr/>
          <p:nvPr/>
        </p:nvSpPr>
        <p:spPr>
          <a:xfrm>
            <a:off x="6629400" y="4700016"/>
            <a:ext cx="1609344" cy="155448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4264"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059669"/>
                </a:solidFill>
                <a:latin typeface="Liberation Sans"/>
              </a:rPr>
              <a:t>1.74x</a:t>
            </a:r>
          </a:p>
        </p:txBody>
      </p:sp>
      <p:sp>
        <p:nvSpPr>
          <p:cNvPr id="20" name="TextBox 19"/>
          <p:cNvSpPr txBox="1"/>
          <p:nvPr/>
        </p:nvSpPr>
        <p:spPr>
          <a:xfrm>
            <a:off x="6684264"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Gross Profit / Promo</a:t>
            </a:r>
          </a:p>
          <a:p>
            <a:pPr algn="ctr">
              <a:spcAft>
                <a:spcPts val="300"/>
              </a:spcAft>
            </a:pPr>
            <a:r>
              <a:rPr sz="960" b="1" i="0">
                <a:solidFill>
                  <a:srgbClr val="334155"/>
                </a:solidFill>
                <a:latin typeface="Liberation Sans"/>
              </a:rPr>
              <a:t>(30% Margin Sim.)</a:t>
            </a:r>
          </a:p>
        </p:txBody>
      </p:sp>
      <p:sp>
        <p:nvSpPr>
          <p:cNvPr id="21" name="Rounded Rectangle 20"/>
          <p:cNvSpPr/>
          <p:nvPr/>
        </p:nvSpPr>
        <p:spPr>
          <a:xfrm>
            <a:off x="8348471" y="4700016"/>
            <a:ext cx="1609344" cy="1554480"/>
          </a:xfrm>
          <a:prstGeom prst="roundRect">
            <a:avLst>
              <a:gd name="adj" fmla="val 3000"/>
            </a:avLst>
          </a:prstGeom>
          <a:solidFill>
            <a:srgbClr val="FFFFFF"/>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B45309"/>
                </a:solidFill>
                <a:latin typeface="Liberation Sans"/>
              </a:rPr>
              <a:t>31C + 124T</a:t>
            </a:r>
          </a:p>
        </p:txBody>
      </p:sp>
      <p:sp>
        <p:nvSpPr>
          <p:cNvPr id="23" name="TextBox 22"/>
          <p:cNvSpPr txBox="1"/>
          <p:nvPr/>
        </p:nvSpPr>
        <p:spPr>
          <a:xfrm>
            <a:off x="8403336"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80/20 Power (155, ~4w)</a:t>
            </a:r>
          </a:p>
          <a:p>
            <a:pPr algn="ctr">
              <a:spcAft>
                <a:spcPts val="300"/>
              </a:spcAft>
            </a:pPr>
            <a:r>
              <a:rPr sz="960" b="1" i="0">
                <a:solidFill>
                  <a:srgbClr val="334155"/>
                </a:solidFill>
                <a:latin typeface="Liberation Sans"/>
              </a:rPr>
              <a:t>46/arm at 50/50</a:t>
            </a:r>
          </a:p>
        </p:txBody>
      </p:sp>
      <p:sp>
        <p:nvSpPr>
          <p:cNvPr id="24" name="Rounded Rectangle 23"/>
          <p:cNvSpPr/>
          <p:nvPr/>
        </p:nvSpPr>
        <p:spPr>
          <a:xfrm>
            <a:off x="10067544" y="4700016"/>
            <a:ext cx="1609344" cy="155448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4846320"/>
            <a:ext cx="1499616" cy="420624"/>
          </a:xfrm>
          <a:prstGeom prst="rect">
            <a:avLst/>
          </a:prstGeom>
          <a:noFill/>
        </p:spPr>
        <p:txBody>
          <a:bodyPr wrap="square" lIns="36576" rIns="36576" tIns="18288" bIns="18288">
            <a:spAutoFit/>
          </a:bodyPr>
          <a:lstStyle/>
          <a:p>
            <a:pPr algn="ctr">
              <a:spcAft>
                <a:spcPts val="300"/>
              </a:spcAft>
            </a:pPr>
            <a:r>
              <a:rPr sz="1750" b="1" i="0">
                <a:solidFill>
                  <a:srgbClr val="002970"/>
                </a:solidFill>
                <a:latin typeface="Liberation Sans"/>
              </a:rPr>
              <a:t>Rs 5.00</a:t>
            </a:r>
          </a:p>
        </p:txBody>
      </p:sp>
      <p:sp>
        <p:nvSpPr>
          <p:cNvPr id="26" name="TextBox 25"/>
          <p:cNvSpPr txBox="1"/>
          <p:nvPr/>
        </p:nvSpPr>
        <p:spPr>
          <a:xfrm>
            <a:off x="10122408" y="5340096"/>
            <a:ext cx="1499616" cy="786384"/>
          </a:xfrm>
          <a:prstGeom prst="rect">
            <a:avLst/>
          </a:prstGeom>
          <a:noFill/>
        </p:spPr>
        <p:txBody>
          <a:bodyPr wrap="square" lIns="36576" rIns="36576" tIns="18288" bIns="18288">
            <a:spAutoFit/>
          </a:bodyPr>
          <a:lstStyle/>
          <a:p>
            <a:pPr algn="ctr">
              <a:spcAft>
                <a:spcPts val="300"/>
              </a:spcAft>
            </a:pPr>
            <a:r>
              <a:rPr sz="960" b="1" i="0">
                <a:solidFill>
                  <a:srgbClr val="334155"/>
                </a:solidFill>
                <a:latin typeface="Liberation Sans"/>
              </a:rPr>
              <a:t>Cached AI Cost/Mo</a:t>
            </a:r>
          </a:p>
          <a:p>
            <a:pPr algn="ctr">
              <a:spcAft>
                <a:spcPts val="300"/>
              </a:spcAft>
            </a:pPr>
            <a:r>
              <a:rPr sz="960" b="1" i="0">
                <a:solidFill>
                  <a:srgbClr val="334155"/>
                </a:solidFill>
                <a:latin typeface="Liberation Sans"/>
              </a:rPr>
              <a:t>(Rs 28.80 Uncached)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84505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75361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A8 : UNIT ECONOMICS &amp; FEE MATH</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Q2 FY27 ARR Cases, Fee Reconciliation &amp; TTS Cache Sensitivity</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A8 (Slide 13 / 16)</a:t>
            </a:r>
          </a:p>
        </p:txBody>
      </p:sp>
      <p:sp>
        <p:nvSpPr>
          <p:cNvPr id="10" name="Rounded Rectangle 9"/>
          <p:cNvSpPr/>
          <p:nvPr/>
        </p:nvSpPr>
        <p:spPr>
          <a:xfrm>
            <a:off x="502920" y="1298448"/>
            <a:ext cx="5943600" cy="495604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08176"/>
            <a:ext cx="5614416" cy="4754880"/>
          </a:xfrm>
          <a:prstGeom prst="rect">
            <a:avLst/>
          </a:prstGeom>
          <a:noFill/>
        </p:spPr>
        <p:txBody>
          <a:bodyPr wrap="square" lIns="54864" rIns="54864" tIns="36576" bIns="36576">
            <a:spAutoFit/>
          </a:bodyPr>
          <a:lstStyle/>
          <a:p>
            <a:pPr marL="210000" indent="-210000">
              <a:spcAft>
                <a:spcPts val="800"/>
              </a:spcAft>
              <a:buChar char="•"/>
            </a:pPr>
            <a:r>
              <a:rPr sz="1100" b="1">
                <a:solidFill>
                  <a:srgbClr val="002970"/>
                </a:solidFill>
                <a:latin typeface="Liberation Sans"/>
              </a:rPr>
              <a:t>Stream 1 (SaaS - Rs 79/mo): </a:t>
            </a:r>
            <a:r>
              <a:rPr sz="1100" b="0">
                <a:solidFill>
                  <a:srgbClr val="0F172A"/>
                </a:solidFill>
                <a:latin typeface="Liberation Sans"/>
              </a:rPr>
              <a:t>Add-on to Soundbox (~Rs 90-100/mo rental ASSUMPTION) x 8.20L shops (5% of 1.64 Cr Q2 FY27 base) = Rs 77.7 Cr ARR.</a:t>
            </a:r>
          </a:p>
          <a:p>
            <a:pPr marL="210000" indent="-210000">
              <a:spcAft>
                <a:spcPts val="800"/>
              </a:spcAft>
              <a:buChar char="•"/>
            </a:pPr>
            <a:r>
              <a:rPr sz="1100" b="1">
                <a:solidFill>
                  <a:srgbClr val="002970"/>
                </a:solidFill>
                <a:latin typeface="Liberation Sans"/>
              </a:rPr>
              <a:t>Stream 2 (Promo Fee - Rs 102/mo): </a:t>
            </a:r>
            <a:r>
              <a:rPr sz="1100" b="0">
                <a:solidFill>
                  <a:srgbClr val="0F172A"/>
                </a:solidFill>
                <a:latin typeface="Liberation Sans"/>
              </a:rPr>
              <a:t>5% fee on ALL redeemed bills incl. organic returners: 1 wave = Rs 130.50 (Rs 2,610 bills); steady state assumes ~0.78 waves/mo (Rs 2,040/mo bills) = Rs 102/mo (+Rs 100.4 Cr -&gt; Rs 178.1 Cr ARR).</a:t>
            </a:r>
          </a:p>
          <a:p>
            <a:pPr marL="210000" indent="-210000">
              <a:spcAft>
                <a:spcPts val="800"/>
              </a:spcAft>
              <a:buChar char="•"/>
            </a:pPr>
            <a:r>
              <a:rPr sz="1100" b="1">
                <a:solidFill>
                  <a:srgbClr val="002970"/>
                </a:solidFill>
                <a:latin typeface="Liberation Sans"/>
              </a:rPr>
              <a:t>Stream 3 (Credit - Rs 77/mo): </a:t>
            </a:r>
            <a:r>
              <a:rPr sz="1100" b="0">
                <a:solidFill>
                  <a:srgbClr val="0F172A"/>
                </a:solidFill>
                <a:latin typeface="Liberation Sans"/>
              </a:rPr>
              <a:t>Amortized 1.5%-2.5% partner origination uplift (~7% loan pen. ASSUMPTION) -&gt; +Rs 75.8 Cr (Rs 253.9 Cr ARR).</a:t>
            </a:r>
          </a:p>
          <a:p>
            <a:pPr marL="210000" indent="-210000">
              <a:spcAft>
                <a:spcPts val="800"/>
              </a:spcAft>
              <a:buChar char="•"/>
            </a:pPr>
            <a:r>
              <a:rPr sz="1100" b="1">
                <a:solidFill>
                  <a:srgbClr val="002970"/>
                </a:solidFill>
                <a:latin typeface="Liberation Sans"/>
              </a:rPr>
              <a:t>Cached COGS (Rs 48.00/mo): </a:t>
            </a:r>
            <a:r>
              <a:rPr sz="1100" b="0">
                <a:solidFill>
                  <a:srgbClr val="0F172A"/>
                </a:solidFill>
                <a:latin typeface="Liberation Sans"/>
              </a:rPr>
              <a:t>Rs 1.80 SLM + Rs 3.20 TTS (~88% phrase cache hit on Bulbul v3) + Rs 43 msg = 81.4% gross margin.</a:t>
            </a:r>
          </a:p>
          <a:p>
            <a:pPr marL="210000" indent="-210000">
              <a:spcAft>
                <a:spcPts val="800"/>
              </a:spcAft>
              <a:buChar char="•"/>
            </a:pPr>
            <a:r>
              <a:rPr sz="1100" b="1">
                <a:solidFill>
                  <a:srgbClr val="002970"/>
                </a:solidFill>
                <a:latin typeface="Liberation Sans"/>
              </a:rPr>
              <a:t>Uncached COGS (Rs 71.80/mo): </a:t>
            </a:r>
            <a:r>
              <a:rPr sz="1100" b="0">
                <a:solidFill>
                  <a:srgbClr val="0F172A"/>
                </a:solidFill>
                <a:latin typeface="Liberation Sans"/>
              </a:rPr>
              <a:t>Uncached Bulbul v3 (9k chars at Rs 30/10k = Rs 27 TTS) = 72.2% margin (39.2% cached margin on SaaS-only).</a:t>
            </a:r>
          </a:p>
        </p:txBody>
      </p:sp>
      <p:sp>
        <p:nvSpPr>
          <p:cNvPr id="12" name="Rounded Rectangle 11"/>
          <p:cNvSpPr/>
          <p:nvPr/>
        </p:nvSpPr>
        <p:spPr>
          <a:xfrm>
            <a:off x="6629400" y="1298448"/>
            <a:ext cx="5056632" cy="32918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3_three_revenue_cases_q2.png"/>
          <p:cNvPicPr>
            <a:picLocks noChangeAspect="1"/>
          </p:cNvPicPr>
          <p:nvPr/>
        </p:nvPicPr>
        <p:blipFill>
          <a:blip r:embed="rId2"/>
          <a:stretch>
            <a:fillRect/>
          </a:stretch>
        </p:blipFill>
        <p:spPr>
          <a:xfrm>
            <a:off x="6876288" y="1353312"/>
            <a:ext cx="4553712" cy="3050987"/>
          </a:xfrm>
          <a:prstGeom prst="rect">
            <a:avLst/>
          </a:prstGeom>
        </p:spPr>
      </p:pic>
      <p:sp>
        <p:nvSpPr>
          <p:cNvPr id="14" name="Rounded Rectangle 13"/>
          <p:cNvSpPr/>
          <p:nvPr/>
        </p:nvSpPr>
        <p:spPr>
          <a:xfrm>
            <a:off x="6629400" y="4736592"/>
            <a:ext cx="5056632" cy="1517904"/>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4846320"/>
            <a:ext cx="4736592" cy="1298448"/>
          </a:xfrm>
          <a:prstGeom prst="rect">
            <a:avLst/>
          </a:prstGeom>
          <a:noFill/>
        </p:spPr>
        <p:txBody>
          <a:bodyPr wrap="square" lIns="36576" rIns="36576" tIns="18288" bIns="18288">
            <a:spAutoFit/>
          </a:bodyPr>
          <a:lstStyle/>
          <a:p>
            <a:pPr algn="l">
              <a:spcAft>
                <a:spcPts val="300"/>
              </a:spcAft>
            </a:pPr>
            <a:r>
              <a:rPr sz="1060" b="1" i="0">
                <a:solidFill>
                  <a:srgbClr val="FFFFFF"/>
                </a:solidFill>
                <a:latin typeface="Liberation Sans"/>
              </a:rPr>
              <a:t>FEE &amp; BASE RECONCILIATION</a:t>
            </a:r>
          </a:p>
          <a:p>
            <a:pPr algn="l">
              <a:spcAft>
                <a:spcPts val="300"/>
              </a:spcAft>
            </a:pPr>
            <a:r>
              <a:rPr sz="1060" b="1" i="0">
                <a:solidFill>
                  <a:srgbClr val="FFFFFF"/>
                </a:solidFill>
                <a:latin typeface="Liberation Sans"/>
              </a:rPr>
              <a:t>1. Fee Base: 5% applies to gross QR-redeemed promo bills including organic returners.</a:t>
            </a:r>
          </a:p>
          <a:p>
            <a:pPr algn="l">
              <a:spcAft>
                <a:spcPts val="300"/>
              </a:spcAft>
            </a:pPr>
            <a:r>
              <a:rPr sz="1060" b="1" i="0">
                <a:solidFill>
                  <a:srgbClr val="FFFFFF"/>
                </a:solidFill>
                <a:latin typeface="Liberation Sans"/>
              </a:rPr>
              <a:t>2. Cadence: Initial backlog wave yields Rs 130.50; steady replenishment (~0.78 waves/mo) yields Rs 102/mo.</a:t>
            </a:r>
          </a:p>
          <a:p>
            <a:pPr algn="l">
              <a:spcAft>
                <a:spcPts val="300"/>
              </a:spcAft>
            </a:pPr>
            <a:r>
              <a:rPr sz="1060" b="1" i="0">
                <a:solidFill>
                  <a:srgbClr val="FFFFFF"/>
                </a:solidFill>
                <a:latin typeface="Liberation Sans"/>
              </a:rPr>
              <a:t>3. Q2 FY27 Base: 5% x 1.64 Cr = 8.20L shops.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6858000" cy="292608"/>
          </a:xfrm>
          <a:prstGeom prst="rect">
            <a:avLst/>
          </a:prstGeom>
          <a:noFill/>
        </p:spPr>
        <p:txBody>
          <a:bodyPr wrap="square" lIns="36576" rIns="36576" tIns="18288" bIns="18288">
            <a:spAutoFit/>
          </a:bodyPr>
          <a:lstStyle/>
          <a:p>
            <a:pPr algn="l">
              <a:spcAft>
                <a:spcPts val="300"/>
              </a:spcAft>
            </a:pPr>
            <a:r>
              <a:rPr sz="1100" b="1" i="0">
                <a:solidFill>
                  <a:srgbClr val="00BAF2"/>
                </a:solidFill>
                <a:latin typeface="Liberation Sans"/>
              </a:rPr>
              <a:t>APPENDIX A9 : VALIDATION &amp; ROLLOUT ROADMAP</a:t>
            </a:r>
          </a:p>
        </p:txBody>
      </p:sp>
      <p:sp>
        <p:nvSpPr>
          <p:cNvPr id="4" name="TextBox 3"/>
          <p:cNvSpPr txBox="1"/>
          <p:nvPr/>
        </p:nvSpPr>
        <p:spPr>
          <a:xfrm>
            <a:off x="594360" y="777240"/>
            <a:ext cx="10972800" cy="457200"/>
          </a:xfrm>
          <a:prstGeom prst="rect">
            <a:avLst/>
          </a:prstGeom>
          <a:noFill/>
        </p:spPr>
        <p:txBody>
          <a:bodyPr wrap="square" lIns="36576" rIns="36576" tIns="18288" bIns="18288">
            <a:spAutoFit/>
          </a:bodyPr>
          <a:lstStyle/>
          <a:p>
            <a:pPr algn="l">
              <a:spcAft>
                <a:spcPts val="300"/>
              </a:spcAft>
            </a:pPr>
            <a:r>
              <a:rPr sz="2400" b="1" i="0">
                <a:solidFill>
                  <a:srgbClr val="FFFFFF"/>
                </a:solidFill>
                <a:latin typeface="Liberation Sans"/>
              </a:rPr>
              <a:t>From Stage-1 Verified MVP to Powered 50-Store Bengaluru Pilot</a:t>
            </a:r>
          </a:p>
        </p:txBody>
      </p:sp>
      <p:sp>
        <p:nvSpPr>
          <p:cNvPr id="5" name="Rounded Rectangle 4"/>
          <p:cNvSpPr/>
          <p:nvPr/>
        </p:nvSpPr>
        <p:spPr>
          <a:xfrm>
            <a:off x="594360" y="1508760"/>
            <a:ext cx="3520440" cy="352044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A : BUILT &amp; TESTED (STAGE 1)</a:t>
            </a:r>
          </a:p>
        </p:txBody>
      </p:sp>
      <p:sp>
        <p:nvSpPr>
          <p:cNvPr id="7" name="TextBox 6"/>
          <p:cNvSpPr txBox="1"/>
          <p:nvPr/>
        </p:nvSpPr>
        <p:spPr>
          <a:xfrm>
            <a:off x="758952" y="1956816"/>
            <a:ext cx="3200400" cy="329184"/>
          </a:xfrm>
          <a:prstGeom prst="rect">
            <a:avLst/>
          </a:prstGeom>
          <a:noFill/>
        </p:spPr>
        <p:txBody>
          <a:bodyPr wrap="square" lIns="36576" rIns="36576" tIns="18288" bIns="18288">
            <a:spAutoFit/>
          </a:bodyPr>
          <a:lstStyle/>
          <a:p>
            <a:pPr algn="l">
              <a:spcAft>
                <a:spcPts val="300"/>
              </a:spcAft>
            </a:pPr>
            <a:r>
              <a:rPr sz="1420" b="1" i="0">
                <a:solidFill>
                  <a:srgbClr val="FFFFFF"/>
                </a:solidFill>
                <a:latin typeface="Liberation Sans"/>
              </a:rPr>
              <a:t>Deterministic Core &amp; Safeguards</a:t>
            </a:r>
          </a:p>
        </p:txBody>
      </p:sp>
      <p:sp>
        <p:nvSpPr>
          <p:cNvPr id="8" name="TextBox 7"/>
          <p:cNvSpPr txBox="1"/>
          <p:nvPr/>
        </p:nvSpPr>
        <p:spPr>
          <a:xfrm>
            <a:off x="722376" y="2359152"/>
            <a:ext cx="3255264" cy="2514600"/>
          </a:xfrm>
          <a:prstGeom prst="rect">
            <a:avLst/>
          </a:prstGeom>
          <a:noFill/>
        </p:spPr>
        <p:txBody>
          <a:bodyPr wrap="square" lIns="54864" rIns="54864" tIns="36576" bIns="36576">
            <a:spAutoFit/>
          </a:bodyPr>
          <a:lstStyle/>
          <a:p>
            <a:pPr marL="210000" indent="-210000">
              <a:spcAft>
                <a:spcPts val="1000"/>
              </a:spcAft>
              <a:buChar char="•"/>
            </a:pPr>
            <a:r>
              <a:rPr sz="1120">
                <a:solidFill>
                  <a:srgbClr val="E2E8F0"/>
                </a:solidFill>
                <a:latin typeface="Liberation Sans"/>
              </a:rPr>
              <a:t>FastAPI + per-visitor SQLite sandboxes (240 payers, 1,613 scans)</a:t>
            </a:r>
          </a:p>
          <a:p>
            <a:pPr marL="210000" indent="-210000">
              <a:spcAft>
                <a:spcPts val="1000"/>
              </a:spcAft>
              <a:buChar char="•"/>
            </a:pPr>
            <a:r>
              <a:rPr sz="1120">
                <a:solidFill>
                  <a:srgbClr val="E2E8F0"/>
                </a:solidFill>
                <a:latin typeface="Liberation Sans"/>
              </a:rPr>
              <a:t>ITT cap-vs-holdout, &gt;10% alert, 25-thread concurrency &amp; preflight</a:t>
            </a:r>
          </a:p>
          <a:p>
            <a:pPr marL="210000" indent="-210000">
              <a:spcAft>
                <a:spcPts val="1000"/>
              </a:spcAft>
              <a:buChar char="•"/>
            </a:pPr>
            <a:r>
              <a:rPr sz="1120">
                <a:solidFill>
                  <a:srgbClr val="E2E8F0"/>
                </a:solidFill>
                <a:latin typeface="Liberation Sans"/>
              </a:rPr>
              <a:t>Keyless Sarvam mock selftest (30% cap) + banned-jargon lint</a:t>
            </a:r>
          </a:p>
        </p:txBody>
      </p:sp>
      <p:sp>
        <p:nvSpPr>
          <p:cNvPr id="9" name="Rounded Rectangle 8"/>
          <p:cNvSpPr/>
          <p:nvPr/>
        </p:nvSpPr>
        <p:spPr>
          <a:xfrm>
            <a:off x="4343400" y="1508760"/>
            <a:ext cx="3520440" cy="352044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B : DAYS 1 TO 30 PILOT</a:t>
            </a:r>
          </a:p>
        </p:txBody>
      </p:sp>
      <p:sp>
        <p:nvSpPr>
          <p:cNvPr id="11" name="TextBox 10"/>
          <p:cNvSpPr txBox="1"/>
          <p:nvPr/>
        </p:nvSpPr>
        <p:spPr>
          <a:xfrm>
            <a:off x="4507992" y="1956816"/>
            <a:ext cx="3200400" cy="329184"/>
          </a:xfrm>
          <a:prstGeom prst="rect">
            <a:avLst/>
          </a:prstGeom>
          <a:noFill/>
        </p:spPr>
        <p:txBody>
          <a:bodyPr wrap="square" lIns="36576" rIns="36576" tIns="18288" bIns="18288">
            <a:spAutoFit/>
          </a:bodyPr>
          <a:lstStyle/>
          <a:p>
            <a:pPr algn="l">
              <a:spcAft>
                <a:spcPts val="300"/>
              </a:spcAft>
            </a:pPr>
            <a:r>
              <a:rPr sz="1420" b="1" i="0">
                <a:solidFill>
                  <a:srgbClr val="FFFFFF"/>
                </a:solidFill>
                <a:latin typeface="Liberation Sans"/>
              </a:rPr>
              <a:t>Bengaluru 50-Store Validation</a:t>
            </a:r>
          </a:p>
        </p:txBody>
      </p:sp>
      <p:sp>
        <p:nvSpPr>
          <p:cNvPr id="12" name="TextBox 11"/>
          <p:cNvSpPr txBox="1"/>
          <p:nvPr/>
        </p:nvSpPr>
        <p:spPr>
          <a:xfrm>
            <a:off x="4471416" y="2359152"/>
            <a:ext cx="3255264" cy="2514600"/>
          </a:xfrm>
          <a:prstGeom prst="rect">
            <a:avLst/>
          </a:prstGeom>
          <a:noFill/>
        </p:spPr>
        <p:txBody>
          <a:bodyPr wrap="square" lIns="54864" rIns="54864" tIns="36576" bIns="36576">
            <a:spAutoFit/>
          </a:bodyPr>
          <a:lstStyle/>
          <a:p>
            <a:pPr marL="210000" indent="-210000">
              <a:spcAft>
                <a:spcPts val="1000"/>
              </a:spcAft>
              <a:buChar char="•"/>
            </a:pPr>
            <a:r>
              <a:rPr sz="1120">
                <a:solidFill>
                  <a:srgbClr val="E2E8F0"/>
                </a:solidFill>
                <a:latin typeface="Liberation Sans"/>
              </a:rPr>
              <a:t>Complete 3-merchant native Kannada &amp; Hindi teach-back review</a:t>
            </a:r>
          </a:p>
          <a:p>
            <a:pPr marL="210000" indent="-210000">
              <a:spcAft>
                <a:spcPts val="1000"/>
              </a:spcAft>
              <a:buChar char="•"/>
            </a:pPr>
            <a:r>
              <a:rPr sz="1120">
                <a:solidFill>
                  <a:srgbClr val="E2E8F0"/>
                </a:solidFill>
                <a:latin typeface="Liberation Sans"/>
              </a:rPr>
              <a:t>Pool ~4 weekly 80/20 waves (~31C + ~124T = 155; or 46/arm at 50/50)</a:t>
            </a:r>
          </a:p>
          <a:p>
            <a:pPr marL="210000" indent="-210000">
              <a:spcAft>
                <a:spcPts val="1000"/>
              </a:spcAft>
              <a:buChar char="•"/>
            </a:pPr>
            <a:r>
              <a:rPr sz="1120">
                <a:solidFill>
                  <a:srgbClr val="E2E8F0"/>
                </a:solidFill>
                <a:latin typeface="Liberation Sans"/>
              </a:rPr>
              <a:t>Advance only if net merchant profit post-fee &amp; refusals has p &lt; 0.05</a:t>
            </a:r>
          </a:p>
        </p:txBody>
      </p:sp>
      <p:sp>
        <p:nvSpPr>
          <p:cNvPr id="13" name="Rounded Rectangle 12"/>
          <p:cNvSpPr/>
          <p:nvPr/>
        </p:nvSpPr>
        <p:spPr>
          <a:xfrm>
            <a:off x="8092440" y="1508760"/>
            <a:ext cx="3520440" cy="352044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1645920"/>
            <a:ext cx="3200400" cy="274320"/>
          </a:xfrm>
          <a:prstGeom prst="rect">
            <a:avLst/>
          </a:prstGeom>
          <a:noFill/>
        </p:spPr>
        <p:txBody>
          <a:bodyPr wrap="square" lIns="36576" rIns="36576" tIns="18288" bIns="18288">
            <a:spAutoFit/>
          </a:bodyPr>
          <a:lstStyle/>
          <a:p>
            <a:pPr algn="l">
              <a:spcAft>
                <a:spcPts val="300"/>
              </a:spcAft>
            </a:pPr>
            <a:r>
              <a:rPr sz="1019" b="1" i="0">
                <a:solidFill>
                  <a:srgbClr val="00BAF2"/>
                </a:solidFill>
                <a:latin typeface="Liberation Sans"/>
              </a:rPr>
              <a:t>STAGE C : PRODUCTION SCALE</a:t>
            </a:r>
          </a:p>
        </p:txBody>
      </p:sp>
      <p:sp>
        <p:nvSpPr>
          <p:cNvPr id="15" name="TextBox 14"/>
          <p:cNvSpPr txBox="1"/>
          <p:nvPr/>
        </p:nvSpPr>
        <p:spPr>
          <a:xfrm>
            <a:off x="8257031" y="1956816"/>
            <a:ext cx="3200400" cy="329184"/>
          </a:xfrm>
          <a:prstGeom prst="rect">
            <a:avLst/>
          </a:prstGeom>
          <a:noFill/>
        </p:spPr>
        <p:txBody>
          <a:bodyPr wrap="square" lIns="36576" rIns="36576" tIns="18288" bIns="18288">
            <a:spAutoFit/>
          </a:bodyPr>
          <a:lstStyle/>
          <a:p>
            <a:pPr algn="l">
              <a:spcAft>
                <a:spcPts val="300"/>
              </a:spcAft>
            </a:pPr>
            <a:r>
              <a:rPr sz="1420" b="1" i="0">
                <a:solidFill>
                  <a:srgbClr val="FFFFFF"/>
                </a:solidFill>
                <a:latin typeface="Liberation Sans"/>
              </a:rPr>
              <a:t>Paytm Ecosystem Integration</a:t>
            </a:r>
          </a:p>
        </p:txBody>
      </p:sp>
      <p:sp>
        <p:nvSpPr>
          <p:cNvPr id="16" name="TextBox 15"/>
          <p:cNvSpPr txBox="1"/>
          <p:nvPr/>
        </p:nvSpPr>
        <p:spPr>
          <a:xfrm>
            <a:off x="8220456" y="2359152"/>
            <a:ext cx="3255264" cy="2514600"/>
          </a:xfrm>
          <a:prstGeom prst="rect">
            <a:avLst/>
          </a:prstGeom>
          <a:noFill/>
        </p:spPr>
        <p:txBody>
          <a:bodyPr wrap="square" lIns="54864" rIns="54864" tIns="36576" bIns="36576">
            <a:spAutoFit/>
          </a:bodyPr>
          <a:lstStyle/>
          <a:p>
            <a:pPr marL="210000" indent="-210000">
              <a:spcAft>
                <a:spcPts val="1000"/>
              </a:spcAft>
              <a:buChar char="•"/>
            </a:pPr>
            <a:r>
              <a:rPr sz="1120">
                <a:solidFill>
                  <a:srgbClr val="E2E8F0"/>
                </a:solidFill>
                <a:latin typeface="Liberation Sans"/>
              </a:rPr>
              <a:t>Bind Paytm QR dynamic coupon settlement &amp; 4G Soundbox push</a:t>
            </a:r>
          </a:p>
          <a:p>
            <a:pPr marL="210000" indent="-210000">
              <a:spcAft>
                <a:spcPts val="1000"/>
              </a:spcAft>
              <a:buChar char="•"/>
            </a:pPr>
            <a:r>
              <a:rPr sz="1120">
                <a:solidFill>
                  <a:srgbClr val="E2E8F0"/>
                </a:solidFill>
                <a:latin typeface="Liberation Sans"/>
              </a:rPr>
              <a:t>Self-host compact intent models; keep &gt;=88% audio phrase caching</a:t>
            </a:r>
          </a:p>
          <a:p>
            <a:pPr marL="210000" indent="-210000">
              <a:spcAft>
                <a:spcPts val="1000"/>
              </a:spcAft>
              <a:buChar char="•"/>
            </a:pPr>
            <a:r>
              <a:rPr sz="1120">
                <a:solidFill>
                  <a:srgbClr val="E2E8F0"/>
                </a:solidFill>
                <a:latin typeface="Liberation Sans"/>
              </a:rPr>
              <a:t>Scale across 8.20L target stores (Rs 77.7 Cr to Rs 253.9 Cr ARR)</a:t>
            </a:r>
          </a:p>
        </p:txBody>
      </p:sp>
      <p:sp>
        <p:nvSpPr>
          <p:cNvPr id="17" name="Rounded Rectangle 16"/>
          <p:cNvSpPr/>
          <p:nvPr/>
        </p:nvSpPr>
        <p:spPr>
          <a:xfrm>
            <a:off x="594360" y="5257800"/>
            <a:ext cx="11018520" cy="1005840"/>
          </a:xfrm>
          <a:prstGeom prst="roundRect">
            <a:avLst>
              <a:gd name="adj" fmla="val 3000"/>
            </a:avLst>
          </a:prstGeom>
          <a:solidFill>
            <a:srgbClr val="001133"/>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413248"/>
            <a:ext cx="7132320" cy="329184"/>
          </a:xfrm>
          <a:prstGeom prst="rect">
            <a:avLst/>
          </a:prstGeom>
          <a:noFill/>
        </p:spPr>
        <p:txBody>
          <a:bodyPr wrap="square" lIns="36576" rIns="36576" tIns="18288" bIns="18288">
            <a:spAutoFit/>
          </a:bodyPr>
          <a:lstStyle/>
          <a:p>
            <a:pPr algn="l">
              <a:spcAft>
                <a:spcPts val="300"/>
              </a:spcAft>
            </a:pPr>
            <a:r>
              <a:rPr sz="1550" b="1" i="0">
                <a:solidFill>
                  <a:srgbClr val="FFFFFF"/>
                </a:solidFill>
                <a:latin typeface="Liberation Sans"/>
              </a:rPr>
              <a:t>PaytmAI VyaparVoice | Team SemiTechnical (Kevin Joseph)</a:t>
            </a:r>
          </a:p>
        </p:txBody>
      </p:sp>
      <p:sp>
        <p:nvSpPr>
          <p:cNvPr id="19" name="TextBox 18"/>
          <p:cNvSpPr txBox="1"/>
          <p:nvPr/>
        </p:nvSpPr>
        <p:spPr>
          <a:xfrm>
            <a:off x="822960" y="5779008"/>
            <a:ext cx="10515600" cy="310896"/>
          </a:xfrm>
          <a:prstGeom prst="rect">
            <a:avLst/>
          </a:prstGeom>
          <a:noFill/>
        </p:spPr>
        <p:txBody>
          <a:bodyPr wrap="square" lIns="36576" rIns="36576" tIns="18288" bIns="18288">
            <a:spAutoFit/>
          </a:bodyPr>
          <a:lstStyle/>
          <a:p>
            <a:pPr algn="l">
              <a:spcAft>
                <a:spcPts val="300"/>
              </a:spcAft>
            </a:pPr>
            <a:r>
              <a:rPr sz="1150" b="0" i="0">
                <a:solidFill>
                  <a:srgbClr val="00BAF2"/>
                </a:solidFill>
                <a:latin typeface="Liberation Sans"/>
              </a:rPr>
              <a:t>Appendix A9 (Slide 14 / 16) | Live Demo: https://paytmai-vyaparvoice.onrender.com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018787"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92734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A10 : DUAL SCORECARD &amp; COPY LINT</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Merchant Plain-Language View vs Technical Audit View (Task 14)</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A10 (Slide 15 / 16)</a:t>
            </a:r>
          </a:p>
        </p:txBody>
      </p:sp>
      <p:sp>
        <p:nvSpPr>
          <p:cNvPr id="10" name="Rounded Rectangle 9"/>
          <p:cNvSpPr/>
          <p:nvPr/>
        </p:nvSpPr>
        <p:spPr>
          <a:xfrm>
            <a:off x="502920" y="1280160"/>
            <a:ext cx="5440680" cy="333756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074920" cy="292608"/>
          </a:xfrm>
          <a:prstGeom prst="rect">
            <a:avLst/>
          </a:prstGeom>
          <a:noFill/>
        </p:spPr>
        <p:txBody>
          <a:bodyPr wrap="square" lIns="36576" rIns="36576" tIns="18288" bIns="18288">
            <a:spAutoFit/>
          </a:bodyPr>
          <a:lstStyle/>
          <a:p>
            <a:pPr algn="l">
              <a:spcAft>
                <a:spcPts val="300"/>
              </a:spcAft>
            </a:pPr>
            <a:r>
              <a:rPr sz="1250" b="1" i="0">
                <a:solidFill>
                  <a:srgbClr val="059669"/>
                </a:solidFill>
                <a:latin typeface="Liberation Sans"/>
              </a:rPr>
              <a:t>MERCHANT VIEW (ZERO JARGON - LINT VERIFIED)</a:t>
            </a:r>
          </a:p>
        </p:txBody>
      </p:sp>
      <p:sp>
        <p:nvSpPr>
          <p:cNvPr id="12" name="TextBox 11"/>
          <p:cNvSpPr txBox="1"/>
          <p:nvPr/>
        </p:nvSpPr>
        <p:spPr>
          <a:xfrm>
            <a:off x="658368" y="1755648"/>
            <a:ext cx="5120640" cy="2697480"/>
          </a:xfrm>
          <a:prstGeom prst="rect">
            <a:avLst/>
          </a:prstGeom>
          <a:noFill/>
        </p:spPr>
        <p:txBody>
          <a:bodyPr wrap="square" lIns="54864" rIns="54864" tIns="36576" bIns="36576">
            <a:spAutoFit/>
          </a:bodyPr>
          <a:lstStyle/>
          <a:p>
            <a:pPr marL="210000" indent="-210000">
              <a:spcAft>
                <a:spcPts val="800"/>
              </a:spcAft>
              <a:buChar char="•"/>
            </a:pPr>
            <a:r>
              <a:rPr sz="1150" b="1">
                <a:solidFill>
                  <a:srgbClr val="002970"/>
                </a:solidFill>
                <a:latin typeface="Liberation Sans"/>
              </a:rPr>
              <a:t>Plain Outcome Copy: </a:t>
            </a:r>
            <a:r>
              <a:rPr sz="1150" b="0">
                <a:solidFill>
                  <a:srgbClr val="0F172A"/>
                </a:solidFill>
                <a:latin typeface="Liberation Sans"/>
              </a:rPr>
              <a:t>Early check (run ~4 weekly waves to be sure): 12 of 32 customers with an offer came back vs 1 of 8 without.</a:t>
            </a:r>
          </a:p>
          <a:p>
            <a:pPr marL="210000" indent="-210000">
              <a:spcAft>
                <a:spcPts val="800"/>
              </a:spcAft>
              <a:buChar char="•"/>
            </a:pPr>
            <a:r>
              <a:rPr sz="1150" b="1">
                <a:solidFill>
                  <a:srgbClr val="002970"/>
                </a:solidFill>
                <a:latin typeface="Liberation Sans"/>
              </a:rPr>
              <a:t>Clear Spend Stop: </a:t>
            </a:r>
            <a:r>
              <a:rPr sz="1150" b="0">
                <a:solidFill>
                  <a:srgbClr val="0F172A"/>
                </a:solidFill>
                <a:latin typeface="Liberation Sans"/>
              </a:rPr>
              <a:t>Your 300 rupee limit was reached after 12 paid redemptions (0 extra declined in base run).</a:t>
            </a:r>
          </a:p>
          <a:p>
            <a:pPr marL="210000" indent="-210000">
              <a:spcAft>
                <a:spcPts val="800"/>
              </a:spcAft>
              <a:buChar char="•"/>
            </a:pPr>
            <a:r>
              <a:rPr sz="1150" b="1">
                <a:solidFill>
                  <a:srgbClr val="002970"/>
                </a:solidFill>
                <a:latin typeface="Liberation Sans"/>
              </a:rPr>
              <a:t>Estimated Shop Profit: </a:t>
            </a:r>
            <a:r>
              <a:rPr sz="1150" b="0">
                <a:solidFill>
                  <a:srgbClr val="0F172A"/>
                </a:solidFill>
                <a:latin typeface="Liberation Sans"/>
              </a:rPr>
              <a:t>At 30% shop margin, estimated profit is Rs 222 before Paytm fee (Rs 91.50 after 5% fee).</a:t>
            </a:r>
          </a:p>
          <a:p>
            <a:pPr marL="210000" indent="-210000">
              <a:spcAft>
                <a:spcPts val="800"/>
              </a:spcAft>
              <a:buChar char="•"/>
            </a:pPr>
            <a:r>
              <a:rPr sz="1150" b="1">
                <a:solidFill>
                  <a:srgbClr val="002970"/>
                </a:solidFill>
                <a:latin typeface="Liberation Sans"/>
              </a:rPr>
              <a:t>Draft Copy Honesty: </a:t>
            </a:r>
            <a:r>
              <a:rPr sz="1150" b="0">
                <a:solidFill>
                  <a:srgbClr val="0F172A"/>
                </a:solidFill>
                <a:latin typeface="Liberation Sans"/>
              </a:rPr>
              <a:t>Kannada &amp; Hindi carry visible [DRAFT - UNREVIEWED] badges until 3-merchant teach-back sign-off.</a:t>
            </a:r>
          </a:p>
        </p:txBody>
      </p:sp>
      <p:sp>
        <p:nvSpPr>
          <p:cNvPr id="13" name="Rounded Rectangle 12"/>
          <p:cNvSpPr/>
          <p:nvPr/>
        </p:nvSpPr>
        <p:spPr>
          <a:xfrm>
            <a:off x="6172200" y="1280160"/>
            <a:ext cx="5513832" cy="333756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08176"/>
            <a:ext cx="5148072" cy="292608"/>
          </a:xfrm>
          <a:prstGeom prst="rect">
            <a:avLst/>
          </a:prstGeom>
          <a:noFill/>
        </p:spPr>
        <p:txBody>
          <a:bodyPr wrap="square" lIns="36576" rIns="36576" tIns="18288" bIns="18288">
            <a:spAutoFit/>
          </a:bodyPr>
          <a:lstStyle/>
          <a:p>
            <a:pPr algn="l">
              <a:spcAft>
                <a:spcPts val="300"/>
              </a:spcAft>
            </a:pPr>
            <a:r>
              <a:rPr sz="1250" b="1" i="0">
                <a:solidFill>
                  <a:srgbClr val="002970"/>
                </a:solidFill>
                <a:latin typeface="Liberation Sans"/>
              </a:rPr>
              <a:t>TECHNICAL &amp; AUDIT VIEW (ANALYST / JUDGE)</a:t>
            </a:r>
          </a:p>
        </p:txBody>
      </p:sp>
      <p:sp>
        <p:nvSpPr>
          <p:cNvPr id="15" name="TextBox 14"/>
          <p:cNvSpPr txBox="1"/>
          <p:nvPr/>
        </p:nvSpPr>
        <p:spPr>
          <a:xfrm>
            <a:off x="6327648" y="1755648"/>
            <a:ext cx="5193792" cy="2697480"/>
          </a:xfrm>
          <a:prstGeom prst="rect">
            <a:avLst/>
          </a:prstGeom>
          <a:noFill/>
        </p:spPr>
        <p:txBody>
          <a:bodyPr wrap="square" lIns="54864" rIns="54864" tIns="36576" bIns="36576">
            <a:spAutoFit/>
          </a:bodyPr>
          <a:lstStyle/>
          <a:p>
            <a:pPr marL="210000" indent="-210000">
              <a:spcAft>
                <a:spcPts val="800"/>
              </a:spcAft>
              <a:buChar char="•"/>
            </a:pPr>
            <a:r>
              <a:rPr sz="1150" b="1">
                <a:solidFill>
                  <a:srgbClr val="002970"/>
                </a:solidFill>
                <a:latin typeface="Liberation Sans"/>
              </a:rPr>
              <a:t>ITT &amp; Wilson 95% CIs: </a:t>
            </a:r>
            <a:r>
              <a:rPr sz="1150" b="0">
                <a:solidFill>
                  <a:srgbClr val="0F172A"/>
                </a:solidFill>
                <a:latin typeface="Liberation Sans"/>
              </a:rPr>
              <a:t>37.5% [22.9%, 54.8%] vs 12.5% [2.2%, 47.1%]; two-sided Fisher exact p = 0.24.</a:t>
            </a:r>
          </a:p>
          <a:p>
            <a:pPr marL="210000" indent="-210000">
              <a:spcAft>
                <a:spcPts val="800"/>
              </a:spcAft>
              <a:buChar char="•"/>
            </a:pPr>
            <a:r>
              <a:rPr sz="1150" b="1">
                <a:solidFill>
                  <a:srgbClr val="002970"/>
                </a:solidFill>
                <a:latin typeface="Liberation Sans"/>
              </a:rPr>
              <a:t>Power Calculator: </a:t>
            </a:r>
            <a:r>
              <a:rPr sz="1150" b="0">
                <a:solidFill>
                  <a:srgbClr val="0F172A"/>
                </a:solidFill>
                <a:latin typeface="Liberation Sans"/>
              </a:rPr>
              <a:t>80/20 split (r=4): 31C + 124T = 155 (~4 waves); 50/50 split (r=1): 46C + 46T = 92.</a:t>
            </a:r>
          </a:p>
          <a:p>
            <a:pPr marL="210000" indent="-210000">
              <a:spcAft>
                <a:spcPts val="800"/>
              </a:spcAft>
              <a:buChar char="•"/>
            </a:pPr>
            <a:r>
              <a:rPr sz="1150" b="1">
                <a:solidFill>
                  <a:srgbClr val="002970"/>
                </a:solidFill>
                <a:latin typeface="Liberation Sans"/>
              </a:rPr>
              <a:t>Cap Risk &amp; Refusals: </a:t>
            </a:r>
            <a:r>
              <a:rPr sz="1150" b="0">
                <a:solidFill>
                  <a:srgbClr val="0F172A"/>
                </a:solidFill>
                <a:latin typeface="Liberation Sans"/>
              </a:rPr>
              <a:t>Face exposure Rs 800; P(X &gt; 12 | p=0.375) = 42.2% (&gt;10% alert -&gt; suggests Rs 400 cap).</a:t>
            </a:r>
          </a:p>
          <a:p>
            <a:pPr marL="210000" indent="-210000">
              <a:spcAft>
                <a:spcPts val="800"/>
              </a:spcAft>
              <a:buChar char="•"/>
            </a:pPr>
            <a:r>
              <a:rPr sz="1150" b="1">
                <a:solidFill>
                  <a:srgbClr val="002970"/>
                </a:solidFill>
                <a:latin typeface="Liberation Sans"/>
              </a:rPr>
              <a:t>Banned Merchant Terms: </a:t>
            </a:r>
            <a:r>
              <a:rPr sz="1150" b="0">
                <a:solidFill>
                  <a:srgbClr val="0F172A"/>
                </a:solidFill>
                <a:latin typeface="Liberation Sans"/>
              </a:rPr>
              <a:t>Automated regex blocks cohort, holdout, p-value, Fisher, Wilson, ROI, DPDP, RFM, ITT.</a:t>
            </a:r>
          </a:p>
        </p:txBody>
      </p:sp>
      <p:sp>
        <p:nvSpPr>
          <p:cNvPr id="16" name="Rounded Rectangle 15"/>
          <p:cNvSpPr/>
          <p:nvPr/>
        </p:nvSpPr>
        <p:spPr>
          <a:xfrm>
            <a:off x="502920" y="4800600"/>
            <a:ext cx="3602736" cy="1463040"/>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002970"/>
                </a:solidFill>
                <a:latin typeface="Liberation Sans"/>
              </a:rPr>
              <a:t>GRADE A : OBSERVED LEDGER</a:t>
            </a:r>
          </a:p>
        </p:txBody>
      </p:sp>
      <p:sp>
        <p:nvSpPr>
          <p:cNvPr id="18" name="TextBox 17"/>
          <p:cNvSpPr txBox="1"/>
          <p:nvPr/>
        </p:nvSpPr>
        <p:spPr>
          <a:xfrm>
            <a:off x="649224"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SQLite store counts (240 payers, 1,613 scans, 48 silent -&gt; 40 eligible; synthetic seed 20261025).</a:t>
            </a:r>
          </a:p>
        </p:txBody>
      </p:sp>
      <p:sp>
        <p:nvSpPr>
          <p:cNvPr id="19" name="Rounded Rectangle 18"/>
          <p:cNvSpPr/>
          <p:nvPr/>
        </p:nvSpPr>
        <p:spPr>
          <a:xfrm>
            <a:off x="4288536" y="4800600"/>
            <a:ext cx="3602736" cy="1463040"/>
          </a:xfrm>
          <a:prstGeom prst="roundRect">
            <a:avLst>
              <a:gd name="adj" fmla="val 3000"/>
            </a:avLst>
          </a:prstGeom>
          <a:solidFill>
            <a:srgbClr val="FFFFFF"/>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B45309"/>
                </a:solidFill>
                <a:latin typeface="Liberation Sans"/>
              </a:rPr>
              <a:t>GRADE B : SIMULATED ITT</a:t>
            </a:r>
          </a:p>
        </p:txBody>
      </p:sp>
      <p:sp>
        <p:nvSpPr>
          <p:cNvPr id="21" name="TextBox 20"/>
          <p:cNvSpPr txBox="1"/>
          <p:nvPr/>
        </p:nvSpPr>
        <p:spPr>
          <a:xfrm>
            <a:off x="4434840"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Randomized 32 vs 8 split, independent outcome draw, Fisher p &amp; Wilson CIs (simulated).</a:t>
            </a:r>
          </a:p>
        </p:txBody>
      </p:sp>
      <p:sp>
        <p:nvSpPr>
          <p:cNvPr id="22" name="Rounded Rectangle 21"/>
          <p:cNvSpPr/>
          <p:nvPr/>
        </p:nvSpPr>
        <p:spPr>
          <a:xfrm>
            <a:off x="8074152" y="4800600"/>
            <a:ext cx="3602736" cy="1463040"/>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4919472"/>
            <a:ext cx="3310128" cy="274320"/>
          </a:xfrm>
          <a:prstGeom prst="rect">
            <a:avLst/>
          </a:prstGeom>
          <a:noFill/>
        </p:spPr>
        <p:txBody>
          <a:bodyPr wrap="square" lIns="36576" rIns="36576" tIns="18288" bIns="18288">
            <a:spAutoFit/>
          </a:bodyPr>
          <a:lstStyle/>
          <a:p>
            <a:pPr algn="l">
              <a:spcAft>
                <a:spcPts val="300"/>
              </a:spcAft>
            </a:pPr>
            <a:r>
              <a:rPr sz="1120" b="1" i="0">
                <a:solidFill>
                  <a:srgbClr val="059669"/>
                </a:solidFill>
                <a:latin typeface="Liberation Sans"/>
              </a:rPr>
              <a:t>GRADE C : ASSUMPTIONS</a:t>
            </a:r>
          </a:p>
        </p:txBody>
      </p:sp>
      <p:sp>
        <p:nvSpPr>
          <p:cNvPr id="24" name="TextBox 23"/>
          <p:cNvSpPr txBox="1"/>
          <p:nvPr/>
        </p:nvSpPr>
        <p:spPr>
          <a:xfrm>
            <a:off x="8220456" y="5230368"/>
            <a:ext cx="3310128" cy="914400"/>
          </a:xfrm>
          <a:prstGeom prst="rect">
            <a:avLst/>
          </a:prstGeom>
          <a:noFill/>
        </p:spPr>
        <p:txBody>
          <a:bodyPr wrap="square" lIns="36576" rIns="36576" tIns="18288" bIns="18288">
            <a:spAutoFit/>
          </a:bodyPr>
          <a:lstStyle/>
          <a:p>
            <a:pPr algn="l">
              <a:spcAft>
                <a:spcPts val="300"/>
              </a:spcAft>
            </a:pPr>
            <a:r>
              <a:rPr sz="1080" b="0" i="0">
                <a:solidFill>
                  <a:srgbClr val="0F172A"/>
                </a:solidFill>
                <a:latin typeface="Liberation Sans"/>
              </a:rPr>
              <a:t>30% shop gross margin, 5% fee on redeemed bills, ~0.78 waves/mo steady cadence.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105656"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014216"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A11 : CAP LEDGERS &amp; DOSE-RESPONSE</a:t>
            </a:r>
          </a:p>
        </p:txBody>
      </p:sp>
      <p:sp>
        <p:nvSpPr>
          <p:cNvPr id="5" name="TextBox 4"/>
          <p:cNvSpPr txBox="1"/>
          <p:nvPr/>
        </p:nvSpPr>
        <p:spPr>
          <a:xfrm>
            <a:off x="6858000" y="237744"/>
            <a:ext cx="482803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00" b="1" i="0">
                <a:solidFill>
                  <a:srgbClr val="0F172A"/>
                </a:solidFill>
                <a:latin typeface="Liberation Sans"/>
              </a:rPr>
              <a:t>Merchant Spend Stop, Sarvam Credit Cap &amp; Dose-Response Curve</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Traced to results/slide_numbers.md (Paytm Q2 FY27)</a:t>
            </a:r>
          </a:p>
        </p:txBody>
      </p:sp>
      <p:sp>
        <p:nvSpPr>
          <p:cNvPr id="9" name="TextBox 8"/>
          <p:cNvSpPr txBox="1"/>
          <p:nvPr/>
        </p:nvSpPr>
        <p:spPr>
          <a:xfrm>
            <a:off x="9509760" y="6519672"/>
            <a:ext cx="217627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A11 (Slide 16 / 16)</a:t>
            </a:r>
          </a:p>
        </p:txBody>
      </p:sp>
      <p:sp>
        <p:nvSpPr>
          <p:cNvPr id="10" name="Rounded Rectangle 9"/>
          <p:cNvSpPr/>
          <p:nvPr/>
        </p:nvSpPr>
        <p:spPr>
          <a:xfrm>
            <a:off x="502920" y="1280160"/>
            <a:ext cx="5943600"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08176"/>
            <a:ext cx="5614416" cy="4736592"/>
          </a:xfrm>
          <a:prstGeom prst="rect">
            <a:avLst/>
          </a:prstGeom>
          <a:noFill/>
        </p:spPr>
        <p:txBody>
          <a:bodyPr wrap="square" lIns="54864" rIns="54864" tIns="36576" bIns="36576">
            <a:spAutoFit/>
          </a:bodyPr>
          <a:lstStyle/>
          <a:p>
            <a:pPr marL="210000" indent="-210000">
              <a:spcAft>
                <a:spcPts val="1100"/>
              </a:spcAft>
              <a:buChar char="•"/>
            </a:pPr>
            <a:r>
              <a:rPr sz="1200" b="1">
                <a:solidFill>
                  <a:srgbClr val="002970"/>
                </a:solidFill>
                <a:latin typeface="Liberation Sans"/>
              </a:rPr>
              <a:t>Merchant Cashback Stop: </a:t>
            </a:r>
            <a:r>
              <a:rPr sz="1200" b="0">
                <a:solidFill>
                  <a:srgbClr val="0F172A"/>
                </a:solidFill>
                <a:latin typeface="Liberation Sans"/>
              </a:rPr>
              <a:t>Issues passes to all 32 nudged buyers; atomic SQLite lock stops spend at Rs 300 (12 paid) and records cap_reached + refused_redemptions.</a:t>
            </a:r>
          </a:p>
          <a:p>
            <a:pPr marL="210000" indent="-210000">
              <a:spcAft>
                <a:spcPts val="1100"/>
              </a:spcAft>
              <a:buChar char="•"/>
            </a:pPr>
            <a:r>
              <a:rPr sz="1200" b="1">
                <a:solidFill>
                  <a:srgbClr val="002970"/>
                </a:solidFill>
                <a:latin typeface="Liberation Sans"/>
              </a:rPr>
              <a:t>Dose-Response Sweet Spot: </a:t>
            </a:r>
            <a:r>
              <a:rPr sz="1200" b="0">
                <a:solidFill>
                  <a:srgbClr val="0F172A"/>
                </a:solidFill>
                <a:latin typeface="Liberation Sans"/>
              </a:rPr>
              <a:t>In simulation, Rs 25 peaks uncapped profit: offers of Rs 30 to 40 erode uncapped net profit via organic subsidy AND trigger 5 to 8 cap refusals under a Rs 300 stop.</a:t>
            </a:r>
          </a:p>
          <a:p>
            <a:pPr marL="210000" indent="-210000">
              <a:spcAft>
                <a:spcPts val="1100"/>
              </a:spcAft>
              <a:buChar char="•"/>
            </a:pPr>
            <a:r>
              <a:rPr sz="1200" b="1">
                <a:solidFill>
                  <a:srgbClr val="002970"/>
                </a:solidFill>
                <a:latin typeface="Liberation Sans"/>
              </a:rPr>
              <a:t>Shop Margin Break-Even: </a:t>
            </a:r>
            <a:r>
              <a:rPr sz="1200" b="0">
                <a:solidFill>
                  <a:srgbClr val="0F172A"/>
                </a:solidFill>
                <a:latin typeface="Liberation Sans"/>
              </a:rPr>
              <a:t>On CMP-WINBACK-01, store breaks even at 17.2% gross margin pre-fee and 24.7% post-5%-fee; 30% darshini margin nets +Rs 91.50 post-fee.</a:t>
            </a:r>
          </a:p>
          <a:p>
            <a:pPr marL="210000" indent="-210000">
              <a:spcAft>
                <a:spcPts val="1100"/>
              </a:spcAft>
              <a:buChar char="•"/>
            </a:pPr>
            <a:r>
              <a:rPr sz="1200" b="1">
                <a:solidFill>
                  <a:srgbClr val="002970"/>
                </a:solidFill>
                <a:latin typeface="Liberation Sans"/>
              </a:rPr>
              <a:t>Sarvam 30% Credit Ledger: </a:t>
            </a:r>
            <a:r>
              <a:rPr sz="1200" b="0">
                <a:solidFill>
                  <a:srgbClr val="0F172A"/>
                </a:solidFill>
                <a:latin typeface="Liberation Sans"/>
              </a:rPr>
              <a:t>Separate JSON ledger caps TTS &lt;=15% and STT &lt;=15% (30% total of 500 sponsor credits = 150 max) and halts fail-closed on HTTP 402/429/5xx.</a:t>
            </a:r>
          </a:p>
          <a:p>
            <a:pPr marL="210000" indent="-210000">
              <a:spcAft>
                <a:spcPts val="1100"/>
              </a:spcAft>
              <a:buChar char="•"/>
            </a:pPr>
            <a:r>
              <a:rPr sz="1200" b="1">
                <a:solidFill>
                  <a:srgbClr val="002970"/>
                </a:solidFill>
                <a:latin typeface="Liberation Sans"/>
              </a:rPr>
              <a:t>Public Cloud Lock: </a:t>
            </a:r>
            <a:r>
              <a:rPr sz="1200" b="0">
                <a:solidFill>
                  <a:srgbClr val="0F172A"/>
                </a:solidFill>
                <a:latin typeface="Liberation Sans"/>
              </a:rPr>
              <a:t>PUBLIC_DEPLOY=true (auto-enabled on Render) hard-blocks live paid calls while SHA-256 audio cache replays at 0 credits.</a:t>
            </a:r>
          </a:p>
        </p:txBody>
      </p:sp>
      <p:sp>
        <p:nvSpPr>
          <p:cNvPr id="12" name="Rounded Rectangle 11"/>
          <p:cNvSpPr/>
          <p:nvPr/>
        </p:nvSpPr>
        <p:spPr>
          <a:xfrm>
            <a:off x="6629400" y="1280160"/>
            <a:ext cx="5056632" cy="3364992"/>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4_dose_breakeven.png"/>
          <p:cNvPicPr>
            <a:picLocks noChangeAspect="1"/>
          </p:cNvPicPr>
          <p:nvPr/>
        </p:nvPicPr>
        <p:blipFill>
          <a:blip r:embed="rId2"/>
          <a:stretch>
            <a:fillRect/>
          </a:stretch>
        </p:blipFill>
        <p:spPr>
          <a:xfrm>
            <a:off x="6821424" y="1353312"/>
            <a:ext cx="4663440" cy="3154680"/>
          </a:xfrm>
          <a:prstGeom prst="rect">
            <a:avLst/>
          </a:prstGeom>
        </p:spPr>
      </p:pic>
      <p:sp>
        <p:nvSpPr>
          <p:cNvPr id="14" name="Rounded Rectangle 13"/>
          <p:cNvSpPr/>
          <p:nvPr/>
        </p:nvSpPr>
        <p:spPr>
          <a:xfrm>
            <a:off x="6629400" y="4791456"/>
            <a:ext cx="5056632" cy="1472184"/>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4901184"/>
            <a:ext cx="4736592" cy="1261872"/>
          </a:xfrm>
          <a:prstGeom prst="rect">
            <a:avLst/>
          </a:prstGeom>
          <a:noFill/>
        </p:spPr>
        <p:txBody>
          <a:bodyPr wrap="square" lIns="36576" rIns="36576" tIns="18288" bIns="18288">
            <a:spAutoFit/>
          </a:bodyPr>
          <a:lstStyle/>
          <a:p>
            <a:pPr algn="l">
              <a:spcAft>
                <a:spcPts val="300"/>
              </a:spcAft>
            </a:pPr>
            <a:r>
              <a:rPr sz="1100" b="1" i="0">
                <a:solidFill>
                  <a:srgbClr val="FFFFFF"/>
                </a:solidFill>
                <a:latin typeface="Liberation Sans"/>
              </a:rPr>
              <a:t>DUAL CAP SUMMARY (SIMULATED &amp; BUILT)</a:t>
            </a:r>
          </a:p>
          <a:p>
            <a:pPr algn="l">
              <a:spcAft>
                <a:spcPts val="300"/>
              </a:spcAft>
            </a:pPr>
            <a:r>
              <a:rPr sz="1100" b="1" i="0">
                <a:solidFill>
                  <a:srgbClr val="FFFFFF"/>
                </a:solidFill>
                <a:latin typeface="Liberation Sans"/>
              </a:rPr>
              <a:t>1. Merchant Cap: Protects shopkeeper pocket (Rs 300 stop; &gt;10% overrun warning).</a:t>
            </a:r>
          </a:p>
          <a:p>
            <a:pPr algn="l">
              <a:spcAft>
                <a:spcPts val="300"/>
              </a:spcAft>
            </a:pPr>
            <a:r>
              <a:rPr sz="1100" b="1" i="0">
                <a:solidFill>
                  <a:srgbClr val="FFFFFF"/>
                </a:solidFill>
                <a:latin typeface="Liberation Sans"/>
              </a:rPr>
              <a:t>2. Sponsor API Cap: Protects hackathon credits (&lt;=15% TTS, &lt;=15% STT, fail-closed).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