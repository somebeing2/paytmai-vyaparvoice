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I am Kevin Joseph from Team SemiTechnical, presenting PaytmAI VyaparVoice for Track 1, Merchant Growth AI, anchored to Paytm's 26 October 2026 Q2 FY27 earnings release.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highlights our built Stage 2 merchant controls: Repeat and 0.78x Slower counter playback, five plain-language Question Chips, a bounded Cap Editor with two-step voice confirmation, and an atomic 1-tap Stop-Loss.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reflects our completed Stage 2 codebase: the Cap Editor with two-step voice confirmation, live interim Stop-Loss, Guardrail Red-Team Lab, What-If explorer, and Bayesian plus margin-fee sensitivity scorecard.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pairs frequentist Fisher and Wilson readouts with our built Bayesian Beta(1,1) profit posterior: on one 40-customer wave, post-fee profit probability is 52.1 percent with a 95 percent credible interval of minus Rs 19.97 to plus Rs 14.73 per nudged customer, demonstrating why our 50-shop pooled pilot is essential.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presents our reproducible unit_economics.py outputs across 8.20 lakh shops (5 percent of Paytm's 1.64 crore Q2 FY27 merchant base) and our pooled 50-shop stratified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A1 introduces the 13-slide Deck v3 technical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A2 cites Paytm's Q2 FY27 release and separates market assumptions from synthetic store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A3 maps built modules, simulated MVP flows, and planned Paytm hooks across all three Track 1 pillars.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A4 details pass validity terms, late-arrival brand risk, and automated concurrency plus ITT invariance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A5 maps built Stage 1 and Stage 2 modules, pending live Saturday sponsor keys, and planned production hooks.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A6 contrasts VyaparVoice against manual dashboards and unconstrained LLM chatbots.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A7 presents the exact power curve for pooling 50 shops times one wave stratified by 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A8 summarizes results/unit_economics.md generated reproducibly from config/default.yaml and app/stats.py.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A9 states our pooled 50-shop pilot design and strict profit confidence-bound go/no-go decision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A10 summarizes our Merchant View ergonomics, 5-point teach-back protocol, and Technical Audit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A11 shows how our simulated dose-response curve interacts with the Rs 300 spend stop and contrasts the merchant rupee cap against our separate 30 percent Sarvam credit ledger.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A12 documents our Stage 2 Task 9 Cap Editor, two-step voice cap confirmation, live interim readout banner, and atomic SQLite Stop-Loss guard.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A13 shows our built Stage 2 Task 11 Merchant Scorecard: the Beta(1,1) profit posterior, 4-stage Evidence Meter, and 6 by 4 Shop Gross Margin times Paytm Fee sensitivity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19456"/>
            <a:ext cx="3410712" cy="292608"/>
          </a:xfrm>
          <a:prstGeom prst="roundRect">
            <a:avLst>
              <a:gd name="adj" fmla="val 3000"/>
            </a:avLst>
          </a:prstGeom>
          <a:solidFill>
            <a:srgbClr val="E0F7FE"/>
          </a:solidFill>
          <a:ln w="12700">
            <a:solidFill>
              <a:srgbClr val="002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6888"/>
            <a:ext cx="331927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002970"/>
                </a:solidFill>
                <a:latin typeface="Liberation Sans"/>
              </a:rPr>
              <a:t>MAIN 1 / 5 : PROBLEM &amp;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37744"/>
            <a:ext cx="482803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950" b="1" i="0">
                <a:solidFill>
                  <a:srgbClr val="334155"/>
                </a:solidFill>
                <a:latin typeface="Liberation Sans"/>
              </a:rPr>
              <a:t>PaytmAI VyaparVoice | Team SemiTechnical (Kevin Joseph)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11183112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F172A"/>
                </a:solidFill>
                <a:latin typeface="Liberation Sans"/>
              </a:rPr>
              <a:t>1.64 Cr Merchants Pay for Subscriptions; Retention Stays Manual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84124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60" b="0" i="0">
                <a:solidFill>
                  <a:srgbClr val="334155"/>
                </a:solidFill>
                <a:latin typeface="Liberation Sans"/>
              </a:rPr>
              <a:t>Paytm Build for India AI Hackathon (Bengaluru Track 1) | Traced to results/slide_numbers.md &amp; unit_economics.md (Deck v3)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9672"/>
            <a:ext cx="217627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880" b="1" i="0">
                <a:solidFill>
                  <a:srgbClr val="002970"/>
                </a:solidFill>
                <a:latin typeface="Liberation Sans"/>
              </a:rPr>
              <a:t>Main 1 / 5 (Slide 1 / 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188720"/>
            <a:ext cx="6629400" cy="5074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353312"/>
            <a:ext cx="6309360" cy="47548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14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Reported Paytm Scale: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1.64 Cr subscription merchants (+27L YoY), Rs 7.1L Cr GMV, Rs 2,648 Cr revenue (Reported: Paytm Q2 FY27 release, 26 Oct 2026).</a:t>
            </a:r>
          </a:p>
          <a:p>
            <a:pPr marL="210000" indent="-210000">
              <a:spcAft>
                <a:spcPts val="14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Silent Repeat Churn: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Small shops lose an estimated 25% to 35% of repeat buyers yearly without customer-level alerts (Assumption).</a:t>
            </a:r>
          </a:p>
          <a:p>
            <a:pPr marL="210000" indent="-210000">
              <a:spcAft>
                <a:spcPts val="14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Dashboard Friction: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Single-counter operators work 12+ hr shifts; SMB BI dashboards see &lt;8% weekly usage (Assumption).</a:t>
            </a:r>
          </a:p>
          <a:p>
            <a:pPr marL="210000" indent="-210000">
              <a:spcAft>
                <a:spcPts val="14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Slow Hours &amp; Rush Prep: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In our synthetic Bengaluru ledger, 3 to 5 PM scans fall 70% below peak while weekend rushes risk stockouts.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188720"/>
            <a:ext cx="4370832" cy="32186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1_hourly_synthe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2" y="1261872"/>
            <a:ext cx="4224528" cy="283043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315200" y="4553712"/>
            <a:ext cx="4370832" cy="1709928"/>
          </a:xfrm>
          <a:prstGeom prst="roundRect">
            <a:avLst>
              <a:gd name="adj" fmla="val 3000"/>
            </a:avLst>
          </a:prstGeom>
          <a:solidFill>
            <a:srgbClr val="001B4D"/>
          </a:solidFill>
          <a:ln w="15240">
            <a:solidFill>
              <a:srgbClr val="00B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4681728"/>
            <a:ext cx="4041648" cy="1463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FFFFFF"/>
                </a:solidFill>
                <a:latin typeface="Liberation Sans"/>
              </a:rPr>
              <a:t>PaytmAI VyaparVoice (Track 1)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FFFFFF"/>
                </a:solidFill>
                <a:latin typeface="Liberation Sans"/>
              </a:rPr>
              <a:t>8:30 PM closing-time voice retention &amp; ops copilot for Soundbox + Paytm for Business.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FFFFFF"/>
                </a:solidFill>
                <a:latin typeface="Liberation Sans"/>
              </a:rPr>
              <a:t>Team SemiTechnical | Kevin Joseph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19456"/>
            <a:ext cx="3323844" cy="292608"/>
          </a:xfrm>
          <a:prstGeom prst="roundRect">
            <a:avLst>
              <a:gd name="adj" fmla="val 3000"/>
            </a:avLst>
          </a:prstGeom>
          <a:solidFill>
            <a:srgbClr val="E0F7FE"/>
          </a:solidFill>
          <a:ln w="12700">
            <a:solidFill>
              <a:srgbClr val="002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6888"/>
            <a:ext cx="3232404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002970"/>
                </a:solidFill>
                <a:latin typeface="Liberation Sans"/>
              </a:rPr>
              <a:t>MAIN 2 / 5 : SOLUTION &amp;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37744"/>
            <a:ext cx="482803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950" b="1" i="0">
                <a:solidFill>
                  <a:srgbClr val="334155"/>
                </a:solidFill>
                <a:latin typeface="Liberation Sans"/>
              </a:rPr>
              <a:t>PaytmAI VyaparVoice | Team SemiTechnical (Kevin Joseph)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11183112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F172A"/>
                </a:solidFill>
                <a:latin typeface="Liberation Sans"/>
              </a:rPr>
              <a:t>One 8:30 PM Voice Action, Governed by Deterministic SQL Rules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84124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60" b="0" i="0">
                <a:solidFill>
                  <a:srgbClr val="334155"/>
                </a:solidFill>
                <a:latin typeface="Liberation Sans"/>
              </a:rPr>
              <a:t>Paytm Build for India AI Hackathon (Bengaluru Track 1) | Traced to results/slide_numbers.md &amp; unit_economics.md (Deck v3)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9672"/>
            <a:ext cx="217627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880" b="1" i="0">
                <a:solidFill>
                  <a:srgbClr val="002970"/>
                </a:solidFill>
                <a:latin typeface="Liberation Sans"/>
              </a:rPr>
              <a:t>Main 2 / 5 (Slide 2 / 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188720"/>
            <a:ext cx="7178040" cy="5074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316736"/>
            <a:ext cx="6858000" cy="48006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10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Plain Voice &amp; Ergonomics: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EN author-checked, native review pending; KN/HI draft; Repeat, 0.78x Slower, Question Chips &amp; Why? drawers.</a:t>
            </a:r>
          </a:p>
          <a:p>
            <a:pPr marL="210000" indent="-210000">
              <a:spcAft>
                <a:spcPts val="10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Synthetic Store Slice: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Sri Krishna Darshini (240 payers, 1,613 scans); flags 48 regulars silent 16 to 38d.</a:t>
            </a:r>
          </a:p>
          <a:p>
            <a:pPr marL="210000" indent="-210000">
              <a:spcAft>
                <a:spcPts val="10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Policy &amp; 80/20 Split: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Filters to 40 DPDP &amp; 14d-cooldown clear buyers: 32 nudged vs 8 silent control.</a:t>
            </a:r>
          </a:p>
          <a:p>
            <a:pPr marL="210000" indent="-210000">
              <a:spcAft>
                <a:spcPts val="10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Cap Editor &amp; Stop-Loss: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All 32 get Rs 25 pass; Cap Editor (Rs 50-2,500), 2-step voice confirm &amp; 1-tap Stop-Loss protect pocket.</a:t>
            </a:r>
          </a:p>
          <a:p>
            <a:pPr marL="210000" indent="-210000">
              <a:spcAft>
                <a:spcPts val="10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Zero LLM Math: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SQLite computes every rupee; per-visitor cloud sandboxes block paid API calls.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5552" y="1188720"/>
            <a:ext cx="3840480" cy="5074920"/>
          </a:xfrm>
          <a:prstGeom prst="roundRect">
            <a:avLst>
              <a:gd name="adj" fmla="val 3000"/>
            </a:avLst>
          </a:prstGeom>
          <a:solidFill>
            <a:srgbClr val="001B4D"/>
          </a:solidFill>
          <a:ln w="16510">
            <a:solidFill>
              <a:srgbClr val="00B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28431" y="1335024"/>
            <a:ext cx="347472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1" i="0">
                <a:solidFill>
                  <a:srgbClr val="00BAF2"/>
                </a:solidFill>
                <a:latin typeface="Liberation Sans"/>
              </a:rPr>
              <a:t>TRY LIVE SANDBOX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14232" y="1755648"/>
            <a:ext cx="2103120" cy="2103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0B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r_live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2" y="1847088"/>
            <a:ext cx="1920240" cy="1920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973568" y="3968496"/>
            <a:ext cx="3584448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Liberation Sans"/>
              </a:rPr>
              <a:t>https://paytmai-vyaparvoice</a:t>
            </a:r>
          </a:p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Liberation Sans"/>
              </a:rPr>
              <a:t>.onrender.com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4626864"/>
            <a:ext cx="3474720" cy="1463040"/>
          </a:xfrm>
          <a:prstGeom prst="roundRect">
            <a:avLst>
              <a:gd name="adj" fmla="val 3000"/>
            </a:avLst>
          </a:prstGeom>
          <a:solidFill>
            <a:srgbClr val="002970"/>
          </a:solidFill>
          <a:ln w="12700">
            <a:solidFill>
              <a:srgbClr val="00B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4709160"/>
            <a:ext cx="3255264" cy="13167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E0F7FE"/>
                </a:solidFill>
                <a:latin typeface="Liberation Sans"/>
              </a:rPr>
              <a:t>Cloud Safeguards Active:</a:t>
            </a:r>
          </a:p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E0F7FE"/>
                </a:solidFill>
                <a:latin typeface="Liberation Sans"/>
              </a:rPr>
              <a:t>Isolated SQLite per visitor (30m TTL,</a:t>
            </a:r>
          </a:p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E0F7FE"/>
                </a:solidFill>
                <a:latin typeface="Liberation Sans"/>
              </a:rPr>
              <a:t>64-session LRU, 2MB/32MB disk caps).</a:t>
            </a:r>
          </a:p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E0F7FE"/>
                </a:solidFill>
                <a:latin typeface="Liberation Sans"/>
              </a:rPr>
              <a:t>Zero paid API calls on public URL.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19456"/>
            <a:ext cx="4279392" cy="292608"/>
          </a:xfrm>
          <a:prstGeom prst="roundRect">
            <a:avLst>
              <a:gd name="adj" fmla="val 3000"/>
            </a:avLst>
          </a:prstGeom>
          <a:solidFill>
            <a:srgbClr val="E0F7FE"/>
          </a:solidFill>
          <a:ln w="12700">
            <a:solidFill>
              <a:srgbClr val="002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6888"/>
            <a:ext cx="418795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002970"/>
                </a:solidFill>
                <a:latin typeface="Liberation Sans"/>
              </a:rPr>
              <a:t>MAIN 3 / 5 : ARCHITECTURE (BUILT VS PLANNED)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37744"/>
            <a:ext cx="482803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950" b="1" i="0">
                <a:solidFill>
                  <a:srgbClr val="334155"/>
                </a:solidFill>
                <a:latin typeface="Liberation Sans"/>
              </a:rPr>
              <a:t>PaytmAI VyaparVoice | Team SemiTechnical (Kevin Joseph)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11183112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F172A"/>
                </a:solidFill>
                <a:latin typeface="Liberation Sans"/>
              </a:rPr>
              <a:t>Deterministic Core, Cap Controls &amp; Scorecard Built; Rail Hooks Scoped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84124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60" b="0" i="0">
                <a:solidFill>
                  <a:srgbClr val="334155"/>
                </a:solidFill>
                <a:latin typeface="Liberation Sans"/>
              </a:rPr>
              <a:t>Paytm Build for India AI Hackathon (Bengaluru Track 1) | Traced to results/slide_numbers.md &amp; unit_economics.md (Deck v3)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9672"/>
            <a:ext cx="217627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880" b="1" i="0">
                <a:solidFill>
                  <a:srgbClr val="002970"/>
                </a:solidFill>
                <a:latin typeface="Liberation Sans"/>
              </a:rPr>
              <a:t>Main 3 / 5 (Slide 3 / 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188720"/>
            <a:ext cx="11183112" cy="4206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16736"/>
            <a:ext cx="10744200" cy="396849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12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[BUILT] ITT Stats, Cap Editor &amp; Stop-Loss: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Fisher/Wilson/power math, Cap Editor (Rs 50-2,500), 2-step voice confirm, atomic Stop-Loss, What-If &amp; Guardrail Lab.</a:t>
            </a:r>
          </a:p>
          <a:p>
            <a:pPr marL="210000" indent="-210000">
              <a:spcAft>
                <a:spcPts val="12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[BUILT] Bayesian Scorecard &amp; Copy Ergonomics: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Plain verdict, Beta(1,1) profit posterior, 6x4 margin-fee table, Evidence Meter, Repeat/0.78x Slower, banned-jargon lint.</a:t>
            </a:r>
          </a:p>
          <a:p>
            <a:pPr marL="210000" indent="-210000">
              <a:spcAft>
                <a:spcPts val="12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[BUILT KEYLESS / PENDING LIVE] Sarvam &amp; Caps: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Keyless Bulbul TTS + Saaras STT adapter, mock-server selftest, SHA-256 audio cache, 15%/15% (30% max) credit cap.</a:t>
            </a:r>
          </a:p>
          <a:p>
            <a:pPr marL="210000" indent="-210000">
              <a:spcAft>
                <a:spcPts val="12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[PRODUCTION PLAN] Paytm Ecosystem Hooks: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Paytm QR dynamic coupon settlement, 4G Soundbox push audio, WhatsApp Cloud supplier POs, Postgres/Redis.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522976"/>
            <a:ext cx="3602736" cy="749808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397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5577840"/>
            <a:ext cx="3346704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059669"/>
                </a:solidFill>
                <a:latin typeface="Liberation Sans"/>
              </a:rPr>
              <a:t>6-Rule Guardrail Stress 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5806440"/>
            <a:ext cx="3346704" cy="4023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0F172A"/>
                </a:solidFill>
                <a:latin typeface="Liberation Sans"/>
              </a:rPr>
              <a:t>Blocks prompt injection, &gt;22% discounts, unconsented blasts, and holdout removal.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8536" y="5522976"/>
            <a:ext cx="3602736" cy="749808"/>
          </a:xfrm>
          <a:prstGeom prst="roundRect">
            <a:avLst>
              <a:gd name="adj" fmla="val 3000"/>
            </a:avLst>
          </a:prstGeom>
          <a:solidFill>
            <a:srgbClr val="E0F7FE"/>
          </a:solidFill>
          <a:ln w="13970">
            <a:solidFill>
              <a:srgbClr val="002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1" y="5577840"/>
            <a:ext cx="3346704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002970"/>
                </a:solidFill>
                <a:latin typeface="Liberation Sans"/>
              </a:rPr>
              <a:t>Atomic Cap &amp; Stop-Loss Lock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1" y="5806440"/>
            <a:ext cx="3346704" cy="4023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0F172A"/>
                </a:solidFill>
                <a:latin typeface="Liberation Sans"/>
              </a:rPr>
              <a:t>SQLite write locking enforces hard rupee stops and instant 1-tap campaign pause.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4152" y="5522976"/>
            <a:ext cx="3602736" cy="749808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1397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2168" y="5577840"/>
            <a:ext cx="3346704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B45309"/>
                </a:solidFill>
                <a:latin typeface="Liberation Sans"/>
              </a:rPr>
              <a:t>Bounded Visitor Sandboxes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8" y="5806440"/>
            <a:ext cx="3346704" cy="4023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80" b="0" i="0">
                <a:solidFill>
                  <a:srgbClr val="0F172A"/>
                </a:solidFill>
                <a:latin typeface="Liberation Sans"/>
              </a:rPr>
              <a:t>Per-visitor SQLite files enforce 30-min TTL, 64-session LRU eviction, and 32 MB disk cap.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19456"/>
            <a:ext cx="4453128" cy="292608"/>
          </a:xfrm>
          <a:prstGeom prst="roundRect">
            <a:avLst>
              <a:gd name="adj" fmla="val 3000"/>
            </a:avLst>
          </a:prstGeom>
          <a:solidFill>
            <a:srgbClr val="E0F7FE"/>
          </a:solidFill>
          <a:ln w="12700">
            <a:solidFill>
              <a:srgbClr val="002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6888"/>
            <a:ext cx="4361688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002970"/>
                </a:solidFill>
                <a:latin typeface="Liberation Sans"/>
              </a:rPr>
              <a:t>MAIN 4 / 5 : SIMULATED ITT PROOF &amp; PROFIT MATH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37744"/>
            <a:ext cx="482803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950" b="1" i="0">
                <a:solidFill>
                  <a:srgbClr val="334155"/>
                </a:solidFill>
                <a:latin typeface="Liberation Sans"/>
              </a:rPr>
              <a:t>PaytmAI VyaparVoice | Team SemiTechnical (Kevin Joseph)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11183112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F172A"/>
                </a:solidFill>
                <a:latin typeface="Liberation Sans"/>
              </a:rPr>
              <a:t>Intention-to-Treat Holdout, Bayesian Posterior &amp; Net Profit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84124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60" b="0" i="0">
                <a:solidFill>
                  <a:srgbClr val="334155"/>
                </a:solidFill>
                <a:latin typeface="Liberation Sans"/>
              </a:rPr>
              <a:t>Paytm Build for India AI Hackathon (Bengaluru Track 1) | Traced to results/slide_numbers.md &amp; unit_economics.md (Deck v3)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9672"/>
            <a:ext cx="217627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880" b="1" i="0">
                <a:solidFill>
                  <a:srgbClr val="002970"/>
                </a:solidFill>
                <a:latin typeface="Liberation Sans"/>
              </a:rPr>
              <a:t>Main 4 / 5 (Slide 4 / 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188720"/>
            <a:ext cx="6629400" cy="433425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6327648" cy="415137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9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Simulated ITT Return: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12/32 nudged (37.5%) vs 1/8 control (12.5%); Fisher p = 0.24; simulated 12 equals the Rs 300 cap (0 refused).</a:t>
            </a:r>
          </a:p>
          <a:p>
            <a:pPr marL="210000" indent="-210000">
              <a:spcAft>
                <a:spcPts val="9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Bayesian Posterior (n=40):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Beta(1,1) prior: 88.8% P(lift&gt;0), 67.0% P(pre-fee profit&gt;0), 52.1% P(post-fee profit&gt;0); proves 50-shop pool is needed.</a:t>
            </a:r>
          </a:p>
          <a:p>
            <a:pPr marL="210000" indent="-210000">
              <a:spcAft>
                <a:spcPts val="9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Sales vs Subsidy: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8 net visits = Rs 1,740 sales (5.8x sales/promo); 4 organic returners absorb Rs 100 cashback.</a:t>
            </a:r>
          </a:p>
          <a:p>
            <a:pPr marL="210000" indent="-210000">
              <a:spcAft>
                <a:spcPts val="9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Merchant Net Profit: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At 30% margin: Rs 522 GP (1.74x); +Rs 222 pre-fee (+74%), +Rs 91.50 after Rs 130.50 fee.</a:t>
            </a:r>
          </a:p>
          <a:p>
            <a:pPr marL="210000" indent="-210000">
              <a:spcAft>
                <a:spcPts val="9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5% Fee Base: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Rs 130.50 = 5% of all Rs 2,610 redeemed bills (12 bills, including organic returners).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614416"/>
            <a:ext cx="6629400" cy="658368"/>
          </a:xfrm>
          <a:prstGeom prst="roundRect">
            <a:avLst>
              <a:gd name="adj" fmla="val 3000"/>
            </a:avLst>
          </a:prstGeom>
          <a:solidFill>
            <a:srgbClr val="E0F7FE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678424"/>
            <a:ext cx="6364224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002970"/>
                </a:solidFill>
                <a:latin typeface="Liberation Sans"/>
              </a:rPr>
              <a:t>Intention-to-Treat (ITT) Definition: Compares all 32 assigned nudged buyers vs all 8 assigned silent controls regardless of redemption or cap stops, preventing selection bias and keeping lift invariant if the cap binds.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188720"/>
            <a:ext cx="4370832" cy="32186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2_honest_ho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2" y="1261872"/>
            <a:ext cx="4224528" cy="283043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315200" y="4535424"/>
            <a:ext cx="4370832" cy="1737360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1504" y="4626864"/>
            <a:ext cx="4078224" cy="15727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0F172A"/>
                </a:solidFill>
                <a:latin typeface="Liberation Sans"/>
              </a:rPr>
              <a:t>CAP &amp; BREAK-EVEN DISCLOSURE (SIMULATED)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0F172A"/>
                </a:solidFill>
                <a:latin typeface="Liberation Sans"/>
              </a:rPr>
              <a:t>Simulated 12 returners = 12 x Rs 25 = Rs 300 hard spend stop (42.2% overrun risk at p=37.5% triggers &gt;10% alert; suggests Rs 400 cap).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0F172A"/>
                </a:solidFill>
                <a:latin typeface="Liberation Sans"/>
              </a:rPr>
              <a:t>Break-even margin: 17.2% pre-fee | 24.7% post-fee.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0F172A"/>
                </a:solidFill>
                <a:latin typeface="Liberation Sans"/>
              </a:rPr>
              <a:t>Break-even lift (30% margin): +7.8 pp pre | +15.3 pp post.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19456"/>
            <a:ext cx="4105656" cy="292608"/>
          </a:xfrm>
          <a:prstGeom prst="roundRect">
            <a:avLst>
              <a:gd name="adj" fmla="val 3000"/>
            </a:avLst>
          </a:prstGeom>
          <a:solidFill>
            <a:srgbClr val="E0F7FE"/>
          </a:solidFill>
          <a:ln w="12700">
            <a:solidFill>
              <a:srgbClr val="002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6888"/>
            <a:ext cx="4014216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002970"/>
                </a:solidFill>
                <a:latin typeface="Liberation Sans"/>
              </a:rPr>
              <a:t>MAIN 5 / 5 : BUSINESS MODEL &amp; POOLED 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37744"/>
            <a:ext cx="482803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950" b="1" i="0">
                <a:solidFill>
                  <a:srgbClr val="334155"/>
                </a:solidFill>
                <a:latin typeface="Liberation Sans"/>
              </a:rPr>
              <a:t>PaytmAI VyaparVoice | Team SemiTechnical (Kevin Joseph)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11183112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F172A"/>
                </a:solidFill>
                <a:latin typeface="Liberation Sans"/>
              </a:rPr>
              <a:t>Three Revenue Cases (8.20L Shops) &amp; 50-Shop Pooled Pilot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84124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60" b="0" i="0">
                <a:solidFill>
                  <a:srgbClr val="334155"/>
                </a:solidFill>
                <a:latin typeface="Liberation Sans"/>
              </a:rPr>
              <a:t>Paytm Build for India AI Hackathon (Bengaluru Track 1) | Traced to results/slide_numbers.md &amp; unit_economics.md (Deck v3)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9672"/>
            <a:ext cx="217627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880" b="1" i="0">
                <a:solidFill>
                  <a:srgbClr val="002970"/>
                </a:solidFill>
                <a:latin typeface="Liberation Sans"/>
              </a:rPr>
              <a:t>Main 5 / 5 (Slide 5 / 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188720"/>
            <a:ext cx="6629400" cy="433425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6327648" cy="415137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9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Case C (SaaS Only):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Rs 79/mo Soundbox add-on x 8.20L shops = Rs 77.7 Cr ARR (zero promo/credit fees).</a:t>
            </a:r>
          </a:p>
          <a:p>
            <a:pPr marL="210000" indent="-210000">
              <a:spcAft>
                <a:spcPts val="9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Case B (Core Excl. Credit):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+Rs 102/mo steady promo fee (~0.78 waves/mo, Rs 2,040 redeemed bills) = Rs 178.1 Cr ARR.</a:t>
            </a:r>
          </a:p>
          <a:p>
            <a:pPr marL="210000" indent="-210000">
              <a:spcAft>
                <a:spcPts val="9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Case A (Full Base):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+Rs 77/mo credit referral (~7% loan pen. Assumption) = Rs 253.9 Cr ARR.</a:t>
            </a:r>
          </a:p>
          <a:p>
            <a:pPr marL="210000" indent="-210000">
              <a:spcAft>
                <a:spcPts val="9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Unit COGS &amp; Margin: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Rs 48/mo cached (Rs 5 AI + Rs 43 msg; 81.4% margin) vs Rs 71.80 uncached TTS (72.2%).</a:t>
            </a:r>
          </a:p>
          <a:p>
            <a:pPr marL="210000" indent="-210000">
              <a:spcAft>
                <a:spcPts val="900"/>
              </a:spcAft>
              <a:buChar char="•"/>
            </a:pPr>
            <a:r>
              <a:rPr sz="1800" b="1">
                <a:solidFill>
                  <a:srgbClr val="002970"/>
                </a:solidFill>
                <a:latin typeface="Liberation Sans"/>
              </a:rPr>
              <a:t>Pooled 50-Shop Pilot: </a:t>
            </a:r>
            <a:r>
              <a:rPr sz="1800" b="0">
                <a:solidFill>
                  <a:srgbClr val="0F172A"/>
                </a:solidFill>
                <a:latin typeface="Liberation Sans"/>
              </a:rPr>
              <a:t>50 shops x 1 wave (~400C + ~1,600T, stratified by shop): 83.3% power at +6 pp, 97.2% at +8 pp.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614416"/>
            <a:ext cx="6629400" cy="658368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687568"/>
            <a:ext cx="6364224" cy="51206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80" b="1" i="0">
                <a:solidFill>
                  <a:srgbClr val="0F172A"/>
                </a:solidFill>
                <a:latin typeface="Liberation Sans"/>
              </a:rPr>
              <a:t>Why Pool 50 Shops (Not 4 Waves/Shop): 14d cooldown &amp; ~0.78 waves/mo replenishment preclude 4 weekly waves in 1 shop; pooling 50x1 gives 50.3%/68.8%/83.3%/92.5%/97.2%/99.8% power at +4/+5/+6/+7/+8/+10 pp.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188720"/>
            <a:ext cx="4370832" cy="32186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3_three_revenue_cases_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2" y="1261872"/>
            <a:ext cx="4224528" cy="283043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315200" y="4535424"/>
            <a:ext cx="4370832" cy="1737360"/>
          </a:xfrm>
          <a:prstGeom prst="roundRect">
            <a:avLst>
              <a:gd name="adj" fmla="val 3000"/>
            </a:avLst>
          </a:prstGeom>
          <a:solidFill>
            <a:srgbClr val="001B4D"/>
          </a:solidFill>
          <a:ln w="15240">
            <a:solidFill>
              <a:srgbClr val="00B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1504" y="4645152"/>
            <a:ext cx="4078224" cy="15179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Liberation Sans"/>
              </a:rPr>
              <a:t>Q2 FY27 BASE &amp; FEE RECONCILIATION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Liberation Sans"/>
              </a:rPr>
              <a:t>5% of 1.64 Cr subscription merchants (Reported: Paytm Q2 FY27, 26 Oct 2026) = 8.20L shops.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Liberation Sans"/>
              </a:rPr>
              <a:t>1 backlog wave = Rs 130.50 fee; steady state (~0.78 waves/mo) = Rs 102/mo.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411480"/>
            <a:ext cx="7406640" cy="384048"/>
          </a:xfrm>
          <a:prstGeom prst="roundRect">
            <a:avLst>
              <a:gd name="adj" fmla="val 3000"/>
            </a:avLst>
          </a:prstGeom>
          <a:solidFill>
            <a:srgbClr val="002970"/>
          </a:solidFill>
          <a:ln w="12700">
            <a:solidFill>
              <a:srgbClr val="00B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71323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00BAF2"/>
                </a:solidFill>
                <a:latin typeface="Liberation Sans"/>
              </a:rPr>
              <a:t>APPENDIX A1 | TRACK 1: MERCHANT GROWTH AI (STAGE 2 VERIFIED - DECK V3)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7498079" cy="7315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4000" b="1" i="0">
                <a:solidFill>
                  <a:srgbClr val="FFFFFF"/>
                </a:solidFill>
                <a:latin typeface="Liberation Sans"/>
              </a:rPr>
              <a:t>PaytmAI VyaparVoice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20240"/>
            <a:ext cx="7498079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00BAF2"/>
                </a:solidFill>
                <a:latin typeface="Liberation Sans"/>
              </a:rPr>
              <a:t>Closing-Time Voice Growth, Operations &amp; Retention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70048"/>
            <a:ext cx="7498079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CBD5E1"/>
                </a:solidFill>
                <a:latin typeface="Liberation Sans"/>
              </a:rPr>
              <a:t>Built for Paytm's 1.64 Cr subscription-paying merchant deployments (Reported: Paytm Q2 FY27 release, 26 Oct 2026). Includes Cap Editor, 2-step voice confirmation, Stop-Loss, and Bayesian scorecard.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3794760"/>
            <a:ext cx="2377440" cy="1078992"/>
          </a:xfrm>
          <a:prstGeom prst="roundRect">
            <a:avLst>
              <a:gd name="adj" fmla="val 3000"/>
            </a:avLst>
          </a:prstGeom>
          <a:solidFill>
            <a:srgbClr val="002970"/>
          </a:solidFill>
          <a:ln w="12700">
            <a:solidFill>
              <a:srgbClr val="00B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3886200"/>
            <a:ext cx="2157984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80" b="1" i="0">
                <a:solidFill>
                  <a:srgbClr val="FFFFFF"/>
                </a:solidFill>
                <a:latin typeface="Liberation Sans"/>
              </a:rPr>
              <a:t>01 : Voice + Teach-Back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4187952"/>
            <a:ext cx="2157984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BAE6FD"/>
                </a:solidFill>
                <a:latin typeface="Liberation Sans"/>
              </a:rPr>
              <a:t>Repeat, 0.78x Slower, 5 Question Chips &amp; Why? drawers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794760"/>
            <a:ext cx="2377440" cy="1078992"/>
          </a:xfrm>
          <a:prstGeom prst="roundRect">
            <a:avLst>
              <a:gd name="adj" fmla="val 3000"/>
            </a:avLst>
          </a:prstGeom>
          <a:solidFill>
            <a:srgbClr val="002970"/>
          </a:solidFill>
          <a:ln w="12700">
            <a:solidFill>
              <a:srgbClr val="00B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8688" y="3886200"/>
            <a:ext cx="2157984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80" b="1" i="0">
                <a:solidFill>
                  <a:srgbClr val="FFFFFF"/>
                </a:solidFill>
                <a:latin typeface="Liberation Sans"/>
              </a:rPr>
              <a:t>02 : Cap Editor &amp; Stop-Loss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688" y="4187952"/>
            <a:ext cx="2157984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BAE6FD"/>
                </a:solidFill>
                <a:latin typeface="Liberation Sans"/>
              </a:rPr>
              <a:t>Rs 50-2,500 bounds, 2-step voice confirm &amp; 1-tap halt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23560" y="3794760"/>
            <a:ext cx="2377440" cy="1078992"/>
          </a:xfrm>
          <a:prstGeom prst="roundRect">
            <a:avLst>
              <a:gd name="adj" fmla="val 3000"/>
            </a:avLst>
          </a:prstGeom>
          <a:solidFill>
            <a:srgbClr val="002970"/>
          </a:solidFill>
          <a:ln w="12700">
            <a:solidFill>
              <a:srgbClr val="00B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33288" y="3886200"/>
            <a:ext cx="2157984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80" b="1" i="0">
                <a:solidFill>
                  <a:srgbClr val="FFFFFF"/>
                </a:solidFill>
                <a:latin typeface="Liberation Sans"/>
              </a:rPr>
              <a:t>03 : Bayesian Scorecard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33288" y="4187952"/>
            <a:ext cx="2157984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BAE6FD"/>
                </a:solidFill>
                <a:latin typeface="Liberation Sans"/>
              </a:rPr>
              <a:t>Beta(1,1) profit posterior + 6x4 margin-fee table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166360"/>
            <a:ext cx="10972800" cy="1005840"/>
          </a:xfrm>
          <a:prstGeom prst="roundRect">
            <a:avLst>
              <a:gd name="adj" fmla="val 3000"/>
            </a:avLst>
          </a:prstGeom>
          <a:solidFill>
            <a:srgbClr val="001235"/>
          </a:solidFill>
          <a:ln w="12700">
            <a:solidFill>
              <a:srgbClr val="00B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303520"/>
            <a:ext cx="105156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FFFFFF"/>
                </a:solidFill>
                <a:latin typeface="Liberation Sans"/>
              </a:rPr>
              <a:t>TEAM: SemiTechnical | Member: Kevin Joseph | Live: paytmai-vyaparvoice.onrender.com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687568"/>
            <a:ext cx="105156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00BAF2"/>
                </a:solidFill>
                <a:latin typeface="Liberation Sans"/>
              </a:rPr>
              <a:t>Deck v3 Status: Stage 2 verified (stage2-ok); Cap Editor (A12) and Bayesian/Sensitivity Scorecard (A13) added.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19456"/>
            <a:ext cx="3845052" cy="292608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6888"/>
            <a:ext cx="375361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B45309"/>
                </a:solidFill>
                <a:latin typeface="Liberation Sans"/>
              </a:rPr>
              <a:t>APPENDIX A2 : PROBLEM &amp; Q2 FY27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37744"/>
            <a:ext cx="482803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950" b="1" i="0">
                <a:solidFill>
                  <a:srgbClr val="334155"/>
                </a:solidFill>
                <a:latin typeface="Liberation Sans"/>
              </a:rPr>
              <a:t>PaytmAI VyaparVoice | Team SemiTechnical (Kevin Joseph)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11183112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F172A"/>
                </a:solidFill>
                <a:latin typeface="Liberation Sans"/>
              </a:rPr>
              <a:t>Problem Details, Primary Paytm Q2 FY27 Sources &amp; Synthetic Persona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84124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60" b="0" i="0">
                <a:solidFill>
                  <a:srgbClr val="334155"/>
                </a:solidFill>
                <a:latin typeface="Liberation Sans"/>
              </a:rPr>
              <a:t>Paytm Build for India AI Hackathon (Bengaluru Track 1) | Traced to results/slide_numbers.md &amp; unit_economics.md (Deck v3)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9672"/>
            <a:ext cx="217627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880" b="1" i="0">
                <a:solidFill>
                  <a:srgbClr val="002970"/>
                </a:solidFill>
                <a:latin typeface="Liberation Sans"/>
              </a:rPr>
              <a:t>Appendix A2 (Slide 7 / 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897880" cy="1463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55321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02970"/>
                </a:solidFill>
                <a:latin typeface="Liberation Sans"/>
              </a:rPr>
              <a:t>1. Silent Repeat Churn (25% to 35% Yearly - ASSUMPTION)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5321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334155"/>
                </a:solidFill>
                <a:latin typeface="Liberation Sans"/>
              </a:rPr>
              <a:t>Merchants hear isolated payment alerts without customer-level retention tracking, losing repeat buyers before cashflow drops are noticed.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07791"/>
            <a:ext cx="5897880" cy="1463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035808"/>
            <a:ext cx="55321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02970"/>
                </a:solidFill>
                <a:latin typeface="Liberation Sans"/>
              </a:rPr>
              <a:t>2. Dashboard Friction (&lt;8% WAU - ASSUMPTION)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383279"/>
            <a:ext cx="55321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334155"/>
                </a:solidFill>
                <a:latin typeface="Liberation Sans"/>
              </a:rPr>
              <a:t>Counter-operated kirana, darshini, and pharmacy shops lack time to write prompts, export CSVs, or configure CRM rules.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535424"/>
            <a:ext cx="5897880" cy="1463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663440"/>
            <a:ext cx="55321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02970"/>
                </a:solidFill>
                <a:latin typeface="Liberation Sans"/>
              </a:rPr>
              <a:t>3. Slow Hours &amp; Rush Prep (SYNTHETIC STORE)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10912"/>
            <a:ext cx="55321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334155"/>
                </a:solidFill>
                <a:latin typeface="Liberation Sans"/>
              </a:rPr>
              <a:t>In our 60-day synthetic Indiranagar ledger, 3 to 5 PM scans fall 70% below peak while weekend morning rushes risk staple stockouts.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1280160"/>
            <a:ext cx="5102352" cy="3154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1_hourly_synthe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576" y="1335024"/>
            <a:ext cx="4480560" cy="3001975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583680" y="4553712"/>
            <a:ext cx="5102352" cy="1755648"/>
          </a:xfrm>
          <a:prstGeom prst="roundRect">
            <a:avLst>
              <a:gd name="adj" fmla="val 3000"/>
            </a:avLst>
          </a:prstGeom>
          <a:solidFill>
            <a:srgbClr val="001B4D"/>
          </a:solidFill>
          <a:ln w="12700">
            <a:solidFill>
              <a:srgbClr val="00B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11696" y="4645152"/>
            <a:ext cx="4846320" cy="1591056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700"/>
              </a:spcAft>
              <a:buChar char="•"/>
            </a:pPr>
            <a:r>
              <a:rPr sz="1060" b="1">
                <a:solidFill>
                  <a:srgbClr val="00BAF2"/>
                </a:solidFill>
                <a:latin typeface="Liberation Sans"/>
              </a:rPr>
              <a:t>Reported (Paytm Q2 FY27, 26 Oct 2026): </a:t>
            </a:r>
            <a:r>
              <a:rPr sz="1060" b="0">
                <a:solidFill>
                  <a:srgbClr val="FFFFFF"/>
                </a:solidFill>
                <a:latin typeface="Liberation Sans"/>
              </a:rPr>
              <a:t>1.64 Cr subscription-paying merchants, Rs 7.1L Cr merchant GMV, Rs 2,648 Cr operating revenue.</a:t>
            </a:r>
          </a:p>
          <a:p>
            <a:pPr marL="210000" indent="-210000">
              <a:spcAft>
                <a:spcPts val="700"/>
              </a:spcAft>
              <a:buChar char="•"/>
            </a:pPr>
            <a:r>
              <a:rPr sz="1060" b="1">
                <a:solidFill>
                  <a:srgbClr val="00BAF2"/>
                </a:solidFill>
                <a:latin typeface="Liberation Sans"/>
              </a:rPr>
              <a:t>Assumptions vs Synthetic: </a:t>
            </a:r>
            <a:r>
              <a:rPr sz="1060" b="0">
                <a:solidFill>
                  <a:srgbClr val="FFFFFF"/>
                </a:solidFill>
                <a:latin typeface="Liberation Sans"/>
              </a:rPr>
              <a:t>~7% merchant loan pen. &amp; Rs 90-100/mo Soundbox fee (Assumptions); Ramesh Rao store is synthetic (917 scans/30d).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19456"/>
            <a:ext cx="3063240" cy="292608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6888"/>
            <a:ext cx="297180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B45309"/>
                </a:solidFill>
                <a:latin typeface="Liberation Sans"/>
              </a:rPr>
              <a:t>APPENDIX A3 : 3-PILLAR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37744"/>
            <a:ext cx="482803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950" b="1" i="0">
                <a:solidFill>
                  <a:srgbClr val="334155"/>
                </a:solidFill>
                <a:latin typeface="Liberation Sans"/>
              </a:rPr>
              <a:t>PaytmAI VyaparVoice | Team SemiTechnical (Kevin Joseph)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11183112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F172A"/>
                </a:solidFill>
                <a:latin typeface="Liberation Sans"/>
              </a:rPr>
              <a:t>Track 1 Coverage: Growth, Operations, and Customer Recovery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84124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60" b="0" i="0">
                <a:solidFill>
                  <a:srgbClr val="334155"/>
                </a:solidFill>
                <a:latin typeface="Liberation Sans"/>
              </a:rPr>
              <a:t>Paytm Build for India AI Hackathon (Bengaluru Track 1) | Traced to results/slide_numbers.md &amp; unit_economics.md (Deck v3)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9672"/>
            <a:ext cx="217627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880" b="1" i="0">
                <a:solidFill>
                  <a:srgbClr val="002970"/>
                </a:solidFill>
                <a:latin typeface="Liberation Sans"/>
              </a:rPr>
              <a:t>Appendix A3 (Slide 8 / 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3602736" cy="4983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426464"/>
            <a:ext cx="327355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2970"/>
                </a:solidFill>
                <a:latin typeface="Liberation Sans"/>
              </a:rPr>
              <a:t>PILLAR 1 : GROW BUSINESS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700784"/>
            <a:ext cx="3273552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0F172A"/>
                </a:solidFill>
                <a:latin typeface="Liberation Sans"/>
              </a:rPr>
              <a:t>Retention &amp; Slow-Hour Copilot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" y="2121408"/>
            <a:ext cx="3346704" cy="39776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1000"/>
              </a:spcAft>
              <a:buChar char="•"/>
            </a:pPr>
            <a:r>
              <a:rPr sz="1200" b="1">
                <a:solidFill>
                  <a:srgbClr val="002970"/>
                </a:solidFill>
                <a:latin typeface="Liberation Sans"/>
              </a:rPr>
              <a:t>Churn Detection (Built): </a:t>
            </a:r>
            <a:r>
              <a:rPr sz="1200" b="0">
                <a:solidFill>
                  <a:srgbClr val="0F172A"/>
                </a:solidFill>
                <a:latin typeface="Liberation Sans"/>
              </a:rPr>
              <a:t>SQL flags regulars silent 16+ days (16-38d in synthetic DB).</a:t>
            </a:r>
          </a:p>
          <a:p>
            <a:pPr marL="210000" indent="-210000">
              <a:spcAft>
                <a:spcPts val="1000"/>
              </a:spcAft>
              <a:buChar char="•"/>
            </a:pPr>
            <a:r>
              <a:rPr sz="1200" b="1">
                <a:solidFill>
                  <a:srgbClr val="002970"/>
                </a:solidFill>
                <a:latin typeface="Liberation Sans"/>
              </a:rPr>
              <a:t>Slow-Hour Group (Built): </a:t>
            </a:r>
            <a:r>
              <a:rPr sz="1200" b="0">
                <a:solidFill>
                  <a:srgbClr val="0F172A"/>
                </a:solidFill>
                <a:latin typeface="Liberation Sans"/>
              </a:rPr>
              <a:t>Identifies 3-5 PM snack buyers (55 detected, 34 eligible).</a:t>
            </a:r>
          </a:p>
          <a:p>
            <a:pPr marL="210000" indent="-210000">
              <a:spcAft>
                <a:spcPts val="1000"/>
              </a:spcAft>
              <a:buChar char="•"/>
            </a:pPr>
            <a:r>
              <a:rPr sz="1200" b="1">
                <a:solidFill>
                  <a:srgbClr val="002970"/>
                </a:solidFill>
                <a:latin typeface="Liberation Sans"/>
              </a:rPr>
              <a:t>Cap &amp; Stop-Loss (Built): </a:t>
            </a:r>
            <a:r>
              <a:rPr sz="1200" b="0">
                <a:solidFill>
                  <a:srgbClr val="0F172A"/>
                </a:solidFill>
                <a:latin typeface="Liberation Sans"/>
              </a:rPr>
              <a:t>Cap Editor (Rs 50-2,500), 2-step voice confirm &amp; Stop-Loss.</a:t>
            </a:r>
          </a:p>
          <a:p>
            <a:pPr marL="210000" indent="-210000">
              <a:spcAft>
                <a:spcPts val="1000"/>
              </a:spcAft>
              <a:buChar char="•"/>
            </a:pPr>
            <a:r>
              <a:rPr sz="1200" b="1">
                <a:solidFill>
                  <a:srgbClr val="002970"/>
                </a:solidFill>
                <a:latin typeface="Liberation Sans"/>
              </a:rPr>
              <a:t>QR Coupon Hook (Planned): </a:t>
            </a:r>
            <a:r>
              <a:rPr sz="1200" b="0">
                <a:solidFill>
                  <a:srgbClr val="0F172A"/>
                </a:solidFill>
                <a:latin typeface="Liberation Sans"/>
              </a:rPr>
              <a:t>Production hook into Paytm QR redemption rail.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8536" y="1280160"/>
            <a:ext cx="3602736" cy="4983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7" y="1426464"/>
            <a:ext cx="327355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2970"/>
                </a:solidFill>
                <a:latin typeface="Liberation Sans"/>
              </a:rPr>
              <a:t>PILLAR 2 : MANAGE OPERATIONS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7" y="1700784"/>
            <a:ext cx="3273552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0F172A"/>
                </a:solidFill>
                <a:latin typeface="Liberation Sans"/>
              </a:rPr>
              <a:t>Rush Prep &amp; Credit Signals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1" y="2121408"/>
            <a:ext cx="3346704" cy="39776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1000"/>
              </a:spcAft>
              <a:buChar char="•"/>
            </a:pPr>
            <a:r>
              <a:rPr sz="1200" b="1">
                <a:solidFill>
                  <a:srgbClr val="002970"/>
                </a:solidFill>
                <a:latin typeface="Liberation Sans"/>
              </a:rPr>
              <a:t>Rush Alert (Simulated): </a:t>
            </a:r>
            <a:r>
              <a:rPr sz="1200" b="0">
                <a:solidFill>
                  <a:srgbClr val="0F172A"/>
                </a:solidFill>
                <a:latin typeface="Liberation Sans"/>
              </a:rPr>
              <a:t>Flags weekend morning demand spikes from scan history.</a:t>
            </a:r>
          </a:p>
          <a:p>
            <a:pPr marL="210000" indent="-210000">
              <a:spcAft>
                <a:spcPts val="1000"/>
              </a:spcAft>
              <a:buChar char="•"/>
            </a:pPr>
            <a:r>
              <a:rPr sz="1200" b="1">
                <a:solidFill>
                  <a:srgbClr val="002970"/>
                </a:solidFill>
                <a:latin typeface="Liberation Sans"/>
              </a:rPr>
              <a:t>Supplier PO (Simulated): </a:t>
            </a:r>
            <a:r>
              <a:rPr sz="1200" b="0">
                <a:solidFill>
                  <a:srgbClr val="0F172A"/>
                </a:solidFill>
                <a:latin typeface="Liberation Sans"/>
              </a:rPr>
              <a:t>Dispatches pre-filled WhatsApp restock (+18L milk, +12kg batter).</a:t>
            </a:r>
          </a:p>
          <a:p>
            <a:pPr marL="210000" indent="-210000">
              <a:spcAft>
                <a:spcPts val="1000"/>
              </a:spcAft>
              <a:buChar char="•"/>
            </a:pPr>
            <a:r>
              <a:rPr sz="1200" b="1">
                <a:solidFill>
                  <a:srgbClr val="002970"/>
                </a:solidFill>
                <a:latin typeface="Liberation Sans"/>
              </a:rPr>
              <a:t>Dual Ledgers (Built): </a:t>
            </a:r>
            <a:r>
              <a:rPr sz="1200" b="0">
                <a:solidFill>
                  <a:srgbClr val="0F172A"/>
                </a:solidFill>
                <a:latin typeface="Liberation Sans"/>
              </a:rPr>
              <a:t>Separates merchant cashback stop from 30% Sarvam credit cap.</a:t>
            </a:r>
          </a:p>
          <a:p>
            <a:pPr marL="210000" indent="-210000">
              <a:spcAft>
                <a:spcPts val="1000"/>
              </a:spcAft>
              <a:buChar char="•"/>
            </a:pPr>
            <a:r>
              <a:rPr sz="1200" b="1">
                <a:solidFill>
                  <a:srgbClr val="002970"/>
                </a:solidFill>
                <a:latin typeface="Liberation Sans"/>
              </a:rPr>
              <a:t>Credit Signal (Planned): </a:t>
            </a:r>
            <a:r>
              <a:rPr sz="1200" b="0">
                <a:solidFill>
                  <a:srgbClr val="0F172A"/>
                </a:solidFill>
                <a:latin typeface="Liberation Sans"/>
              </a:rPr>
              <a:t>Feeds verified cashflow stability to partner NBFC funnel.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4152" y="1280160"/>
            <a:ext cx="3602736" cy="4983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426464"/>
            <a:ext cx="327355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2970"/>
                </a:solidFill>
                <a:latin typeface="Liberation Sans"/>
              </a:rPr>
              <a:t>PILLAR 3 : SERVE CUSTOMERS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1700784"/>
            <a:ext cx="3273552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0F172A"/>
                </a:solidFill>
                <a:latin typeface="Liberation Sans"/>
              </a:rPr>
              <a:t>Privacy-Safe Service 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2121408"/>
            <a:ext cx="3346704" cy="397763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1000"/>
              </a:spcAft>
              <a:buChar char="•"/>
            </a:pPr>
            <a:r>
              <a:rPr sz="1200" b="1">
                <a:solidFill>
                  <a:srgbClr val="002970"/>
                </a:solidFill>
                <a:latin typeface="Liberation Sans"/>
              </a:rPr>
              <a:t>Delay Tagging (Simulated): </a:t>
            </a:r>
            <a:r>
              <a:rPr sz="1200" b="0">
                <a:solidFill>
                  <a:srgbClr val="0F172A"/>
                </a:solidFill>
                <a:latin typeface="Liberation Sans"/>
              </a:rPr>
              <a:t>Flags peak-hour queue delays and 3-star feedback tags.</a:t>
            </a:r>
          </a:p>
          <a:p>
            <a:pPr marL="210000" indent="-210000">
              <a:spcAft>
                <a:spcPts val="1000"/>
              </a:spcAft>
              <a:buChar char="•"/>
            </a:pPr>
            <a:r>
              <a:rPr sz="1200" b="1">
                <a:solidFill>
                  <a:srgbClr val="002970"/>
                </a:solidFill>
                <a:latin typeface="Liberation Sans"/>
              </a:rPr>
              <a:t>Goodwill Pass (Simulated): </a:t>
            </a:r>
            <a:r>
              <a:rPr sz="1200" b="0">
                <a:solidFill>
                  <a:srgbClr val="0F172A"/>
                </a:solidFill>
                <a:latin typeface="Liberation Sans"/>
              </a:rPr>
              <a:t>1-tap bilingual apology + Rs 30 next-scan coffee voucher.</a:t>
            </a:r>
          </a:p>
          <a:p>
            <a:pPr marL="210000" indent="-210000">
              <a:spcAft>
                <a:spcPts val="1000"/>
              </a:spcAft>
              <a:buChar char="•"/>
            </a:pPr>
            <a:r>
              <a:rPr sz="1200" b="1">
                <a:solidFill>
                  <a:srgbClr val="002970"/>
                </a:solidFill>
                <a:latin typeface="Liberation Sans"/>
              </a:rPr>
              <a:t>Zero PII Leakage (Built): </a:t>
            </a:r>
            <a:r>
              <a:rPr sz="1200" b="0">
                <a:solidFill>
                  <a:srgbClr val="0F172A"/>
                </a:solidFill>
                <a:latin typeface="Liberation Sans"/>
              </a:rPr>
              <a:t>No raw phone numbers or payer IDs ever leave SQLite.</a:t>
            </a:r>
          </a:p>
          <a:p>
            <a:pPr marL="210000" indent="-210000">
              <a:spcAft>
                <a:spcPts val="1000"/>
              </a:spcAft>
              <a:buChar char="•"/>
            </a:pPr>
            <a:r>
              <a:rPr sz="1200" b="1">
                <a:solidFill>
                  <a:srgbClr val="002970"/>
                </a:solidFill>
                <a:latin typeface="Liberation Sans"/>
              </a:rPr>
              <a:t>DPDP &amp; Cooldown (Built): </a:t>
            </a:r>
            <a:r>
              <a:rPr sz="1200" b="0">
                <a:solidFill>
                  <a:srgbClr val="0F172A"/>
                </a:solidFill>
                <a:latin typeface="Liberation Sans"/>
              </a:rPr>
              <a:t>Hard opt-in filter and 14-day per-payer anti-spam cooldown.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19456"/>
            <a:ext cx="3845052" cy="292608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6888"/>
            <a:ext cx="375361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B45309"/>
                </a:solidFill>
                <a:latin typeface="Liberation Sans"/>
              </a:rPr>
              <a:t>APPENDIX A4 : ITT WORKFLOW &amp; SPEND STOP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37744"/>
            <a:ext cx="482803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950" b="1" i="0">
                <a:solidFill>
                  <a:srgbClr val="334155"/>
                </a:solidFill>
                <a:latin typeface="Liberation Sans"/>
              </a:rPr>
              <a:t>PaytmAI VyaparVoice | Team SemiTechnical (Kevin Joseph)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11183112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F172A"/>
                </a:solidFill>
                <a:latin typeface="Liberation Sans"/>
              </a:rPr>
              <a:t>Intention-to-Treat Cap-vs-Holdout &amp; Late-Arrival Handling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84124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60" b="0" i="0">
                <a:solidFill>
                  <a:srgbClr val="334155"/>
                </a:solidFill>
                <a:latin typeface="Liberation Sans"/>
              </a:rPr>
              <a:t>Paytm Build for India AI Hackathon (Bengaluru Track 1) | Traced to results/slide_numbers.md &amp; unit_economics.md (Deck v3)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9672"/>
            <a:ext cx="217627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880" b="1" i="0">
                <a:solidFill>
                  <a:srgbClr val="002970"/>
                </a:solidFill>
                <a:latin typeface="Liberation Sans"/>
              </a:rPr>
              <a:t>Appendix A4 (Slide 9 / 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2670048" cy="29443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002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426464"/>
            <a:ext cx="2414016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002970"/>
                </a:solidFill>
                <a:latin typeface="Liberation Sans"/>
              </a:rPr>
              <a:t>STEP 1 : PASS ISSUANCE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1810512"/>
            <a:ext cx="2414016" cy="23042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80" b="0" i="0">
                <a:solidFill>
                  <a:srgbClr val="0F172A"/>
                </a:solidFill>
                <a:latin typeface="Liberation Sans"/>
              </a:rPr>
              <a:t>Filter 48 -&gt; 40 eligible (80/20: 32 nudged, 8 control). Issue Rs 25 passes ('valid while shop offer budget lasts') to ALL 32 nudged buyers (Rs 800 face).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298448"/>
            <a:ext cx="2670048" cy="29443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002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65576" y="1426464"/>
            <a:ext cx="2414016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002970"/>
                </a:solidFill>
                <a:latin typeface="Liberation Sans"/>
              </a:rPr>
              <a:t>STEP 2 : &gt;10% &amp; 80% ALERTS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1810512"/>
            <a:ext cx="2414016" cy="23042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80" b="0" i="0">
                <a:solidFill>
                  <a:srgbClr val="0F172A"/>
                </a:solidFill>
                <a:latin typeface="Liberation Sans"/>
              </a:rPr>
              <a:t>At approval, P(Binomial(32, 0.375) &gt; 12) = 42.2% (&gt;10% alert -&gt; suggests Rs 400 cap). Live at 80% cap (10/12 paid), prompt merchant 1-tap top-up.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298448"/>
            <a:ext cx="2670048" cy="29443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002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6" y="1426464"/>
            <a:ext cx="2414016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002970"/>
                </a:solidFill>
                <a:latin typeface="Liberation Sans"/>
              </a:rPr>
              <a:t>STEP 3 : INDEPENDENT DRAW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1810512"/>
            <a:ext cx="2414016" cy="23042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80" b="0" i="0">
                <a:solidFill>
                  <a:srgbClr val="0F172A"/>
                </a:solidFill>
                <a:latin typeface="Liberation Sans"/>
              </a:rPr>
              <a:t>48h simulator draws customer return visits independently of max_budget first, then applies atomic BEGIN IMMEDIATE stop at Rs 300 (12 paid).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298448"/>
            <a:ext cx="2670048" cy="29443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002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4856" y="1426464"/>
            <a:ext cx="2414016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002970"/>
                </a:solidFill>
                <a:latin typeface="Liberation Sans"/>
              </a:rPr>
              <a:t>STEP 4 : ITT &amp; DECLINE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4856" y="1810512"/>
            <a:ext cx="2414016" cy="23042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80" b="0" i="0">
                <a:solidFill>
                  <a:srgbClr val="0F172A"/>
                </a:solidFill>
                <a:latin typeface="Liberation Sans"/>
              </a:rPr>
              <a:t>After cap, normal UPI clears, cashback withholds, refused_redemptions + audit_log increment (brand risk tracked). ITT (32 vs 8) stays unchanged.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07408"/>
            <a:ext cx="11183112" cy="1865376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4517136"/>
            <a:ext cx="107899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B45309"/>
                </a:solidFill>
                <a:latin typeface="Liberation Sans"/>
              </a:rPr>
              <a:t>DISCLOSED BRAND RISK &amp; VERIFIED INVARIANCE TESTS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828032"/>
            <a:ext cx="10835640" cy="137160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600"/>
              </a:spcAft>
              <a:buChar char="•"/>
            </a:pPr>
            <a:r>
              <a:rPr sz="1120" b="1">
                <a:solidFill>
                  <a:srgbClr val="002970"/>
                </a:solidFill>
                <a:latin typeface="Liberation Sans"/>
              </a:rPr>
              <a:t>Post-Cap Customer Experience &amp; Brand Risk: </a:t>
            </a:r>
            <a:r>
              <a:rPr sz="1120" b="0">
                <a:solidFill>
                  <a:srgbClr val="0F172A"/>
                </a:solidFill>
                <a:latin typeface="Liberation Sans"/>
              </a:rPr>
              <a:t>Pass terms state 'valid while shop offer budget lasts'; declining a 13th regular still risks counter disappointment, so overrun alerts, 80%-cap top-up prompts, and logged declines are mandatory.</a:t>
            </a:r>
          </a:p>
          <a:p>
            <a:pPr marL="210000" indent="-210000">
              <a:spcAft>
                <a:spcPts val="600"/>
              </a:spcAft>
              <a:buChar char="•"/>
            </a:pPr>
            <a:r>
              <a:rPr sz="1120" b="1">
                <a:solidFill>
                  <a:srgbClr val="002970"/>
                </a:solidFill>
                <a:latin typeface="Liberation Sans"/>
              </a:rPr>
              <a:t>Automated Concurrency &amp; ITT Tests: </a:t>
            </a:r>
            <a:r>
              <a:rPr sz="1120" b="0">
                <a:solidFill>
                  <a:srgbClr val="0F172A"/>
                </a:solidFill>
                <a:latin typeface="Liberation Sans"/>
              </a:rPr>
              <a:t>25-thread simultaneous scan test verifies budget_spent == Rs 300 (12 paid, 13 refused); multi-seed test proves ITT holdout comparison is identical whether cap is Rs 800 or Rs 100.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19456"/>
            <a:ext cx="3323844" cy="292608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6888"/>
            <a:ext cx="3232404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B45309"/>
                </a:solidFill>
                <a:latin typeface="Liberation Sans"/>
              </a:rPr>
              <a:t>APPENDIX A5 :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37744"/>
            <a:ext cx="482803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950" b="1" i="0">
                <a:solidFill>
                  <a:srgbClr val="334155"/>
                </a:solidFill>
                <a:latin typeface="Liberation Sans"/>
              </a:rPr>
              <a:t>PaytmAI VyaparVoice | Team SemiTechnical (Kevin Joseph)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11183112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F172A"/>
                </a:solidFill>
                <a:latin typeface="Liberation Sans"/>
              </a:rPr>
              <a:t>Component Status: Built vs Pending vs Production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84124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60" b="0" i="0">
                <a:solidFill>
                  <a:srgbClr val="334155"/>
                </a:solidFill>
                <a:latin typeface="Liberation Sans"/>
              </a:rPr>
              <a:t>Paytm Build for India AI Hackathon (Bengaluru Track 1) | Traced to results/slide_numbers.md &amp; unit_economics.md (Deck v3)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9672"/>
            <a:ext cx="217627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880" b="1" i="0">
                <a:solidFill>
                  <a:srgbClr val="002970"/>
                </a:solidFill>
                <a:latin typeface="Liberation Sans"/>
              </a:rPr>
              <a:t>Appendix A5 (Slide 10 / 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1183112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2011680" cy="1097280"/>
          </a:xfrm>
          <a:prstGeom prst="rect">
            <a:avLst/>
          </a:prstGeom>
          <a:solidFill>
            <a:srgbClr val="001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645919"/>
            <a:ext cx="17830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Liberation Sans"/>
              </a:rPr>
              <a:t>TOUCHPOINTS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70048" y="1426464"/>
            <a:ext cx="2834640" cy="841248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397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79776" y="1517904"/>
            <a:ext cx="2615184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Liberation Sans"/>
              </a:rPr>
              <a:t>[BUILT] Merchant &amp; Technical View UI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41848" y="1426464"/>
            <a:ext cx="2834640" cy="841248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397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51576" y="1517904"/>
            <a:ext cx="2615184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Liberation Sans"/>
              </a:rPr>
              <a:t>[BUILT] Mic + Fallback Chips + Repeat/0.78x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13648" y="1426464"/>
            <a:ext cx="2834640" cy="841248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23376" y="1517904"/>
            <a:ext cx="2615184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Liberation Sans"/>
              </a:rPr>
              <a:t>[PLANNED] Soundbox 4G Push &amp; WhatsApp Cloud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542032"/>
            <a:ext cx="11183112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542032"/>
            <a:ext cx="2011680" cy="1097280"/>
          </a:xfrm>
          <a:prstGeom prst="rect">
            <a:avLst/>
          </a:prstGeom>
          <a:solidFill>
            <a:srgbClr val="001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2889504"/>
            <a:ext cx="17830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Liberation Sans"/>
              </a:rPr>
              <a:t>VOICE &amp; LLM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70048" y="2670048"/>
            <a:ext cx="2834640" cy="841248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397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79776" y="2761488"/>
            <a:ext cx="2615184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Liberation Sans"/>
              </a:rPr>
              <a:t>[BUILT] Browser Speech + SHA-256 Cache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41848" y="2670048"/>
            <a:ext cx="2834640" cy="841248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1397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51576" y="2761488"/>
            <a:ext cx="2615184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Liberation Sans"/>
              </a:rPr>
              <a:t>[PENDING LIVE] Keyless Sarvam (30% Cap)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13648" y="2670048"/>
            <a:ext cx="2834640" cy="841248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397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23376" y="2761488"/>
            <a:ext cx="2615184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Liberation Sans"/>
              </a:rPr>
              <a:t>[BUILT/OPT] Keyless Local Q&amp;A Guard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785616"/>
            <a:ext cx="11183112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785616"/>
            <a:ext cx="2011680" cy="1097280"/>
          </a:xfrm>
          <a:prstGeom prst="rect">
            <a:avLst/>
          </a:prstGeom>
          <a:solidFill>
            <a:srgbClr val="001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4133088"/>
            <a:ext cx="17830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Liberation Sans"/>
              </a:rPr>
              <a:t>CORE ENGINE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70048" y="3913632"/>
            <a:ext cx="2834640" cy="841248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397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79776" y="4005072"/>
            <a:ext cx="2615184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Liberation Sans"/>
              </a:rPr>
              <a:t>[BUILT] FastAPI + TTL/LRU/Byte Sessions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41848" y="3913632"/>
            <a:ext cx="2834640" cy="841248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397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51576" y="4005072"/>
            <a:ext cx="2615184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Liberation Sans"/>
              </a:rPr>
              <a:t>[BUILT] 6-Rule Guardrail Lab + Cap Editor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13648" y="3913632"/>
            <a:ext cx="2834640" cy="841248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397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23376" y="4005072"/>
            <a:ext cx="2615184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Liberation Sans"/>
              </a:rPr>
              <a:t>[BUILT] ITT + Bayesian + Sensitivity Engine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83112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5029200"/>
            <a:ext cx="2011680" cy="1097280"/>
          </a:xfrm>
          <a:prstGeom prst="rect">
            <a:avLst/>
          </a:prstGeom>
          <a:solidFill>
            <a:srgbClr val="001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1792" y="5376672"/>
            <a:ext cx="17830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Liberation Sans"/>
              </a:rPr>
              <a:t>DATA &amp; OPS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0048" y="5157216"/>
            <a:ext cx="2834640" cy="841248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397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79776" y="5248656"/>
            <a:ext cx="2615184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Liberation Sans"/>
              </a:rPr>
              <a:t>[BUILT] Atomic SQLite Cap &amp; Stop-Loss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41848" y="5157216"/>
            <a:ext cx="2834640" cy="841248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397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51576" y="5248656"/>
            <a:ext cx="2615184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Liberation Sans"/>
              </a:rPr>
              <a:t>[BUILT] Preflight + Unit-Econ Generator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13648" y="5157216"/>
            <a:ext cx="2834640" cy="841248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23376" y="5248656"/>
            <a:ext cx="2615184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Liberation Sans"/>
              </a:rPr>
              <a:t>[PLANNED] PostgreSQL &amp; Redis Cluster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19456"/>
            <a:ext cx="3150108" cy="292608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6888"/>
            <a:ext cx="3058668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B45309"/>
                </a:solidFill>
                <a:latin typeface="Liberation Sans"/>
              </a:rPr>
              <a:t>APPENDIX A6 : POSITIONING (USP)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37744"/>
            <a:ext cx="482803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950" b="1" i="0">
                <a:solidFill>
                  <a:srgbClr val="334155"/>
                </a:solidFill>
                <a:latin typeface="Liberation Sans"/>
              </a:rPr>
              <a:t>PaytmAI VyaparVoice | Team SemiTechnical (Kevin Joseph)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11183112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F172A"/>
                </a:solidFill>
                <a:latin typeface="Liberation Sans"/>
              </a:rPr>
              <a:t>Differentiation vs Manual Khata Apps and Generic Chatbots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84124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60" b="0" i="0">
                <a:solidFill>
                  <a:srgbClr val="334155"/>
                </a:solidFill>
                <a:latin typeface="Liberation Sans"/>
              </a:rPr>
              <a:t>Paytm Build for India AI Hackathon (Bengaluru Track 1) | Traced to results/slide_numbers.md &amp; unit_economics.md (Deck v3)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9672"/>
            <a:ext cx="217627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880" b="1" i="0">
                <a:solidFill>
                  <a:srgbClr val="002970"/>
                </a:solidFill>
                <a:latin typeface="Liberation Sans"/>
              </a:rPr>
              <a:t>Appendix A6 (Slide 11 / 18)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98448"/>
          <a:ext cx="11183112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743200"/>
                <a:gridCol w="2743200"/>
                <a:gridCol w="3547872"/>
              </a:tblGrid>
              <a:tr h="8077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Liberation Sans"/>
                        </a:defRPr>
                      </a:pPr>
                      <a:r>
                        <a:t>Dimension</a:t>
                      </a:r>
                    </a:p>
                  </a:txBody>
                  <a:tcPr anchor="ctr">
                    <a:solidFill>
                      <a:srgbClr val="001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Liberation Sans"/>
                        </a:defRPr>
                      </a:pPr>
                      <a:r>
                        <a:t>Manual BI / Khata Apps</a:t>
                      </a:r>
                    </a:p>
                  </a:txBody>
                  <a:tcPr anchor="ctr">
                    <a:solidFill>
                      <a:srgbClr val="001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Liberation Sans"/>
                        </a:defRPr>
                      </a:pPr>
                      <a:r>
                        <a:t>Generic LLM Chatbots</a:t>
                      </a:r>
                    </a:p>
                  </a:txBody>
                  <a:tcPr anchor="ctr">
                    <a:solidFill>
                      <a:srgbClr val="001B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Liberation Sans"/>
                        </a:defRPr>
                      </a:pPr>
                      <a:r>
                        <a:t>PaytmAI VyaparVoice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120" b="1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Merchant UX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20" b="0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Charts &amp; manual ledger entry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20" b="0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Requires typing business prompts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20" b="1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8:30 PM plain voice + Repeat/0.78x + 1-tap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120" b="1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Customer Graph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20" b="0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Incomplete manual phonebooks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20" b="0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No link to payment history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20" b="1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Paytm QR repeat-payer IDs (synthetic in MVP)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120" b="1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Financial Safety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20" b="0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Manual coupon rules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20" b="0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LLM can invent unsafe offers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20" b="1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6-rule guardrail lock, Cap Editor &amp; Stop-Loss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120" b="1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Privacy (DPDP)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20" b="0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Raw phone lists exposed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20" b="0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Prompt data leakage risk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20" b="1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SQL opt-in filter; zero PII sent to voice/LLM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1120" b="1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Causal Proof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20" b="0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Vanity message counts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20" b="0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No comparison group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20" b="1">
                          <a:solidFill>
                            <a:srgbClr val="0F172A"/>
                          </a:solidFill>
                          <a:latin typeface="Liberation Sans"/>
                        </a:defRPr>
                      </a:pPr>
                      <a:r>
                        <a:t>80/20 ITT + Bayesian posterior + 50-shop pilot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19456"/>
            <a:ext cx="3584448" cy="292608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6888"/>
            <a:ext cx="3493008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B45309"/>
                </a:solidFill>
                <a:latin typeface="Liberation Sans"/>
              </a:rPr>
              <a:t>APPENDIX A7 : POOLED POWER &amp;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37744"/>
            <a:ext cx="482803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950" b="1" i="0">
                <a:solidFill>
                  <a:srgbClr val="334155"/>
                </a:solidFill>
                <a:latin typeface="Liberation Sans"/>
              </a:rPr>
              <a:t>PaytmAI VyaparVoice | Team SemiTechnical (Kevin Joseph)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11183112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F172A"/>
                </a:solidFill>
                <a:latin typeface="Liberation Sans"/>
              </a:rPr>
              <a:t>50-Shop Stratified Power (400C + 1,600T) &amp; Pilot Targets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84124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60" b="0" i="0">
                <a:solidFill>
                  <a:srgbClr val="334155"/>
                </a:solidFill>
                <a:latin typeface="Liberation Sans"/>
              </a:rPr>
              <a:t>Paytm Build for India AI Hackathon (Bengaluru Track 1) | Traced to results/slide_numbers.md &amp; unit_economics.md (Deck v3)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9672"/>
            <a:ext cx="217627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880" b="1" i="0">
                <a:solidFill>
                  <a:srgbClr val="002970"/>
                </a:solidFill>
                <a:latin typeface="Liberation Sans"/>
              </a:rPr>
              <a:t>Appendix A7 (Slide 12 / 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5943600" cy="24871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389888"/>
            <a:ext cx="557784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002970"/>
                </a:solidFill>
                <a:latin typeface="Liberation Sans"/>
              </a:rPr>
              <a:t>POOLED 50-SHOP X 1-WAVE POWER (12.5% BASELINE, ALPHA=0.05)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682496"/>
            <a:ext cx="5623560" cy="202996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500"/>
              </a:spcAft>
              <a:buChar char="•"/>
            </a:pPr>
            <a:r>
              <a:rPr sz="1100" b="1">
                <a:solidFill>
                  <a:srgbClr val="002970"/>
                </a:solidFill>
                <a:latin typeface="Liberation Sans"/>
              </a:rPr>
              <a:t>Why Pool Stores: </a:t>
            </a:r>
            <a:r>
              <a:rPr sz="1100" b="0">
                <a:solidFill>
                  <a:srgbClr val="0F172A"/>
                </a:solidFill>
                <a:latin typeface="Liberation Sans"/>
              </a:rPr>
              <a:t>50 shops x 1 wave (~400C + ~1,600T, stratified by shop); avoids claiming 1 shop runs 4 waves in 4w under a 14d cooldown (~0.78 waves/mo).</a:t>
            </a:r>
          </a:p>
          <a:p>
            <a:pPr marL="210000" indent="-210000">
              <a:spcAft>
                <a:spcPts val="500"/>
              </a:spcAft>
              <a:buChar char="•"/>
            </a:pPr>
            <a:r>
              <a:rPr sz="1100" b="1">
                <a:solidFill>
                  <a:srgbClr val="002970"/>
                </a:solidFill>
                <a:latin typeface="Liberation Sans"/>
              </a:rPr>
              <a:t>Exact Power Curve: </a:t>
            </a:r>
            <a:r>
              <a:rPr sz="1100" b="0">
                <a:solidFill>
                  <a:srgbClr val="0F172A"/>
                </a:solidFill>
                <a:latin typeface="Liberation Sans"/>
              </a:rPr>
              <a:t>+4 pp: 50.3% | +5 pp: 68.8% | +6 pp: 83.3% | +7 pp: 92.5% | +8 pp: 97.2% | +10 pp: 99.8%.</a:t>
            </a:r>
          </a:p>
          <a:p>
            <a:pPr marL="210000" indent="-210000">
              <a:spcAft>
                <a:spcPts val="500"/>
              </a:spcAft>
              <a:buChar char="•"/>
            </a:pPr>
            <a:r>
              <a:rPr sz="1100" b="1">
                <a:solidFill>
                  <a:srgbClr val="002970"/>
                </a:solidFill>
                <a:latin typeface="Liberation Sans"/>
              </a:rPr>
              <a:t>Break-Even Lift: </a:t>
            </a:r>
            <a:r>
              <a:rPr sz="1100" b="0">
                <a:solidFill>
                  <a:srgbClr val="0F172A"/>
                </a:solidFill>
                <a:latin typeface="Liberation Sans"/>
              </a:rPr>
              <a:t>+7.8 pp pre-fee (20.3%) and +15.3 pp post-5%-fee (27.8% at 30% shop margin; &gt;99.9% power).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913632"/>
            <a:ext cx="5943600" cy="235000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005072"/>
            <a:ext cx="557784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059669"/>
                </a:solidFill>
                <a:latin typeface="Liberation Sans"/>
              </a:rPr>
              <a:t>ECOSYSTEM HYPOTHESES (UNVALIDATED PILOT TARGETS)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97680"/>
            <a:ext cx="5623560" cy="1874519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500"/>
              </a:spcAft>
              <a:buChar char="•"/>
            </a:pPr>
            <a:r>
              <a:rPr sz="1100" b="1">
                <a:solidFill>
                  <a:srgbClr val="002970"/>
                </a:solidFill>
                <a:latin typeface="Liberation Sans"/>
              </a:rPr>
              <a:t>Repeat &amp; Waste Targets: </a:t>
            </a:r>
            <a:r>
              <a:rPr sz="1100" b="0">
                <a:solidFill>
                  <a:srgbClr val="0F172A"/>
                </a:solidFill>
                <a:latin typeface="Liberation Sans"/>
              </a:rPr>
              <a:t>+14% to +22% repeat visits; -18% afternoon perishable loss (PILOT TARGETS).</a:t>
            </a:r>
          </a:p>
          <a:p>
            <a:pPr marL="210000" indent="-210000">
              <a:spcAft>
                <a:spcPts val="500"/>
              </a:spcAft>
              <a:buChar char="•"/>
            </a:pPr>
            <a:r>
              <a:rPr sz="1100" b="1">
                <a:solidFill>
                  <a:srgbClr val="002970"/>
                </a:solidFill>
                <a:latin typeface="Liberation Sans"/>
              </a:rPr>
              <a:t>Device &amp; QR Share: </a:t>
            </a:r>
            <a:r>
              <a:rPr sz="1100" b="0">
                <a:solidFill>
                  <a:srgbClr val="0F172A"/>
                </a:solidFill>
                <a:latin typeface="Liberation Sans"/>
              </a:rPr>
              <a:t>-35% Soundbox churn; +12% to +15% store Paytm QR GMV lift (PILOT TARGETS).</a:t>
            </a:r>
          </a:p>
          <a:p>
            <a:pPr marL="210000" indent="-210000">
              <a:spcAft>
                <a:spcPts val="500"/>
              </a:spcAft>
              <a:buChar char="•"/>
            </a:pPr>
            <a:r>
              <a:rPr sz="1100" b="1">
                <a:solidFill>
                  <a:srgbClr val="002970"/>
                </a:solidFill>
                <a:latin typeface="Liberation Sans"/>
              </a:rPr>
              <a:t>Credit Funnel: </a:t>
            </a:r>
            <a:r>
              <a:rPr sz="1100" b="0">
                <a:solidFill>
                  <a:srgbClr val="0F172A"/>
                </a:solidFill>
                <a:latin typeface="Liberation Sans"/>
              </a:rPr>
              <a:t>Expand ~7% merchant loan pen. (ASSUMPTION) toward 15% (LONG-TERM TARGET).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29400" y="1298448"/>
            <a:ext cx="5056632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5_pooled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1353312"/>
            <a:ext cx="4553712" cy="3050987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629400" y="4700016"/>
            <a:ext cx="1609344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84264" y="4846320"/>
            <a:ext cx="1499616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750" b="1" i="0">
                <a:solidFill>
                  <a:srgbClr val="059669"/>
                </a:solidFill>
                <a:latin typeface="Liberation Sans"/>
              </a:rPr>
              <a:t>83.3%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4264" y="5340096"/>
            <a:ext cx="1499616" cy="7863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60" b="1" i="0">
                <a:solidFill>
                  <a:srgbClr val="334155"/>
                </a:solidFill>
                <a:latin typeface="Liberation Sans"/>
              </a:rPr>
              <a:t>Power at +6 pp Lift</a:t>
            </a:r>
          </a:p>
          <a:p>
            <a:pPr algn="ctr">
              <a:spcAft>
                <a:spcPts val="300"/>
              </a:spcAft>
            </a:pPr>
            <a:r>
              <a:rPr sz="960" b="1" i="0">
                <a:solidFill>
                  <a:srgbClr val="334155"/>
                </a:solidFill>
                <a:latin typeface="Liberation Sans"/>
              </a:rPr>
              <a:t>(400C + 1,600T)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48471" y="4700016"/>
            <a:ext cx="1609344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651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03336" y="4846320"/>
            <a:ext cx="1499616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750" b="1" i="0">
                <a:solidFill>
                  <a:srgbClr val="B45309"/>
                </a:solidFill>
                <a:latin typeface="Liberation Sans"/>
              </a:rPr>
              <a:t>+15.3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3336" y="5340096"/>
            <a:ext cx="1499616" cy="7863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60" b="1" i="0">
                <a:solidFill>
                  <a:srgbClr val="334155"/>
                </a:solidFill>
                <a:latin typeface="Liberation Sans"/>
              </a:rPr>
              <a:t>Post-Fee Break-Even</a:t>
            </a:r>
          </a:p>
          <a:p>
            <a:pPr algn="ctr">
              <a:spcAft>
                <a:spcPts val="300"/>
              </a:spcAft>
            </a:pPr>
            <a:r>
              <a:rPr sz="960" b="1" i="0">
                <a:solidFill>
                  <a:srgbClr val="334155"/>
                </a:solidFill>
                <a:latin typeface="Liberation Sans"/>
              </a:rPr>
              <a:t>(+7.8 pp Pre-Fee)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67544" y="4700016"/>
            <a:ext cx="1609344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6510">
            <a:solidFill>
              <a:srgbClr val="002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22408" y="4846320"/>
            <a:ext cx="1499616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750" b="1" i="0">
                <a:solidFill>
                  <a:srgbClr val="002970"/>
                </a:solidFill>
                <a:latin typeface="Liberation Sans"/>
              </a:rPr>
              <a:t>Rs 5.00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22408" y="5340096"/>
            <a:ext cx="1499616" cy="7863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60" b="1" i="0">
                <a:solidFill>
                  <a:srgbClr val="334155"/>
                </a:solidFill>
                <a:latin typeface="Liberation Sans"/>
              </a:rPr>
              <a:t>Cached AI Cost/Mo</a:t>
            </a:r>
          </a:p>
          <a:p>
            <a:pPr algn="ctr">
              <a:spcAft>
                <a:spcPts val="300"/>
              </a:spcAft>
            </a:pPr>
            <a:r>
              <a:rPr sz="960" b="1" i="0">
                <a:solidFill>
                  <a:srgbClr val="334155"/>
                </a:solidFill>
                <a:latin typeface="Liberation Sans"/>
              </a:rPr>
              <a:t>(Rs 28.80 Uncached)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19456"/>
            <a:ext cx="3845052" cy="292608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6888"/>
            <a:ext cx="375361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B45309"/>
                </a:solidFill>
                <a:latin typeface="Liberation Sans"/>
              </a:rPr>
              <a:t>APPENDIX A8 : UNIT ECONOMICS &amp; FEE MATH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37744"/>
            <a:ext cx="482803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950" b="1" i="0">
                <a:solidFill>
                  <a:srgbClr val="334155"/>
                </a:solidFill>
                <a:latin typeface="Liberation Sans"/>
              </a:rPr>
              <a:t>PaytmAI VyaparVoice | Team SemiTechnical (Kevin Joseph)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11183112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F172A"/>
                </a:solidFill>
                <a:latin typeface="Liberation Sans"/>
              </a:rPr>
              <a:t>Q2 FY27 ARR Cases, Fee Reconciliation &amp; TTS Cache Sensitivity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84124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60" b="0" i="0">
                <a:solidFill>
                  <a:srgbClr val="334155"/>
                </a:solidFill>
                <a:latin typeface="Liberation Sans"/>
              </a:rPr>
              <a:t>Paytm Build for India AI Hackathon (Bengaluru Track 1) | Traced to results/slide_numbers.md &amp; unit_economics.md (Deck v3)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9672"/>
            <a:ext cx="217627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880" b="1" i="0">
                <a:solidFill>
                  <a:srgbClr val="002970"/>
                </a:solidFill>
                <a:latin typeface="Liberation Sans"/>
              </a:rPr>
              <a:t>Appendix A8 (Slide 13 / 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5943600" cy="49560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408176"/>
            <a:ext cx="5614416" cy="47548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900"/>
              </a:spcAft>
              <a:buChar char="•"/>
            </a:pPr>
            <a:r>
              <a:rPr sz="1120" b="1">
                <a:solidFill>
                  <a:srgbClr val="002970"/>
                </a:solidFill>
                <a:latin typeface="Liberation Sans"/>
              </a:rPr>
              <a:t>Stream 1 (SaaS - Rs 79/mo): </a:t>
            </a:r>
            <a:r>
              <a:rPr sz="1120" b="0">
                <a:solidFill>
                  <a:srgbClr val="0F172A"/>
                </a:solidFill>
                <a:latin typeface="Liberation Sans"/>
              </a:rPr>
              <a:t>Add-on to Soundbox (~Rs 90-100/mo rental ASSUMPTION) x 8.20L shops (5% of 1.64 Cr Q2 FY27 base) = Rs 77.7 Cr ARR.</a:t>
            </a:r>
          </a:p>
          <a:p>
            <a:pPr marL="210000" indent="-210000">
              <a:spcAft>
                <a:spcPts val="900"/>
              </a:spcAft>
              <a:buChar char="•"/>
            </a:pPr>
            <a:r>
              <a:rPr sz="1120" b="1">
                <a:solidFill>
                  <a:srgbClr val="002970"/>
                </a:solidFill>
                <a:latin typeface="Liberation Sans"/>
              </a:rPr>
              <a:t>Stream 2 (Promo Fee - Rs 102/mo): </a:t>
            </a:r>
            <a:r>
              <a:rPr sz="1120" b="0">
                <a:solidFill>
                  <a:srgbClr val="0F172A"/>
                </a:solidFill>
                <a:latin typeface="Liberation Sans"/>
              </a:rPr>
              <a:t>5% fee on ALL redeemed bills incl. organic returners: 1 wave = Rs 130.50 (Rs 2,610 bills); steady state assumes ~0.78 waves/mo (Rs 2,040/mo bills) = Rs 102/mo (+Rs 100.4 Cr -&gt; Rs 178.1 Cr ARR).</a:t>
            </a:r>
          </a:p>
          <a:p>
            <a:pPr marL="210000" indent="-210000">
              <a:spcAft>
                <a:spcPts val="900"/>
              </a:spcAft>
              <a:buChar char="•"/>
            </a:pPr>
            <a:r>
              <a:rPr sz="1120" b="1">
                <a:solidFill>
                  <a:srgbClr val="002970"/>
                </a:solidFill>
                <a:latin typeface="Liberation Sans"/>
              </a:rPr>
              <a:t>Stream 3 (Credit - Rs 77/mo): </a:t>
            </a:r>
            <a:r>
              <a:rPr sz="1120" b="0">
                <a:solidFill>
                  <a:srgbClr val="0F172A"/>
                </a:solidFill>
                <a:latin typeface="Liberation Sans"/>
              </a:rPr>
              <a:t>Amortized 1.5%-2.5% partner origination uplift (~7% loan pen. ASSUMPTION) -&gt; +Rs 75.8 Cr (Rs 253.9 Cr ARR).</a:t>
            </a:r>
          </a:p>
          <a:p>
            <a:pPr marL="210000" indent="-210000">
              <a:spcAft>
                <a:spcPts val="900"/>
              </a:spcAft>
              <a:buChar char="•"/>
            </a:pPr>
            <a:r>
              <a:rPr sz="1120" b="1">
                <a:solidFill>
                  <a:srgbClr val="002970"/>
                </a:solidFill>
                <a:latin typeface="Liberation Sans"/>
              </a:rPr>
              <a:t>Cached COGS (Rs 48.00/mo): </a:t>
            </a:r>
            <a:r>
              <a:rPr sz="1120" b="0">
                <a:solidFill>
                  <a:srgbClr val="0F172A"/>
                </a:solidFill>
                <a:latin typeface="Liberation Sans"/>
              </a:rPr>
              <a:t>Rs 1.80 SLM + Rs 3.20 TTS (~88% phrase cache hit on Bulbul v3) + Rs 43 msg = 81.4% gross margin.</a:t>
            </a:r>
          </a:p>
          <a:p>
            <a:pPr marL="210000" indent="-210000">
              <a:spcAft>
                <a:spcPts val="900"/>
              </a:spcAft>
              <a:buChar char="•"/>
            </a:pPr>
            <a:r>
              <a:rPr sz="1120" b="1">
                <a:solidFill>
                  <a:srgbClr val="002970"/>
                </a:solidFill>
                <a:latin typeface="Liberation Sans"/>
              </a:rPr>
              <a:t>Uncached COGS (Rs 71.80/mo): </a:t>
            </a:r>
            <a:r>
              <a:rPr sz="1120" b="0">
                <a:solidFill>
                  <a:srgbClr val="0F172A"/>
                </a:solidFill>
                <a:latin typeface="Liberation Sans"/>
              </a:rPr>
              <a:t>Uncached Bulbul v3 (9k chars at Rs 30/10k = Rs 27 TTS) = 72.2% margin (39.2% cached margin on SaaS-only).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1298448"/>
            <a:ext cx="5056632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3_three_revenue_cases_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1353312"/>
            <a:ext cx="4553712" cy="305098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629400" y="4736592"/>
            <a:ext cx="5056632" cy="1517904"/>
          </a:xfrm>
          <a:prstGeom prst="roundRect">
            <a:avLst>
              <a:gd name="adj" fmla="val 3000"/>
            </a:avLst>
          </a:prstGeom>
          <a:solidFill>
            <a:srgbClr val="001B4D"/>
          </a:solidFill>
          <a:ln w="12700">
            <a:solidFill>
              <a:srgbClr val="00B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4846320"/>
            <a:ext cx="4736592" cy="1298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60" b="1" i="0">
                <a:solidFill>
                  <a:srgbClr val="FFFFFF"/>
                </a:solidFill>
                <a:latin typeface="Liberation Sans"/>
              </a:rPr>
              <a:t>REPRODUCIBLE SCRIPT (scripts/unit_economics.py)</a:t>
            </a:r>
          </a:p>
          <a:p>
            <a:pPr algn="l">
              <a:spcAft>
                <a:spcPts val="300"/>
              </a:spcAft>
            </a:pPr>
            <a:r>
              <a:rPr sz="1060" b="1" i="0">
                <a:solidFill>
                  <a:srgbClr val="FFFFFF"/>
                </a:solidFill>
                <a:latin typeface="Liberation Sans"/>
              </a:rPr>
              <a:t>1. Fee Base: 5% applies to gross QR-redeemed promo bills including organic returners.</a:t>
            </a:r>
          </a:p>
          <a:p>
            <a:pPr algn="l">
              <a:spcAft>
                <a:spcPts val="300"/>
              </a:spcAft>
            </a:pPr>
            <a:r>
              <a:rPr sz="1060" b="1" i="0">
                <a:solidFill>
                  <a:srgbClr val="FFFFFF"/>
                </a:solidFill>
                <a:latin typeface="Liberation Sans"/>
              </a:rPr>
              <a:t>2. Cadence: Initial backlog wave yields Rs 130.50; steady replenishment (~0.78 waves/mo) yields Rs 102/mo.</a:t>
            </a:r>
          </a:p>
          <a:p>
            <a:pPr algn="l">
              <a:spcAft>
                <a:spcPts val="300"/>
              </a:spcAft>
            </a:pPr>
            <a:r>
              <a:rPr sz="1060" b="1" i="0">
                <a:solidFill>
                  <a:srgbClr val="FFFFFF"/>
                </a:solidFill>
                <a:latin typeface="Liberation Sans"/>
              </a:rPr>
              <a:t>3. Q2 FY27 Base: 5% x 1.64 Cr = 8.20L shops.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00BAF2"/>
                </a:solidFill>
                <a:latin typeface="Liberation Sans"/>
              </a:rPr>
              <a:t>APPENDIX A9 : VALIDATION &amp; GO / NO-GO DECISION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 i="0">
                <a:solidFill>
                  <a:srgbClr val="FFFFFF"/>
                </a:solidFill>
                <a:latin typeface="Liberation Sans"/>
              </a:rPr>
              <a:t>From Verified Stage 2 MVP to Pooled 50-Shop Stratified 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3520440" cy="3547872"/>
          </a:xfrm>
          <a:prstGeom prst="roundRect">
            <a:avLst>
              <a:gd name="adj" fmla="val 3000"/>
            </a:avLst>
          </a:prstGeom>
          <a:solidFill>
            <a:srgbClr val="002970"/>
          </a:solidFill>
          <a:ln w="15240">
            <a:solidFill>
              <a:srgbClr val="00B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645920"/>
            <a:ext cx="3200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b="1" i="0">
                <a:solidFill>
                  <a:srgbClr val="00BAF2"/>
                </a:solidFill>
                <a:latin typeface="Liberation Sans"/>
              </a:rPr>
              <a:t>STAGE A : BUILT &amp; VERIFIED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956816"/>
            <a:ext cx="32004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Liberation Sans"/>
              </a:rPr>
              <a:t>Deterministic Core &amp; Stage 2 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340864"/>
            <a:ext cx="3255264" cy="2578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900"/>
              </a:spcAft>
              <a:buChar char="•"/>
            </a:pPr>
            <a:r>
              <a:rPr sz="1080">
                <a:solidFill>
                  <a:srgbClr val="E2E8F0"/>
                </a:solidFill>
                <a:latin typeface="Liberation Sans"/>
              </a:rPr>
              <a:t>Bounded visitor SQLite sandboxes (204 KB/visitor; 55 MB peak RSS)</a:t>
            </a:r>
          </a:p>
          <a:p>
            <a:pPr marL="210000" indent="-210000">
              <a:spcAft>
                <a:spcPts val="900"/>
              </a:spcAft>
              <a:buChar char="•"/>
            </a:pPr>
            <a:r>
              <a:rPr sz="1080">
                <a:solidFill>
                  <a:srgbClr val="E2E8F0"/>
                </a:solidFill>
                <a:latin typeface="Liberation Sans"/>
              </a:rPr>
              <a:t>Cap Editor (Rs 50-2,500), 2-step voice confirm, Stop-Loss &amp; Guardrail Lab</a:t>
            </a:r>
          </a:p>
          <a:p>
            <a:pPr marL="210000" indent="-210000">
              <a:spcAft>
                <a:spcPts val="900"/>
              </a:spcAft>
              <a:buChar char="•"/>
            </a:pPr>
            <a:r>
              <a:rPr sz="1080">
                <a:solidFill>
                  <a:srgbClr val="E2E8F0"/>
                </a:solidFill>
                <a:latin typeface="Liberation Sans"/>
              </a:rPr>
              <a:t>Bayesian profit posterior, 6x4 sensitivity matrix &amp; 5-point teach-back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508760"/>
            <a:ext cx="3520440" cy="3547872"/>
          </a:xfrm>
          <a:prstGeom prst="roundRect">
            <a:avLst>
              <a:gd name="adj" fmla="val 3000"/>
            </a:avLst>
          </a:prstGeom>
          <a:solidFill>
            <a:srgbClr val="002970"/>
          </a:solidFill>
          <a:ln w="15240">
            <a:solidFill>
              <a:srgbClr val="00B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07992" y="1645920"/>
            <a:ext cx="3200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b="1" i="0">
                <a:solidFill>
                  <a:srgbClr val="00BAF2"/>
                </a:solidFill>
                <a:latin typeface="Liberation Sans"/>
              </a:rPr>
              <a:t>STAGE B : POOLED 50-SHOP 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1956816"/>
            <a:ext cx="32004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Liberation Sans"/>
              </a:rPr>
              <a:t>Stratified Single-Wave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1416" y="2340864"/>
            <a:ext cx="3255264" cy="2578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900"/>
              </a:spcAft>
              <a:buChar char="•"/>
            </a:pPr>
            <a:r>
              <a:rPr sz="1080">
                <a:solidFill>
                  <a:srgbClr val="E2E8F0"/>
                </a:solidFill>
                <a:latin typeface="Liberation Sans"/>
              </a:rPr>
              <a:t>3-merchant counter teach-back across EN (author-checked), KN &amp; HI (draft)</a:t>
            </a:r>
          </a:p>
          <a:p>
            <a:pPr marL="210000" indent="-210000">
              <a:spcAft>
                <a:spcPts val="900"/>
              </a:spcAft>
              <a:buChar char="•"/>
            </a:pPr>
            <a:r>
              <a:rPr sz="1080">
                <a:solidFill>
                  <a:srgbClr val="E2E8F0"/>
                </a:solidFill>
                <a:latin typeface="Liberation Sans"/>
              </a:rPr>
              <a:t>50 shops x 1 wave (~400C + ~1,600T, stratified by shop; 83.3% power at +6 pp)</a:t>
            </a:r>
          </a:p>
          <a:p>
            <a:pPr marL="210000" indent="-210000">
              <a:spcAft>
                <a:spcPts val="900"/>
              </a:spcAft>
              <a:buChar char="•"/>
            </a:pPr>
            <a:r>
              <a:rPr sz="1080">
                <a:solidFill>
                  <a:srgbClr val="E2E8F0"/>
                </a:solidFill>
                <a:latin typeface="Liberation Sans"/>
              </a:rPr>
              <a:t>Advance only if lower 95% bound of post-5%-fee net profit/nudged &gt; 0 AND lift &gt; break-even (+15.3 pp)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508760"/>
            <a:ext cx="3520440" cy="3547872"/>
          </a:xfrm>
          <a:prstGeom prst="roundRect">
            <a:avLst>
              <a:gd name="adj" fmla="val 3000"/>
            </a:avLst>
          </a:prstGeom>
          <a:solidFill>
            <a:srgbClr val="002970"/>
          </a:solidFill>
          <a:ln w="15240">
            <a:solidFill>
              <a:srgbClr val="00B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645920"/>
            <a:ext cx="3200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b="1" i="0">
                <a:solidFill>
                  <a:srgbClr val="00BAF2"/>
                </a:solidFill>
                <a:latin typeface="Liberation Sans"/>
              </a:rPr>
              <a:t>STAGE C : PRODUCTION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1956816"/>
            <a:ext cx="32004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Liberation Sans"/>
              </a:rPr>
              <a:t>Paytm Ecosystem Integration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40864"/>
            <a:ext cx="3255264" cy="2578608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900"/>
              </a:spcAft>
              <a:buChar char="•"/>
            </a:pPr>
            <a:r>
              <a:rPr sz="1080">
                <a:solidFill>
                  <a:srgbClr val="E2E8F0"/>
                </a:solidFill>
                <a:latin typeface="Liberation Sans"/>
              </a:rPr>
              <a:t>Bind Paytm QR dynamic coupon settlement &amp; 4G Soundbox push</a:t>
            </a:r>
          </a:p>
          <a:p>
            <a:pPr marL="210000" indent="-210000">
              <a:spcAft>
                <a:spcPts val="900"/>
              </a:spcAft>
              <a:buChar char="•"/>
            </a:pPr>
            <a:r>
              <a:rPr sz="1080">
                <a:solidFill>
                  <a:srgbClr val="E2E8F0"/>
                </a:solidFill>
                <a:latin typeface="Liberation Sans"/>
              </a:rPr>
              <a:t>Enforce live 80%-cap merchant top-up prompt to protect counter goodwill</a:t>
            </a:r>
          </a:p>
          <a:p>
            <a:pPr marL="210000" indent="-210000">
              <a:spcAft>
                <a:spcPts val="900"/>
              </a:spcAft>
              <a:buChar char="•"/>
            </a:pPr>
            <a:r>
              <a:rPr sz="1080">
                <a:solidFill>
                  <a:srgbClr val="E2E8F0"/>
                </a:solidFill>
                <a:latin typeface="Liberation Sans"/>
              </a:rPr>
              <a:t>Scale across 8.20L target stores (Rs 77.7 Cr to Rs 253.9 Cr ARR)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257800"/>
            <a:ext cx="11018520" cy="1005840"/>
          </a:xfrm>
          <a:prstGeom prst="roundRect">
            <a:avLst>
              <a:gd name="adj" fmla="val 3000"/>
            </a:avLst>
          </a:prstGeom>
          <a:solidFill>
            <a:srgbClr val="001133"/>
          </a:solidFill>
          <a:ln w="12700">
            <a:solidFill>
              <a:srgbClr val="00B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13248"/>
            <a:ext cx="86868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50" b="1" i="0">
                <a:solidFill>
                  <a:srgbClr val="FFFFFF"/>
                </a:solidFill>
                <a:latin typeface="Liberation Sans"/>
              </a:rPr>
              <a:t>PaytmAI VyaparVoice | Team SemiTechnical (Kevin Joseph)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79008"/>
            <a:ext cx="105156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80" b="0" i="0">
                <a:solidFill>
                  <a:srgbClr val="00BAF2"/>
                </a:solidFill>
                <a:latin typeface="Liberation Sans"/>
              </a:rPr>
              <a:t>Appendix A9 (Slide 14 / 18) | Go/No-Go: Lower 95% CI of Post-5%-Fee Net Profit/Nudged &gt; Rs 0 AND Observed Lift &gt; Break-Even Lift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19456"/>
            <a:ext cx="4105656" cy="292608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6888"/>
            <a:ext cx="4014216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B45309"/>
                </a:solidFill>
                <a:latin typeface="Liberation Sans"/>
              </a:rPr>
              <a:t>APPENDIX A10 : DUAL SCORECARD &amp; TEACH-BACK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37744"/>
            <a:ext cx="482803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950" b="1" i="0">
                <a:solidFill>
                  <a:srgbClr val="334155"/>
                </a:solidFill>
                <a:latin typeface="Liberation Sans"/>
              </a:rPr>
              <a:t>PaytmAI VyaparVoice | Team SemiTechnical (Kevin Joseph)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11183112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F172A"/>
                </a:solidFill>
                <a:latin typeface="Liberation Sans"/>
              </a:rPr>
              <a:t>Merchant Plain-Language View vs Technical Audit 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84124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60" b="0" i="0">
                <a:solidFill>
                  <a:srgbClr val="334155"/>
                </a:solidFill>
                <a:latin typeface="Liberation Sans"/>
              </a:rPr>
              <a:t>Paytm Build for India AI Hackathon (Bengaluru Track 1) | Traced to results/slide_numbers.md &amp; unit_economics.md (Deck v3)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9672"/>
            <a:ext cx="217627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880" b="1" i="0">
                <a:solidFill>
                  <a:srgbClr val="002970"/>
                </a:solidFill>
                <a:latin typeface="Liberation Sans"/>
              </a:rPr>
              <a:t>Appendix A10 (Slide 15 / 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440680" cy="3337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50749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059669"/>
                </a:solidFill>
                <a:latin typeface="Liberation Sans"/>
              </a:rPr>
              <a:t>MERCHANT VIEW (ZERO JARGON - LINT VERIFIED)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55648"/>
            <a:ext cx="5120640" cy="26974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700"/>
              </a:spcAft>
              <a:buChar char="•"/>
            </a:pPr>
            <a:r>
              <a:rPr sz="1120" b="1">
                <a:solidFill>
                  <a:srgbClr val="002970"/>
                </a:solidFill>
                <a:latin typeface="Liberation Sans"/>
              </a:rPr>
              <a:t>Plain Verdict &amp; Why?: </a:t>
            </a:r>
            <a:r>
              <a:rPr sz="1120" b="0">
                <a:solidFill>
                  <a:srgbClr val="0F172A"/>
                </a:solidFill>
                <a:latin typeface="Liberation Sans"/>
              </a:rPr>
              <a:t>Promising single-shop check (+Rs 222 pre-fee, +Rs 91.50 post-fee); 1-tap Why? drawers explain SQL triggers in plain words.</a:t>
            </a:r>
          </a:p>
          <a:p>
            <a:pPr marL="210000" indent="-210000">
              <a:spcAft>
                <a:spcPts val="700"/>
              </a:spcAft>
              <a:buChar char="•"/>
            </a:pPr>
            <a:r>
              <a:rPr sz="1120" b="1">
                <a:solidFill>
                  <a:srgbClr val="002970"/>
                </a:solidFill>
                <a:latin typeface="Liberation Sans"/>
              </a:rPr>
              <a:t>Counter Ergonomics: </a:t>
            </a:r>
            <a:r>
              <a:rPr sz="1120" b="0">
                <a:solidFill>
                  <a:srgbClr val="0F172A"/>
                </a:solidFill>
                <a:latin typeface="Liberation Sans"/>
              </a:rPr>
              <a:t>Repeat Last, 0.78x Slower mode, and 5 Merchant Question Chips documented in docs/TEACH_BACK.md.</a:t>
            </a:r>
          </a:p>
          <a:p>
            <a:pPr marL="210000" indent="-210000">
              <a:spcAft>
                <a:spcPts val="700"/>
              </a:spcAft>
              <a:buChar char="•"/>
            </a:pPr>
            <a:r>
              <a:rPr sz="1120" b="1">
                <a:solidFill>
                  <a:srgbClr val="002970"/>
                </a:solidFill>
                <a:latin typeface="Liberation Sans"/>
              </a:rPr>
              <a:t>Clear Spend Stop: </a:t>
            </a:r>
            <a:r>
              <a:rPr sz="1120" b="0">
                <a:solidFill>
                  <a:srgbClr val="0F172A"/>
                </a:solidFill>
                <a:latin typeface="Liberation Sans"/>
              </a:rPr>
              <a:t>Your 300 rupee limit was reached after 12 paid redemptions (0 extra declined in base run).</a:t>
            </a:r>
          </a:p>
          <a:p>
            <a:pPr marL="210000" indent="-210000">
              <a:spcAft>
                <a:spcPts val="700"/>
              </a:spcAft>
              <a:buChar char="•"/>
            </a:pPr>
            <a:r>
              <a:rPr sz="1120" b="1">
                <a:solidFill>
                  <a:srgbClr val="002970"/>
                </a:solidFill>
                <a:latin typeface="Liberation Sans"/>
              </a:rPr>
              <a:t>Honest Copy Status: </a:t>
            </a:r>
            <a:r>
              <a:rPr sz="1120" b="0">
                <a:solidFill>
                  <a:srgbClr val="0F172A"/>
                </a:solidFill>
                <a:latin typeface="Liberation Sans"/>
              </a:rPr>
              <a:t>EN author-checked, native review pending; KN &amp; HI carry visible [DRAFT - UNREVIEWED] badges.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80160"/>
            <a:ext cx="5513832" cy="3337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6510">
            <a:solidFill>
              <a:srgbClr val="002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08176"/>
            <a:ext cx="5148072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002970"/>
                </a:solidFill>
                <a:latin typeface="Liberation Sans"/>
              </a:rPr>
              <a:t>TECHNICAL &amp; AUDIT VIEW (ANALYST / JUDGE)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55648"/>
            <a:ext cx="5193792" cy="2697480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700"/>
              </a:spcAft>
              <a:buChar char="•"/>
            </a:pPr>
            <a:r>
              <a:rPr sz="1120" b="1">
                <a:solidFill>
                  <a:srgbClr val="002970"/>
                </a:solidFill>
                <a:latin typeface="Liberation Sans"/>
              </a:rPr>
              <a:t>ITT &amp; Wilson 95% CIs: </a:t>
            </a:r>
            <a:r>
              <a:rPr sz="1120" b="0">
                <a:solidFill>
                  <a:srgbClr val="0F172A"/>
                </a:solidFill>
                <a:latin typeface="Liberation Sans"/>
              </a:rPr>
              <a:t>37.5% [22.9%, 54.8%] vs 12.5% [2.2%, 47.1%]; two-sided Fisher exact p = 0.24.</a:t>
            </a:r>
          </a:p>
          <a:p>
            <a:pPr marL="210000" indent="-210000">
              <a:spcAft>
                <a:spcPts val="700"/>
              </a:spcAft>
              <a:buChar char="•"/>
            </a:pPr>
            <a:r>
              <a:rPr sz="1120" b="1">
                <a:solidFill>
                  <a:srgbClr val="002970"/>
                </a:solidFill>
                <a:latin typeface="Liberation Sans"/>
              </a:rPr>
              <a:t>Bayesian Posterior: </a:t>
            </a:r>
            <a:r>
              <a:rPr sz="1120" b="0">
                <a:solidFill>
                  <a:srgbClr val="0F172A"/>
                </a:solidFill>
                <a:latin typeface="Liberation Sans"/>
              </a:rPr>
              <a:t>Beta(1,1) uniform prior (10k draws): 88.8% P(lift&gt;0), 67.0% P(pre-fee&gt;0), 52.1% P(post-fee&gt;0).</a:t>
            </a:r>
          </a:p>
          <a:p>
            <a:pPr marL="210000" indent="-210000">
              <a:spcAft>
                <a:spcPts val="700"/>
              </a:spcAft>
              <a:buChar char="•"/>
            </a:pPr>
            <a:r>
              <a:rPr sz="1120" b="1">
                <a:solidFill>
                  <a:srgbClr val="002970"/>
                </a:solidFill>
                <a:latin typeface="Liberation Sans"/>
              </a:rPr>
              <a:t>Guardrail Red-Team Lab: </a:t>
            </a:r>
            <a:r>
              <a:rPr sz="1120" b="0">
                <a:solidFill>
                  <a:srgbClr val="0F172A"/>
                </a:solidFill>
                <a:latin typeface="Liberation Sans"/>
              </a:rPr>
              <a:t>Interactive 'Type your own attack' tests 6 hard rules (injection, &lt;=22% discount, DPDP, 14d, cap, holdout).</a:t>
            </a:r>
          </a:p>
          <a:p>
            <a:pPr marL="210000" indent="-210000">
              <a:spcAft>
                <a:spcPts val="700"/>
              </a:spcAft>
              <a:buChar char="•"/>
            </a:pPr>
            <a:r>
              <a:rPr sz="1120" b="1">
                <a:solidFill>
                  <a:srgbClr val="002970"/>
                </a:solidFill>
                <a:latin typeface="Liberation Sans"/>
              </a:rPr>
              <a:t>Banned Merchant Terms: </a:t>
            </a:r>
            <a:r>
              <a:rPr sz="1120" b="0">
                <a:solidFill>
                  <a:srgbClr val="0F172A"/>
                </a:solidFill>
                <a:latin typeface="Liberation Sans"/>
              </a:rPr>
              <a:t>25 regex rules block cohort, holdout, p-value, Fisher, Wilson, ROI, DPDP, RFM, ITT.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800600"/>
            <a:ext cx="3602736" cy="1463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6510">
            <a:solidFill>
              <a:srgbClr val="002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4919472"/>
            <a:ext cx="3310128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20" b="1" i="0">
                <a:solidFill>
                  <a:srgbClr val="002970"/>
                </a:solidFill>
                <a:latin typeface="Liberation Sans"/>
              </a:rPr>
              <a:t>GRADE A : OBSERVED LEDGER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230368"/>
            <a:ext cx="3310128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80" b="0" i="0">
                <a:solidFill>
                  <a:srgbClr val="0F172A"/>
                </a:solidFill>
                <a:latin typeface="Liberation Sans"/>
              </a:rPr>
              <a:t>SQLite store counts (240 payers, 1,613 scans, 48 silent -&gt; 40 eligible; synthetic seed 20261025).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4800600"/>
            <a:ext cx="3602736" cy="1463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651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4919472"/>
            <a:ext cx="3310128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20" b="1" i="0">
                <a:solidFill>
                  <a:srgbClr val="B45309"/>
                </a:solidFill>
                <a:latin typeface="Liberation Sans"/>
              </a:rPr>
              <a:t>GRADE B : SIMULATED ITT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5230368"/>
            <a:ext cx="3310128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80" b="0" i="0">
                <a:solidFill>
                  <a:srgbClr val="0F172A"/>
                </a:solidFill>
                <a:latin typeface="Liberation Sans"/>
              </a:rPr>
              <a:t>Randomized 32 vs 8 split, independent outcome draw, Fisher p &amp; Wilson CIs (simulated).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4152" y="4800600"/>
            <a:ext cx="3602736" cy="1463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0456" y="4919472"/>
            <a:ext cx="3310128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20" b="1" i="0">
                <a:solidFill>
                  <a:srgbClr val="059669"/>
                </a:solidFill>
                <a:latin typeface="Liberation Sans"/>
              </a:rPr>
              <a:t>GRADE C : ASSUMPTIONS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0456" y="5230368"/>
            <a:ext cx="3310128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80" b="0" i="0">
                <a:solidFill>
                  <a:srgbClr val="0F172A"/>
                </a:solidFill>
                <a:latin typeface="Liberation Sans"/>
              </a:rPr>
              <a:t>30% shop gross margin, 5% fee on redeemed bills, Beta(1,1) profit posterior &amp; sensitivity table.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19456"/>
            <a:ext cx="4105656" cy="292608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6888"/>
            <a:ext cx="4014216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B45309"/>
                </a:solidFill>
                <a:latin typeface="Liberation Sans"/>
              </a:rPr>
              <a:t>APPENDIX A11 : CAP LEDGERS &amp; DOSE-RESPONSE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37744"/>
            <a:ext cx="482803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950" b="1" i="0">
                <a:solidFill>
                  <a:srgbClr val="334155"/>
                </a:solidFill>
                <a:latin typeface="Liberation Sans"/>
              </a:rPr>
              <a:t>PaytmAI VyaparVoice | Team SemiTechnical (Kevin Joseph)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11183112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F172A"/>
                </a:solidFill>
                <a:latin typeface="Liberation Sans"/>
              </a:rPr>
              <a:t>Merchant Spend Stop, Sarvam Credit Cap &amp; Dose-Response Curve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84124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60" b="0" i="0">
                <a:solidFill>
                  <a:srgbClr val="334155"/>
                </a:solidFill>
                <a:latin typeface="Liberation Sans"/>
              </a:rPr>
              <a:t>Paytm Build for India AI Hackathon (Bengaluru Track 1) | Traced to results/slide_numbers.md &amp; unit_economics.md (Deck v3)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9672"/>
            <a:ext cx="217627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880" b="1" i="0">
                <a:solidFill>
                  <a:srgbClr val="002970"/>
                </a:solidFill>
                <a:latin typeface="Liberation Sans"/>
              </a:rPr>
              <a:t>Appendix A11 (Slide 16 / 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943600" cy="4983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408176"/>
            <a:ext cx="5614416" cy="47365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1000"/>
              </a:spcAft>
              <a:buChar char="•"/>
            </a:pPr>
            <a:r>
              <a:rPr sz="1160" b="1">
                <a:solidFill>
                  <a:srgbClr val="002970"/>
                </a:solidFill>
                <a:latin typeface="Liberation Sans"/>
              </a:rPr>
              <a:t>Merchant Cashback Stop: </a:t>
            </a:r>
            <a:r>
              <a:rPr sz="1160" b="0">
                <a:solidFill>
                  <a:srgbClr val="0F172A"/>
                </a:solidFill>
                <a:latin typeface="Liberation Sans"/>
              </a:rPr>
              <a:t>Issues passes ('valid while budget lasts') to all 32 nudged buyers; SQLite lock stops spend at Rs 300 (12 paid) and logs declines.</a:t>
            </a:r>
          </a:p>
          <a:p>
            <a:pPr marL="210000" indent="-210000">
              <a:spcAft>
                <a:spcPts val="1000"/>
              </a:spcAft>
              <a:buChar char="•"/>
            </a:pPr>
            <a:r>
              <a:rPr sz="1160" b="1">
                <a:solidFill>
                  <a:srgbClr val="002970"/>
                </a:solidFill>
                <a:latin typeface="Liberation Sans"/>
              </a:rPr>
              <a:t>Dose-Response Sweet Spot: </a:t>
            </a:r>
            <a:r>
              <a:rPr sz="1160" b="0">
                <a:solidFill>
                  <a:srgbClr val="0F172A"/>
                </a:solidFill>
                <a:latin typeface="Liberation Sans"/>
              </a:rPr>
              <a:t>In simulation, Rs 25 peaks uncapped profit: offers of Rs 30 to 40 erode uncapped net profit via organic subsidy AND trigger 5 to 8 cap refusals under a Rs 300 stop.</a:t>
            </a:r>
          </a:p>
          <a:p>
            <a:pPr marL="210000" indent="-210000">
              <a:spcAft>
                <a:spcPts val="1000"/>
              </a:spcAft>
              <a:buChar char="•"/>
            </a:pPr>
            <a:r>
              <a:rPr sz="1160" b="1">
                <a:solidFill>
                  <a:srgbClr val="002970"/>
                </a:solidFill>
                <a:latin typeface="Liberation Sans"/>
              </a:rPr>
              <a:t>Margin &amp; Lift Break-Even: </a:t>
            </a:r>
            <a:r>
              <a:rPr sz="1160" b="0">
                <a:solidFill>
                  <a:srgbClr val="0F172A"/>
                </a:solidFill>
                <a:latin typeface="Liberation Sans"/>
              </a:rPr>
              <a:t>At +25 pp simulated lift, shop breaks even at 17.2% margin pre-fee (24.7% post-fee); at 30% margin, break-even lift is +7.8 pp pre-fee (+15.3 pp post-fee).</a:t>
            </a:r>
          </a:p>
          <a:p>
            <a:pPr marL="210000" indent="-210000">
              <a:spcAft>
                <a:spcPts val="1000"/>
              </a:spcAft>
              <a:buChar char="•"/>
            </a:pPr>
            <a:r>
              <a:rPr sz="1160" b="1">
                <a:solidFill>
                  <a:srgbClr val="002970"/>
                </a:solidFill>
                <a:latin typeface="Liberation Sans"/>
              </a:rPr>
              <a:t>Sarvam 30% Credit Ledger: </a:t>
            </a:r>
            <a:r>
              <a:rPr sz="1160" b="0">
                <a:solidFill>
                  <a:srgbClr val="0F172A"/>
                </a:solidFill>
                <a:latin typeface="Liberation Sans"/>
              </a:rPr>
              <a:t>Separate JSON ledger caps TTS &lt;=15% and STT &lt;=15% (30% total of 500 sponsor credits = 150 max) and halts fail-closed on HTTP 402/429/5xx.</a:t>
            </a:r>
          </a:p>
          <a:p>
            <a:pPr marL="210000" indent="-210000">
              <a:spcAft>
                <a:spcPts val="1000"/>
              </a:spcAft>
              <a:buChar char="•"/>
            </a:pPr>
            <a:r>
              <a:rPr sz="1160" b="1">
                <a:solidFill>
                  <a:srgbClr val="002970"/>
                </a:solidFill>
                <a:latin typeface="Liberation Sans"/>
              </a:rPr>
              <a:t>Public Cloud Lock: </a:t>
            </a:r>
            <a:r>
              <a:rPr sz="1160" b="0">
                <a:solidFill>
                  <a:srgbClr val="0F172A"/>
                </a:solidFill>
                <a:latin typeface="Liberation Sans"/>
              </a:rPr>
              <a:t>PUBLIC_DEPLOY=true (auto-enabled on Render) hard-blocks live paid calls while SHA-256 audio cache replays at 0 credits.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1280160"/>
            <a:ext cx="5056632" cy="33649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4_dose_breakev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1424" y="1353312"/>
            <a:ext cx="4663440" cy="31546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629400" y="4791456"/>
            <a:ext cx="5056632" cy="1472184"/>
          </a:xfrm>
          <a:prstGeom prst="roundRect">
            <a:avLst>
              <a:gd name="adj" fmla="val 3000"/>
            </a:avLst>
          </a:prstGeom>
          <a:solidFill>
            <a:srgbClr val="001B4D"/>
          </a:solidFill>
          <a:ln w="12700">
            <a:solidFill>
              <a:srgbClr val="00B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4901184"/>
            <a:ext cx="4736592" cy="12618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80" b="1" i="0">
                <a:solidFill>
                  <a:srgbClr val="FFFFFF"/>
                </a:solidFill>
                <a:latin typeface="Liberation Sans"/>
              </a:rPr>
              <a:t>DUAL CAP SUMMARY (SIMULATED &amp; BUILT)</a:t>
            </a:r>
          </a:p>
          <a:p>
            <a:pPr algn="l">
              <a:spcAft>
                <a:spcPts val="300"/>
              </a:spcAft>
            </a:pPr>
            <a:r>
              <a:rPr sz="1080" b="1" i="0">
                <a:solidFill>
                  <a:srgbClr val="FFFFFF"/>
                </a:solidFill>
                <a:latin typeface="Liberation Sans"/>
              </a:rPr>
              <a:t>1. Merchant Cap: Protects shopkeeper pocket (Rs 300 stop; &gt;10% overrun warning &amp; 80% top-up prompt).</a:t>
            </a:r>
          </a:p>
          <a:p>
            <a:pPr algn="l">
              <a:spcAft>
                <a:spcPts val="300"/>
              </a:spcAft>
            </a:pPr>
            <a:r>
              <a:rPr sz="1080" b="1" i="0">
                <a:solidFill>
                  <a:srgbClr val="FFFFFF"/>
                </a:solidFill>
                <a:latin typeface="Liberation Sans"/>
              </a:rPr>
              <a:t>2. Sponsor API Cap: Protects hackathon credits (&lt;=15% TTS, &lt;=15% STT, fail-closed).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19456"/>
            <a:ext cx="4800600" cy="292608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6888"/>
            <a:ext cx="47091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B45309"/>
                </a:solidFill>
                <a:latin typeface="Liberation Sans"/>
              </a:rPr>
              <a:t>APPENDIX A12 : CAP EDITOR &amp; LIVE STOP-LOSS [BUILT]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37744"/>
            <a:ext cx="482803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950" b="1" i="0">
                <a:solidFill>
                  <a:srgbClr val="334155"/>
                </a:solidFill>
                <a:latin typeface="Liberation Sans"/>
              </a:rPr>
              <a:t>PaytmAI VyaparVoice | Team SemiTechnical (Kevin Joseph)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11183112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F172A"/>
                </a:solidFill>
                <a:latin typeface="Liberation Sans"/>
              </a:rPr>
              <a:t>Bounded Cap Editor, Two-Step Voice Confirm &amp; Live Interim Stop-Loss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84124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60" b="0" i="0">
                <a:solidFill>
                  <a:srgbClr val="334155"/>
                </a:solidFill>
                <a:latin typeface="Liberation Sans"/>
              </a:rPr>
              <a:t>Paytm Build for India AI Hackathon (Bengaluru Track 1) | Traced to results/slide_numbers.md &amp; unit_economics.md (Deck v3)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9672"/>
            <a:ext cx="217627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880" b="1" i="0">
                <a:solidFill>
                  <a:srgbClr val="002970"/>
                </a:solidFill>
                <a:latin typeface="Liberation Sans"/>
              </a:rPr>
              <a:t>Appendix A12 (Slide 17 / 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943600" cy="4983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408176"/>
            <a:ext cx="5614416" cy="47365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1200"/>
              </a:spcAft>
              <a:buChar char="•"/>
            </a:pPr>
            <a:r>
              <a:rPr sz="1240" b="1">
                <a:solidFill>
                  <a:srgbClr val="002970"/>
                </a:solidFill>
                <a:latin typeface="Liberation Sans"/>
              </a:rPr>
              <a:t>Bounded Cap Editor [BUILT]: </a:t>
            </a:r>
            <a:r>
              <a:rPr sz="1240" b="0">
                <a:solidFill>
                  <a:srgbClr val="0F172A"/>
                </a:solidFill>
                <a:latin typeface="Liberation Sans"/>
              </a:rPr>
              <a:t>Enforces hard bounds [Rs 50, Rs 2,500] (&gt;=1 pass of Rs 25) with 1-tap presets: Rs 150, Rs 250, Rs 300 (base), Rs 400 (&lt;=10% overrun), Rs 500.</a:t>
            </a:r>
          </a:p>
          <a:p>
            <a:pPr marL="210000" indent="-210000">
              <a:spcAft>
                <a:spcPts val="1200"/>
              </a:spcAft>
              <a:buChar char="•"/>
            </a:pPr>
            <a:r>
              <a:rPr sz="1240" b="1">
                <a:solidFill>
                  <a:srgbClr val="002970"/>
                </a:solidFill>
                <a:latin typeface="Liberation Sans"/>
              </a:rPr>
              <a:t>Two-Step Voice Confirmation [BUILT]: </a:t>
            </a:r>
            <a:r>
              <a:rPr sz="1240" b="0">
                <a:solidFill>
                  <a:srgbClr val="0F172A"/>
                </a:solidFill>
                <a:latin typeface="Liberation Sans"/>
              </a:rPr>
              <a:t>Saying 'Set my limit to 400 rupees' stages CAP_CONFIRMATION_PENDING without mutating SQLite until merchant says 'Confirm limit' or taps Confirm.</a:t>
            </a:r>
          </a:p>
          <a:p>
            <a:pPr marL="210000" indent="-210000">
              <a:spcAft>
                <a:spcPts val="1200"/>
              </a:spcAft>
              <a:buChar char="•"/>
            </a:pPr>
            <a:r>
              <a:rPr sz="1240" b="1">
                <a:solidFill>
                  <a:srgbClr val="002970"/>
                </a:solidFill>
                <a:latin typeface="Liberation Sans"/>
              </a:rPr>
              <a:t>Live Interim Wave Monitor [BUILT]: </a:t>
            </a:r>
            <a:r>
              <a:rPr sz="1240" b="0">
                <a:solidFill>
                  <a:srgbClr val="0F172A"/>
                </a:solidFill>
                <a:latin typeface="Liberation Sans"/>
              </a:rPr>
              <a:t>Stepping live scans displays an explicit INTERIM DIRECTIONAL READOUT banner so shopkeepers never stop a wave early on noise.</a:t>
            </a:r>
          </a:p>
          <a:p>
            <a:pPr marL="210000" indent="-210000">
              <a:spcAft>
                <a:spcPts val="1200"/>
              </a:spcAft>
              <a:buChar char="•"/>
            </a:pPr>
            <a:r>
              <a:rPr sz="1240" b="1">
                <a:solidFill>
                  <a:srgbClr val="002970"/>
                </a:solidFill>
                <a:latin typeface="Liberation Sans"/>
              </a:rPr>
              <a:t>Atomic 1-Tap Stop-Loss [BUILT]: </a:t>
            </a:r>
            <a:r>
              <a:rPr sz="1240" b="0">
                <a:solidFill>
                  <a:srgbClr val="0F172A"/>
                </a:solidFill>
                <a:latin typeface="Liberation Sans"/>
              </a:rPr>
              <a:t>Triggering Stop-Loss sets PAUSED_STOP_LOSS and blocks pass redemptions inside BEGIN IMMEDIATE (BLOCKED_STOP_LOSS).</a:t>
            </a:r>
          </a:p>
          <a:p>
            <a:pPr marL="210000" indent="-210000">
              <a:spcAft>
                <a:spcPts val="1200"/>
              </a:spcAft>
              <a:buChar char="•"/>
            </a:pPr>
            <a:r>
              <a:rPr sz="1240" b="1">
                <a:solidFill>
                  <a:srgbClr val="002970"/>
                </a:solidFill>
                <a:latin typeface="Liberation Sans"/>
              </a:rPr>
              <a:t>Immutable Audit Trail [BUILT]: </a:t>
            </a:r>
            <a:r>
              <a:rPr sz="1240" b="0">
                <a:solidFill>
                  <a:srgbClr val="0F172A"/>
                </a:solidFill>
                <a:latin typeface="Liberation Sans"/>
              </a:rPr>
              <a:t>Every preset click, rejected out-of-bounds value, voice request/confirm, and Stop-Loss toggle writes to audit_logs.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1280160"/>
            <a:ext cx="5056632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6_cap_overrun_pres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35024"/>
            <a:ext cx="4590288" cy="3075493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629400" y="4718304"/>
            <a:ext cx="5056632" cy="1545336"/>
          </a:xfrm>
          <a:prstGeom prst="roundRect">
            <a:avLst>
              <a:gd name="adj" fmla="val 3000"/>
            </a:avLst>
          </a:prstGeom>
          <a:solidFill>
            <a:srgbClr val="001B4D"/>
          </a:solidFill>
          <a:ln w="12700">
            <a:solidFill>
              <a:srgbClr val="00B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4828032"/>
            <a:ext cx="4736592" cy="13350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40" b="1" i="0">
                <a:solidFill>
                  <a:srgbClr val="FFFFFF"/>
                </a:solidFill>
                <a:latin typeface="Liberation Sans"/>
              </a:rPr>
              <a:t>CAP PRESETS VS BINOMIAL REFUSAL RISK (p = 37.5%, 32 PASSES)</a:t>
            </a:r>
          </a:p>
          <a:p>
            <a:pPr algn="l">
              <a:spcAft>
                <a:spcPts val="300"/>
              </a:spcAft>
            </a:pPr>
            <a:r>
              <a:rPr sz="1040" b="1" i="0">
                <a:solidFill>
                  <a:srgbClr val="FFFFFF"/>
                </a:solidFill>
                <a:latin typeface="Liberation Sans"/>
              </a:rPr>
              <a:t>Rs 150 (6 paid): 98.1% overrun | Rs 250 (10 paid): 70.4%</a:t>
            </a:r>
          </a:p>
          <a:p>
            <a:pPr algn="l">
              <a:spcAft>
                <a:spcPts val="300"/>
              </a:spcAft>
            </a:pPr>
            <a:r>
              <a:rPr sz="1040" b="1" i="0">
                <a:solidFill>
                  <a:srgbClr val="FFFFFF"/>
                </a:solidFill>
                <a:latin typeface="Liberation Sans"/>
              </a:rPr>
              <a:t>Rs 300 (12 paid): 42.2% (&gt;10% alert) | Rs 400 (16 paid): 5.2% (SAFE)</a:t>
            </a:r>
          </a:p>
          <a:p>
            <a:pPr algn="l">
              <a:spcAft>
                <a:spcPts val="300"/>
              </a:spcAft>
            </a:pPr>
            <a:r>
              <a:rPr sz="1040" b="1" i="0">
                <a:solidFill>
                  <a:srgbClr val="FFFFFF"/>
                </a:solidFill>
                <a:latin typeface="Liberation Sans"/>
              </a:rPr>
              <a:t>Rs 500 (20 paid): 0.1% overrun.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19456"/>
            <a:ext cx="5234940" cy="292608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6888"/>
            <a:ext cx="514350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B45309"/>
                </a:solidFill>
                <a:latin typeface="Liberation Sans"/>
              </a:rPr>
              <a:t>APPENDIX A13 : BAYESIAN SCORECARD &amp; SENSITIVITY [BUILT]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37744"/>
            <a:ext cx="4828032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950" b="1" i="0">
                <a:solidFill>
                  <a:srgbClr val="334155"/>
                </a:solidFill>
                <a:latin typeface="Liberation Sans"/>
              </a:rPr>
              <a:t>PaytmAI VyaparVoice | Team SemiTechnical (Kevin Joseph)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11183112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F172A"/>
                </a:solidFill>
                <a:latin typeface="Liberation Sans"/>
              </a:rPr>
              <a:t>Beta(1,1) Profit Posterior, Evidence Meter &amp; 6x4 Margin-Fee Matrix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84124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60" b="0" i="0">
                <a:solidFill>
                  <a:srgbClr val="334155"/>
                </a:solidFill>
                <a:latin typeface="Liberation Sans"/>
              </a:rPr>
              <a:t>Paytm Build for India AI Hackathon (Bengaluru Track 1) | Traced to results/slide_numbers.md &amp; unit_economics.md (Deck v3)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9672"/>
            <a:ext cx="217627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Aft>
                <a:spcPts val="300"/>
              </a:spcAft>
            </a:pPr>
            <a:r>
              <a:rPr sz="880" b="1" i="0">
                <a:solidFill>
                  <a:srgbClr val="002970"/>
                </a:solidFill>
                <a:latin typeface="Liberation Sans"/>
              </a:rPr>
              <a:t>Appendix A13 (Slide 18 / 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943600" cy="4983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408176"/>
            <a:ext cx="5614416" cy="4736592"/>
          </a:xfrm>
          <a:prstGeom prst="rect">
            <a:avLst/>
          </a:prstGeom>
          <a:noFill/>
        </p:spPr>
        <p:txBody>
          <a:bodyPr wrap="square" lIns="54864" rIns="54864" tIns="36576" bIns="36576">
            <a:spAutoFit/>
          </a:bodyPr>
          <a:lstStyle/>
          <a:p>
            <a:pPr marL="210000" indent="-210000">
              <a:spcAft>
                <a:spcPts val="1100"/>
              </a:spcAft>
              <a:buChar char="•"/>
            </a:pPr>
            <a:r>
              <a:rPr sz="1220" b="1">
                <a:solidFill>
                  <a:srgbClr val="002970"/>
                </a:solidFill>
                <a:latin typeface="Liberation Sans"/>
              </a:rPr>
              <a:t>Plain-Language Verdict [BUILT]: </a:t>
            </a:r>
            <a:r>
              <a:rPr sz="1220" b="0">
                <a:solidFill>
                  <a:srgbClr val="0F172A"/>
                </a:solidFill>
                <a:latin typeface="Liberation Sans"/>
              </a:rPr>
              <a:t>Merchant View translates single-wave output into plain rupee terms with zero statistical jargon, backed by Grade A/B/C badges.</a:t>
            </a:r>
          </a:p>
          <a:p>
            <a:pPr marL="210000" indent="-210000">
              <a:spcAft>
                <a:spcPts val="1100"/>
              </a:spcAft>
              <a:buChar char="•"/>
            </a:pPr>
            <a:r>
              <a:rPr sz="1220" b="1">
                <a:solidFill>
                  <a:srgbClr val="002970"/>
                </a:solidFill>
                <a:latin typeface="Liberation Sans"/>
              </a:rPr>
              <a:t>Bayesian Profit Posterior [BUILT]: </a:t>
            </a:r>
            <a:r>
              <a:rPr sz="1220" b="0">
                <a:solidFill>
                  <a:srgbClr val="0F172A"/>
                </a:solidFill>
                <a:latin typeface="Liberation Sans"/>
              </a:rPr>
              <a:t>Conjugate Beta(1,1) prior (10k draws, seed 20261025) without clamping negative draws: 88.8% P(lift&gt;0), 67.0% P(pre-fee&gt;0), 52.1% P(post-fee&gt;0).</a:t>
            </a:r>
          </a:p>
          <a:p>
            <a:pPr marL="210000" indent="-210000">
              <a:spcAft>
                <a:spcPts val="1100"/>
              </a:spcAft>
              <a:buChar char="•"/>
            </a:pPr>
            <a:r>
              <a:rPr sz="1220" b="1">
                <a:solidFill>
                  <a:srgbClr val="002970"/>
                </a:solidFill>
                <a:latin typeface="Liberation Sans"/>
              </a:rPr>
              <a:t>Why Single Wave Cannot Auto-Scale: </a:t>
            </a:r>
            <a:r>
              <a:rPr sz="1220" b="0">
                <a:solidFill>
                  <a:srgbClr val="0F172A"/>
                </a:solidFill>
                <a:latin typeface="Liberation Sans"/>
              </a:rPr>
              <a:t>Single-wave 95% CrI is [-Rs 19.97, +Rs 14.73] per nudged buyer (due to n=8 control uncertainty), failing A9 scale gate until 50 shops are pooled.</a:t>
            </a:r>
          </a:p>
          <a:p>
            <a:pPr marL="210000" indent="-210000">
              <a:spcAft>
                <a:spcPts val="1100"/>
              </a:spcAft>
              <a:buChar char="•"/>
            </a:pPr>
            <a:r>
              <a:rPr sz="1220" b="1">
                <a:solidFill>
                  <a:srgbClr val="002970"/>
                </a:solidFill>
                <a:latin typeface="Liberation Sans"/>
              </a:rPr>
              <a:t>4-Stage Visual Evidence Meter [BUILT]: </a:t>
            </a:r>
            <a:r>
              <a:rPr sz="1220" b="0">
                <a:solidFill>
                  <a:srgbClr val="0F172A"/>
                </a:solidFill>
                <a:latin typeface="Liberation Sans"/>
              </a:rPr>
              <a:t>Tracks progress from n=40 (1 shop) -&gt; n=155 (+25pp power) -&gt; n=600 (15 shops) -&gt; n=2,000 (50-shop stratified pilot, 83.3% power at +6 pp).</a:t>
            </a:r>
          </a:p>
          <a:p>
            <a:pPr marL="210000" indent="-210000">
              <a:spcAft>
                <a:spcPts val="1100"/>
              </a:spcAft>
              <a:buChar char="•"/>
            </a:pPr>
            <a:r>
              <a:rPr sz="1220" b="1">
                <a:solidFill>
                  <a:srgbClr val="002970"/>
                </a:solidFill>
                <a:latin typeface="Liberation Sans"/>
              </a:rPr>
              <a:t>Kirana Margin Sensitivity [BUILT]: </a:t>
            </a:r>
            <a:r>
              <a:rPr sz="1220" b="0">
                <a:solidFill>
                  <a:srgbClr val="0F172A"/>
                </a:solidFill>
                <a:latin typeface="Liberation Sans"/>
              </a:rPr>
              <a:t>At 5% fee, Rs 25 pass profits at &gt;=25% margin (+Rs 4.50 at 25%, +Rs 91.50 at 30%) and loses at 15%-20% (-Rs 82.50 at 20%), guiding smaller kirana offers.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1280160"/>
            <a:ext cx="5056632" cy="3337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7_margin_fe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1335024"/>
            <a:ext cx="4700016" cy="3179423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629400" y="4754880"/>
            <a:ext cx="5056632" cy="1508760"/>
          </a:xfrm>
          <a:prstGeom prst="roundRect">
            <a:avLst>
              <a:gd name="adj" fmla="val 3000"/>
            </a:avLst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4846320"/>
            <a:ext cx="4736592" cy="1325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F172A"/>
                </a:solidFill>
                <a:latin typeface="Liberation Sans"/>
              </a:rPr>
              <a:t>HONEST SCORECARD TAKEAWAY (TRACED TO unit_economics.md)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F172A"/>
                </a:solidFill>
                <a:latin typeface="Liberation Sans"/>
              </a:rPr>
              <a:t>Base [30% Margin, 5% Fee] = +Rs 91.50 (+Rs 222 pre-fee).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F172A"/>
                </a:solidFill>
                <a:latin typeface="Liberation Sans"/>
              </a:rPr>
              <a:t>Low-margin grocery [15%-20% Margin] requires lowering pass to Rs 10-15 on Rs 250+ bills (4%-6% discount).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